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50" r:id="rId101"/>
    <p:sldId id="341" r:id="rId91"/>
    <p:sldId id="342" r:id="rId92"/>
    <p:sldId id="343" r:id="rId93"/>
    <p:sldId id="351" r:id="rId102"/>
    <p:sldId id="344" r:id="rId94"/>
    <p:sldId id="345" r:id="rId95"/>
    <p:sldId id="346" r:id="rId96"/>
    <p:sldId id="347" r:id="rId97"/>
    <p:sldId id="352" r:id="rId103"/>
    <p:sldId id="348" r:id="rId98"/>
    <p:sldId id="349" r:id="rId9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0" roundtripDataSignature="AMtx7mjqEg5poS/kDTTo80DVaXmrOhKl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A0FB25-BE9D-4660-B1BD-C6DA67540E8A}">
  <a:tblStyle styleId="{FBA0FB25-BE9D-4660-B1BD-C6DA67540E8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8F9"/>
          </a:solidFill>
        </a:fill>
      </a:tcStyle>
    </a:wholeTbl>
    <a:band1H>
      <a:tcTxStyle b="off" i="off"/>
      <a:tcStyle>
        <a:fill>
          <a:solidFill>
            <a:srgbClr val="CBCDF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CDF2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
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0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  <Relationship Id="rId101" Type="http://schemas.openxmlformats.org/officeDocument/2006/relationships/slide" Target="slides/slide95.xml"/>
  <Relationship Id="rId102" Type="http://schemas.openxmlformats.org/officeDocument/2006/relationships/slide" Target="slides/slide96.xml"/>
  <Relationship Id="rId103" Type="http://schemas.openxmlformats.org/officeDocument/2006/relationships/slide" Target="slides/slide9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" name="Google Shape;6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8" name="Google Shape;8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7" name="Google Shape;108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9" name="Google Shape;11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3" name="Google Shape;119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6" name="Google Shape;122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3" name="Google Shape;125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8" name="Google Shape;130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4" name="Google Shape;132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2" name="Google Shape;135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4" name="Google Shape;137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1" name="Google Shape;140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9" name="Google Shape;140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6" name="Google Shape;141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0" name="Google Shape;144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8" name="Google Shape;146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8" name="Google Shape;148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1" name="Google Shape;151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3" name="Google Shape;155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2" name="Google Shape;159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4" name="Google Shape;162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9" name="Google Shape;164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8" name="Google Shape;166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1" name="Google Shape;168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0" name="Google Shape;170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2" name="Google Shape;172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9" name="Google Shape;172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3" name="Google Shape;1813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2" name="Google Shape;183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0" name="Google Shape;185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5" name="Google Shape;188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7" name="Google Shape;190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8" name="Google Shape;194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8" name="Google Shape;1968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3" name="Google Shape;1993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4" name="Google Shape;201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1" name="Google Shape;204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8" name="Google Shape;207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7" name="Google Shape;210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4" name="Google Shape;211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2" name="Google Shape;2132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4" name="Google Shape;2154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7" name="Google Shape;2177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4" name="Google Shape;218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5" name="Google Shape;220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1" name="Google Shape;223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4" name="Google Shape;225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8" name="Google Shape;2278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6" name="Google Shape;2296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8" name="Google Shape;2328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1" name="Google Shape;2351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9" name="Google Shape;2379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9" name="Google Shape;241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2" name="Google Shape;244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7" name="Google Shape;247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5" name="Google Shape;251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5900" y="261925"/>
            <a:ext cx="6444026" cy="64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814" y="2778138"/>
            <a:ext cx="4143973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9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9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7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9"/>
          <p:cNvSpPr txBox="1"/>
          <p:nvPr>
            <p:ph idx="1" type="body"/>
          </p:nvPr>
        </p:nvSpPr>
        <p:spPr>
          <a:xfrm>
            <a:off x="839800" y="2057400"/>
            <a:ext cx="39321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3" name="Google Shape;33;p99"/>
          <p:cNvSpPr txBox="1"/>
          <p:nvPr>
            <p:ph idx="2" type="body"/>
          </p:nvPr>
        </p:nvSpPr>
        <p:spPr>
          <a:xfrm>
            <a:off x="5183200" y="987425"/>
            <a:ext cx="6172200" cy="28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4" name="Google Shape;34;p9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9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0"/>
          <p:cNvSpPr txBox="1"/>
          <p:nvPr>
            <p:ph idx="1" type="body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0"/>
          <p:cNvSpPr txBox="1"/>
          <p:nvPr>
            <p:ph idx="2" type="body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0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0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0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1"/>
          <p:cNvSpPr/>
          <p:nvPr>
            <p:ph idx="2" type="pic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1"/>
          <p:cNvSpPr txBox="1"/>
          <p:nvPr>
            <p:ph idx="1" type="body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01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1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1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2"/>
          <p:cNvSpPr txBox="1"/>
          <p:nvPr>
            <p:ph idx="1" type="body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2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02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02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3"/>
          <p:cNvSpPr txBox="1"/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3"/>
          <p:cNvSpPr txBox="1"/>
          <p:nvPr>
            <p:ph idx="1" type="body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3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 Informática - 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3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3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0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0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10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0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0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0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pc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5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5"/>
          <p:cNvSpPr txBox="1"/>
          <p:nvPr>
            <p:ph idx="11" type="ftr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5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10" Type="http://schemas.openxmlformats.org/officeDocument/2006/relationships/image" Target="../media/image24.png"/><Relationship Id="rId9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086600" y="685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PROGRAMACIÓN 3 (1INF30)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086600" y="109728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pc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de Aplicaciones Web con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86600" y="443484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Mag. Eric Huiza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Contenido de la sesión</a:t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749808" y="1600200"/>
            <a:ext cx="0" cy="3657600"/>
          </a:xfrm>
          <a:prstGeom prst="straightConnector1">
            <a:avLst/>
          </a:prstGeom>
          <a:noFill/>
          <a:ln cap="flat" cmpd="sng" w="381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/>
          <p:nvPr/>
        </p:nvSpPr>
        <p:spPr>
          <a:xfrm>
            <a:off x="548640" y="13716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143000" y="13716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143000" y="18288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43000" y="22860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Inyección de dependencias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48640" y="27432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143000" y="27432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48640" y="32004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43000" y="32004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48640" y="36576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143000" y="36576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48640" y="41148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143000" y="41148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Componentes: maestro-detalle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48640" y="45720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43000" y="45720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548640" y="50292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143000" y="5029200"/>
            <a:ext cx="5943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589520" y="1371600"/>
            <a:ext cx="4050791" cy="4069080"/>
          </a:xfrm>
          <a:prstGeom prst="roundRect">
            <a:avLst>
              <a:gd fmla="val 225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7818120" y="1600200"/>
            <a:ext cx="640080" cy="64008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ayerGroup_FFFFFF.png"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739" y="1753819"/>
            <a:ext cx="332841" cy="33284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7818120" y="2423160"/>
            <a:ext cx="3611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Cada tema se aplica sobre el proyecto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ejemplos usan las clases del modelo (Producto, Cliente, Empleado, OrdenVenta) y los objetos de negocio que ya existen en el proyecto.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Módulos de SoftProg que usaremos como ejemplo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PROGRAMACIÓN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ox_FFFFFF.png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582" y="169054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1444752" y="15270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444752" y="1856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31520" y="228600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Ejemplo principal: listado paso a paso con QuickGrid y formulario con ProductoViewModel.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311396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494276" y="1554480"/>
            <a:ext cx="566928" cy="56692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s_FFFFFF.png" id="140" name="Google Shape;1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0338" y="169054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5207508" y="15270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5207508" y="1856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4494276" y="228600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Validaciones de formato y de negocio: DNI, edad mínima, categoría y línea de crédito.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8074152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257031" y="1554480"/>
            <a:ext cx="566928" cy="566928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Tie_FFFFFF.png" id="146" name="Google Shape;1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3094" y="169054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8970264" y="15270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Empleados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970264" y="1856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/empleados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8257031" y="228600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Datos relacionados (área y cargo) y listas desplegables cargadas desde otro BL.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31520" y="3749039"/>
            <a:ext cx="566928" cy="566928"/>
          </a:xfrm>
          <a:prstGeom prst="ellipse">
            <a:avLst/>
          </a:prstGeom>
          <a:solidFill>
            <a:srgbClr val="6485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uilding_FFFFFF.png" id="152" name="Google Shape;15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582" y="388510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"/>
          <p:cNvSpPr txBox="1"/>
          <p:nvPr/>
        </p:nvSpPr>
        <p:spPr>
          <a:xfrm>
            <a:off x="1444752" y="37216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Áreas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1444752" y="405079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/areas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31520" y="448056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Ejemplos breves de rutas, enlaces y filtros sobre un catálogo simple.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4311396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494276" y="3749039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hoppingCart_FFFFFF.png" id="158" name="Google Shape;15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0338" y="388510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5207508" y="37216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5207508" y="405079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/ordenes-venta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4494276" y="448056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Maestro-detalle con un componente hijo que recibe parámetros.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074152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257031" y="3749039"/>
            <a:ext cx="566928" cy="566928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Lock_FFFFFF.png" id="164" name="Google Shape;16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3094" y="3885102"/>
            <a:ext cx="294802" cy="29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/>
          <p:nvPr/>
        </p:nvSpPr>
        <p:spPr>
          <a:xfrm>
            <a:off x="8970264" y="37216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Cuentas de 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8970264" y="405079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/login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8257031" y="4480560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Autenticación con cookies, claims y autorización por roles.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Fundamentos de Blazor</a:t>
            </a:r>
            <a:endParaRPr sz="3200"/>
          </a:p>
        </p:txBody>
      </p:sp>
      <p:sp>
        <p:nvSpPr>
          <p:cNvPr id="173" name="Google Shape;173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Qué es Blazor, componentes y el modo Interactive Server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es Blazor?</a:t>
            </a:r>
            <a:endParaRPr/>
          </a:p>
        </p:txBody>
      </p:sp>
      <p:sp>
        <p:nvSpPr>
          <p:cNvPr id="180" name="Google Shape;180;p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48640" y="1417320"/>
            <a:ext cx="5486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700"/>
              <a:buFont typeface="Arial"/>
              <a:buChar char="•"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Framework de </a:t>
            </a:r>
            <a:r>
              <a:rPr b="1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ASP.NET Core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para construir interfaces web interactivas.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A7BC2"/>
              </a:buClr>
              <a:buSzPts val="1700"/>
              <a:buFont typeface="Arial"/>
              <a:buChar char="•"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lógica de la interfaz se escribe en </a:t>
            </a:r>
            <a:r>
              <a:rPr b="1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C#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el marcado en </a:t>
            </a:r>
            <a:r>
              <a:rPr b="1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combinados con la sintaxis </a:t>
            </a:r>
            <a:r>
              <a:rPr b="1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Razor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A7BC2"/>
              </a:buClr>
              <a:buSzPts val="1700"/>
              <a:buFont typeface="Arial"/>
              <a:buChar char="•"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interfaz se organiza en </a:t>
            </a:r>
            <a:r>
              <a:rPr b="1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reutilizables: archivos </a:t>
            </a:r>
            <a:r>
              <a:rPr b="1" i="0" lang="en-US" spc="0" sz="17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.razor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A7BC2"/>
              </a:buClr>
              <a:buSzPts val="1700"/>
              <a:buFont typeface="Arial"/>
              <a:buChar char="•"/>
            </a:pP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Comparte la plataforma .NET con el resto de SoftProg: una página usa directamente </a:t>
            </a:r>
            <a:r>
              <a:rPr b="1" i="0" lang="en-US" spc="0" sz="17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7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Cliente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en-US" spc="0" sz="17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IProductoBL</a:t>
            </a:r>
            <a:r>
              <a:rPr b="0" i="0" lang="en-US" spc="0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400800" y="1417320"/>
            <a:ext cx="5239512" cy="1828800"/>
          </a:xfrm>
          <a:prstGeom prst="roundRect">
            <a:avLst>
              <a:gd fmla="val 500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6583680" y="14813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Enfoque tradicional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583680" y="1965960"/>
            <a:ext cx="14173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HTML + JavaScript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5"/>
          <p:cNvCxnSpPr/>
          <p:nvPr/>
        </p:nvCxnSpPr>
        <p:spPr>
          <a:xfrm>
            <a:off x="8037575" y="2423160"/>
            <a:ext cx="32918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5"/>
          <p:cNvSpPr/>
          <p:nvPr/>
        </p:nvSpPr>
        <p:spPr>
          <a:xfrm>
            <a:off x="8403336" y="1965960"/>
            <a:ext cx="14173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API en C#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>
            <a:off x="9857232" y="2423160"/>
            <a:ext cx="32918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5"/>
          <p:cNvSpPr/>
          <p:nvPr/>
        </p:nvSpPr>
        <p:spPr>
          <a:xfrm>
            <a:off x="10222992" y="1965960"/>
            <a:ext cx="14173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Lógica de negocio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7955279" y="205740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400800" y="3474720"/>
            <a:ext cx="5239512" cy="2011680"/>
          </a:xfrm>
          <a:prstGeom prst="roundRect">
            <a:avLst>
              <a:gd fmla="val 4545" name="adj"/>
            </a:avLst>
          </a:prstGeom>
          <a:solidFill>
            <a:srgbClr val="0A7BC2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583680" y="35387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Con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583680" y="4023360"/>
            <a:ext cx="2240280" cy="914400"/>
          </a:xfrm>
          <a:prstGeom prst="roundRect">
            <a:avLst>
              <a:gd fmla="val 8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 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+ C#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>
            <a:off x="8869680" y="4480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5"/>
          <p:cNvSpPr/>
          <p:nvPr/>
        </p:nvSpPr>
        <p:spPr>
          <a:xfrm>
            <a:off x="9217152" y="4023360"/>
            <a:ext cx="2240280" cy="91440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SoftProg.Negocio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IProductoBL, IClienteBL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6583680" y="502920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Un solo lenguaje y un solo modelo de objetos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Componentes: la unidad de construcción de la interfaz</a:t>
            </a:r>
            <a:endParaRPr/>
          </a:p>
        </p:txBody>
      </p:sp>
      <p:sp>
        <p:nvSpPr>
          <p:cNvPr id="202" name="Google Shape;202;p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48640" y="1371600"/>
            <a:ext cx="612648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" y="1371600"/>
            <a:ext cx="6126480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57784" y="1645920"/>
            <a:ext cx="6108192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7665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3210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8755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88719" y="1444752"/>
            <a:ext cx="5349240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https://localhost:7220/productos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58368" y="1865376"/>
            <a:ext cx="5907024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95528" y="18653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1892808" y="1865376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2903220" y="1865376"/>
            <a:ext cx="923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3826764" y="1865376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Empleados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4837176" y="1865376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68680" y="23957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68680" y="2944368"/>
            <a:ext cx="4846320" cy="292608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923544" y="2944368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3849624" y="2944368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4764024" y="2944368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68680" y="3236975"/>
            <a:ext cx="48463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923544" y="3236975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Archivador Oficio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3849624" y="3236975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4764024" y="3236975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18.00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68680" y="3529584"/>
            <a:ext cx="4846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923544" y="3529584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Calculadora Científica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3849624" y="35295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4764024" y="3529584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88.00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68680" y="3822191"/>
            <a:ext cx="48463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923544" y="3822191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3849624" y="3822191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4764024" y="3822191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68680" y="4114800"/>
            <a:ext cx="4846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923544" y="4114800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Impresora Multifuncional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3849624" y="4114800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4764024" y="4114800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249.90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6"/>
          <p:cNvCxnSpPr/>
          <p:nvPr/>
        </p:nvCxnSpPr>
        <p:spPr>
          <a:xfrm>
            <a:off x="868680" y="4407408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6"/>
          <p:cNvSpPr txBox="1"/>
          <p:nvPr/>
        </p:nvSpPr>
        <p:spPr>
          <a:xfrm>
            <a:off x="868680" y="46360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‹  Página 1 de 2  ›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03503" y="1810512"/>
            <a:ext cx="6016752" cy="3621024"/>
          </a:xfrm>
          <a:prstGeom prst="rect">
            <a:avLst/>
          </a:prstGeom>
          <a:noFill/>
          <a:ln cap="flat" cmpd="sng" w="25400">
            <a:solidFill>
              <a:srgbClr val="16C78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49808" y="2322576"/>
            <a:ext cx="5724144" cy="3044952"/>
          </a:xfrm>
          <a:prstGeom prst="rect">
            <a:avLst/>
          </a:prstGeom>
          <a:noFill/>
          <a:ln cap="flat" cmpd="sng" w="25400">
            <a:solidFill>
              <a:srgbClr val="0A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822959" y="2889504"/>
            <a:ext cx="4956048" cy="1572768"/>
          </a:xfrm>
          <a:prstGeom prst="rect">
            <a:avLst/>
          </a:prstGeom>
          <a:noFill/>
          <a:ln cap="flat" cmpd="sng" w="25400">
            <a:solidFill>
              <a:srgbClr val="F0AE1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822959" y="4599432"/>
            <a:ext cx="1828800" cy="347472"/>
          </a:xfrm>
          <a:prstGeom prst="rect">
            <a:avLst/>
          </a:prstGeom>
          <a:noFill/>
          <a:ln cap="flat" cmpd="sng" w="25400">
            <a:solidFill>
              <a:srgbClr val="FF992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257800" y="5138928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MainLayout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617720" y="2395728"/>
            <a:ext cx="1783080" cy="256032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474720" y="26243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788920" y="4654296"/>
            <a:ext cx="960120" cy="237744"/>
          </a:xfrm>
          <a:prstGeom prst="roundRect">
            <a:avLst>
              <a:gd fmla="val 50000" name="adj"/>
            </a:avLst>
          </a:prstGeom>
          <a:solidFill>
            <a:srgbClr val="FF992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Paginator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6995160" y="1463040"/>
            <a:ext cx="46634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una clase .NET definida en un archivo </a:t>
            </a:r>
            <a:r>
              <a:rPr b="1" i="0" lang="en-US" spc="0" sz="15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.razor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marcado HTML + lógica C#.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un componente con la directiva </a:t>
            </a:r>
            <a:r>
              <a:rPr b="1" i="0" lang="en-US" spc="0" sz="15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se accede a ella mediante una URL.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componentes se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anidan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forman un árbol: el layout contiene la página y la página contiene otros componentes.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componente mantiene su propio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se vuelve a renderizar cuando este cambia.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Blazor Server: cómo se ejecuta la aplicación</a:t>
            </a:r>
            <a:endParaRPr/>
          </a:p>
        </p:txBody>
      </p:sp>
      <p:sp>
        <p:nvSpPr>
          <p:cNvPr id="254" name="Google Shape;254;p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48640" y="1371600"/>
            <a:ext cx="3383280" cy="2423160"/>
          </a:xfrm>
          <a:prstGeom prst="roundRect">
            <a:avLst>
              <a:gd fmla="val 3773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Globe_FFFFFF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20" y="162946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1371600" y="15087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731520" y="2194560"/>
            <a:ext cx="3017520" cy="64008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HTML que ve el 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31520" y="2971800"/>
            <a:ext cx="3017520" cy="64008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blazor.web.js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envía eventos y aplica cambios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138160" y="1371600"/>
            <a:ext cx="3502152" cy="2423160"/>
          </a:xfrm>
          <a:prstGeom prst="roundRect">
            <a:avLst>
              <a:gd fmla="val 3773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8321040" y="150876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FFFFFF.png"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1740" y="162946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 txBox="1"/>
          <p:nvPr/>
        </p:nvSpPr>
        <p:spPr>
          <a:xfrm>
            <a:off x="8961120" y="15087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Servidor ASP.NET Core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8321040" y="2194560"/>
            <a:ext cx="3136392" cy="64008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Circuito del 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componentes y su estado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8321040" y="2971800"/>
            <a:ext cx="3136392" cy="64008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IProductoBL · IClienteBL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→ DAO → base de 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0" y="2395728"/>
            <a:ext cx="2926080" cy="38404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SignalR (WebSocket)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4023360" y="2011680"/>
            <a:ext cx="4023360" cy="0"/>
          </a:xfrm>
          <a:prstGeom prst="straightConnector1">
            <a:avLst/>
          </a:prstGeom>
          <a:noFill/>
          <a:ln cap="flat" cmpd="sng" w="3175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7"/>
          <p:cNvSpPr txBox="1"/>
          <p:nvPr/>
        </p:nvSpPr>
        <p:spPr>
          <a:xfrm>
            <a:off x="420624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eventos: clic, teclado, envío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7"/>
          <p:cNvCxnSpPr/>
          <p:nvPr/>
        </p:nvCxnSpPr>
        <p:spPr>
          <a:xfrm rot="10800000">
            <a:off x="4023360" y="3200400"/>
            <a:ext cx="4023360" cy="0"/>
          </a:xfrm>
          <a:prstGeom prst="straightConnector1">
            <a:avLst/>
          </a:prstGeom>
          <a:noFill/>
          <a:ln cap="flat" cmpd="sng" w="317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" name="Google Shape;272;p7"/>
          <p:cNvSpPr txBox="1"/>
          <p:nvPr/>
        </p:nvSpPr>
        <p:spPr>
          <a:xfrm>
            <a:off x="42062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cambios del DOM (solo diferencias)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48640" y="4023360"/>
            <a:ext cx="35661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13232" y="420624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de_FFFFFF.png" id="275" name="Google Shape;2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905" y="4337913"/>
            <a:ext cx="285292" cy="28529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 txBox="1"/>
          <p:nvPr/>
        </p:nvSpPr>
        <p:spPr>
          <a:xfrm>
            <a:off x="1417319" y="402336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código C# de los componentes se ejecuta siempre en el servidor.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315968" y="4023360"/>
            <a:ext cx="35661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480559" y="420624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ousePointer_FFFFFF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2233" y="4337913"/>
            <a:ext cx="285292" cy="2852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7"/>
          <p:cNvSpPr txBox="1"/>
          <p:nvPr/>
        </p:nvSpPr>
        <p:spPr>
          <a:xfrm>
            <a:off x="5184648" y="402336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navegador muestra el HTML y envía los eventos del usuario.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083296" y="4023360"/>
            <a:ext cx="35661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8247888" y="420624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hangeAlt_FFFFFF.png" id="283" name="Google Shape;28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79561" y="4337913"/>
            <a:ext cx="285292" cy="28529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7"/>
          <p:cNvSpPr txBox="1"/>
          <p:nvPr/>
        </p:nvSpPr>
        <p:spPr>
          <a:xfrm>
            <a:off x="8951976" y="402336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pestaña abierta mantiene un circuito con su propio estado.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48640" y="5120640"/>
            <a:ext cx="11094415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 el curso se utiliza únicamente el modo Interactive Server.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Interactive Server: el modo de renderizado del curso</a:t>
            </a:r>
            <a:endParaRPr/>
          </a:p>
        </p:txBody>
      </p:sp>
      <p:sp>
        <p:nvSpPr>
          <p:cNvPr id="291" name="Google Shape;291;p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48640" y="1371600"/>
            <a:ext cx="585216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48640" y="1371600"/>
            <a:ext cx="58521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59612" y="1664208"/>
            <a:ext cx="58302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685800" y="1389888"/>
            <a:ext cx="5577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Components/App.razor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694944" y="1773936"/>
            <a:ext cx="55595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&lt;HeadOutlet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13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@rendermode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3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"InteractiveServer"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&lt;Routes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13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@rendermode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3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"InteractiveServer"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6629400" y="1371600"/>
            <a:ext cx="5010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 activa una sola vez, para toda la aplicación.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Ninguna página necesita declarar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@rendermode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todas heredan la interactividad desde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48640" y="2743200"/>
            <a:ext cx="3557016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31520" y="2907792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olt_FFFFFF.png" id="303" name="Google Shape;3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20" y="302849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 txBox="1"/>
          <p:nvPr/>
        </p:nvSpPr>
        <p:spPr>
          <a:xfrm>
            <a:off x="1371600" y="2907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Qué permite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731520" y="356616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Eventos como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Enlace de datos con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Actualizaciones parciales del DOM.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315968" y="2743200"/>
            <a:ext cx="3557016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498848" y="2907792"/>
            <a:ext cx="502920" cy="5029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Alt_FFFFFF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548" y="302849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 txBox="1"/>
          <p:nvPr/>
        </p:nvSpPr>
        <p:spPr>
          <a:xfrm>
            <a:off x="5138928" y="2907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Prerenderizado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4498848" y="356616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E19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primera carga se envía como HTML completo.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AE19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Luego se conecta el circuito SignalR.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AE19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OnInitialized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ejecuta dos veces en esa primera carga.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083296" y="2743200"/>
            <a:ext cx="3557016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266175" y="2907792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hangeAlt_FFFFFF.png" id="313" name="Google Shape;3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6876" y="302849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"/>
          <p:cNvSpPr txBox="1"/>
          <p:nvPr/>
        </p:nvSpPr>
        <p:spPr>
          <a:xfrm>
            <a:off x="8906256" y="29077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Circuito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8266175" y="356616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C78E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Mantiene el estado de la pestaña en el servidor.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C78E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 se pierde la conexión aparece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ReconnectModal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C78E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 recargar la página se crea un circuito nuevo.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Relación entre Razor y Blazor</a:t>
            </a:r>
            <a:endParaRPr/>
          </a:p>
        </p:txBody>
      </p:sp>
      <p:sp>
        <p:nvSpPr>
          <p:cNvPr id="321" name="Google Shape;321;p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566160" y="1371600"/>
            <a:ext cx="5056632" cy="777240"/>
          </a:xfrm>
          <a:prstGeom prst="roundRect">
            <a:avLst>
              <a:gd fmla="val 9411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sintaxis de plantillas que combina HTML y C# mediante @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48640" y="2606040"/>
            <a:ext cx="3291840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ASP.NET Core MVC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vistas .cshtml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9"/>
          <p:cNvCxnSpPr/>
          <p:nvPr/>
        </p:nvCxnSpPr>
        <p:spPr>
          <a:xfrm flipH="1">
            <a:off x="2194560" y="2167128"/>
            <a:ext cx="3899916" cy="420624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" name="Google Shape;326;p9"/>
          <p:cNvSpPr/>
          <p:nvPr/>
        </p:nvSpPr>
        <p:spPr>
          <a:xfrm>
            <a:off x="4448555" y="2606040"/>
            <a:ext cx="3291840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Razor Pages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páginas .cshtml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9"/>
          <p:cNvCxnSpPr/>
          <p:nvPr/>
        </p:nvCxnSpPr>
        <p:spPr>
          <a:xfrm flipH="1">
            <a:off x="6094475" y="2167128"/>
            <a:ext cx="1" cy="420624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9"/>
          <p:cNvSpPr/>
          <p:nvPr/>
        </p:nvSpPr>
        <p:spPr>
          <a:xfrm>
            <a:off x="8348471" y="2606040"/>
            <a:ext cx="3291840" cy="777240"/>
          </a:xfrm>
          <a:prstGeom prst="roundRect">
            <a:avLst>
              <a:gd fmla="val 9411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 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9"/>
          <p:cNvCxnSpPr/>
          <p:nvPr/>
        </p:nvCxnSpPr>
        <p:spPr>
          <a:xfrm>
            <a:off x="6094476" y="2167128"/>
            <a:ext cx="3899916" cy="420624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9"/>
          <p:cNvSpPr txBox="1"/>
          <p:nvPr/>
        </p:nvSpPr>
        <p:spPr>
          <a:xfrm>
            <a:off x="3566160" y="21762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la utilizan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48640" y="3794760"/>
            <a:ext cx="2514600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9"/>
          <p:cNvCxnSpPr/>
          <p:nvPr/>
        </p:nvCxnSpPr>
        <p:spPr>
          <a:xfrm>
            <a:off x="3099816" y="4183380"/>
            <a:ext cx="384048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9"/>
          <p:cNvSpPr/>
          <p:nvPr/>
        </p:nvSpPr>
        <p:spPr>
          <a:xfrm>
            <a:off x="3529584" y="3794760"/>
            <a:ext cx="1645920" cy="777240"/>
          </a:xfrm>
          <a:prstGeom prst="roundRect">
            <a:avLst>
              <a:gd fmla="val 9411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Compilador 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9"/>
          <p:cNvCxnSpPr/>
          <p:nvPr/>
        </p:nvCxnSpPr>
        <p:spPr>
          <a:xfrm>
            <a:off x="5212080" y="4183380"/>
            <a:ext cx="384048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9"/>
          <p:cNvSpPr/>
          <p:nvPr/>
        </p:nvSpPr>
        <p:spPr>
          <a:xfrm>
            <a:off x="5641848" y="3794760"/>
            <a:ext cx="3429000" cy="777240"/>
          </a:xfrm>
          <a:prstGeom prst="roundRect">
            <a:avLst>
              <a:gd fmla="val 9411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ListarProductosPage : ComponentBase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BuildRenderTree(...)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9"/>
          <p:cNvCxnSpPr/>
          <p:nvPr/>
        </p:nvCxnSpPr>
        <p:spPr>
          <a:xfrm>
            <a:off x="9107424" y="4183380"/>
            <a:ext cx="384048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9"/>
          <p:cNvSpPr/>
          <p:nvPr/>
        </p:nvSpPr>
        <p:spPr>
          <a:xfrm>
            <a:off x="9537192" y="3794760"/>
            <a:ext cx="2103120" cy="777240"/>
          </a:xfrm>
          <a:prstGeom prst="roundRect">
            <a:avLst>
              <a:gd fmla="val 9411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en el 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48640" y="4800600"/>
            <a:ext cx="11094415" cy="713232"/>
          </a:xfrm>
          <a:prstGeom prst="roundRect">
            <a:avLst>
              <a:gd fmla="val 1282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731520" y="4800600"/>
            <a:ext cx="10728655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Razor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es el lenguaje de plantillas; </a:t>
            </a: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Blazor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es el framework de componentes que lo utiliza. Al compilar, el marcado se convierte en el método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BuildRenderTree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y el bloque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aporta los miembros de la clase.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Ciclo de vida de un componente</a:t>
            </a:r>
            <a:endParaRPr/>
          </a:p>
        </p:txBody>
      </p:sp>
      <p:sp>
        <p:nvSpPr>
          <p:cNvPr id="345" name="Google Shape;345;p1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FUNDAMENTOS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48640" y="1463040"/>
            <a:ext cx="1965960" cy="822960"/>
          </a:xfrm>
          <a:prstGeom prst="roundRect">
            <a:avLst>
              <a:gd fmla="val 8888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Parámetros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asignados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>
            <a:off x="2542032" y="1874519"/>
            <a:ext cx="26060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10"/>
          <p:cNvSpPr/>
          <p:nvPr/>
        </p:nvSpPr>
        <p:spPr>
          <a:xfrm>
            <a:off x="2830068" y="1463040"/>
            <a:ext cx="1965960" cy="822960"/>
          </a:xfrm>
          <a:prstGeom prst="roundRect">
            <a:avLst>
              <a:gd fmla="val 8888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OnInitialized()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10"/>
          <p:cNvCxnSpPr/>
          <p:nvPr/>
        </p:nvCxnSpPr>
        <p:spPr>
          <a:xfrm>
            <a:off x="4823460" y="1874519"/>
            <a:ext cx="26060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0"/>
          <p:cNvSpPr/>
          <p:nvPr/>
        </p:nvSpPr>
        <p:spPr>
          <a:xfrm>
            <a:off x="5111496" y="1463040"/>
            <a:ext cx="1965960" cy="822960"/>
          </a:xfrm>
          <a:prstGeom prst="roundRect">
            <a:avLst>
              <a:gd fmla="val 8888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OnParametersSet()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0"/>
          <p:cNvCxnSpPr/>
          <p:nvPr/>
        </p:nvCxnSpPr>
        <p:spPr>
          <a:xfrm>
            <a:off x="7104888" y="1874519"/>
            <a:ext cx="26060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10"/>
          <p:cNvSpPr/>
          <p:nvPr/>
        </p:nvSpPr>
        <p:spPr>
          <a:xfrm>
            <a:off x="7392924" y="1463040"/>
            <a:ext cx="1965960" cy="822960"/>
          </a:xfrm>
          <a:prstGeom prst="roundRect">
            <a:avLst>
              <a:gd fmla="val 8888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BuildRenderTree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0"/>
          <p:cNvCxnSpPr/>
          <p:nvPr/>
        </p:nvCxnSpPr>
        <p:spPr>
          <a:xfrm>
            <a:off x="9386316" y="1874519"/>
            <a:ext cx="26060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0"/>
          <p:cNvSpPr/>
          <p:nvPr/>
        </p:nvSpPr>
        <p:spPr>
          <a:xfrm>
            <a:off x="9674352" y="1463040"/>
            <a:ext cx="1965960" cy="822960"/>
          </a:xfrm>
          <a:prstGeom prst="roundRect">
            <a:avLst>
              <a:gd fmla="val 8888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OnAfterRender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(firstRender)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6112764" y="2450592"/>
            <a:ext cx="3794760" cy="438912"/>
          </a:xfrm>
          <a:prstGeom prst="roundRect">
            <a:avLst>
              <a:gd fmla="val 50000" name="adj"/>
            </a:avLst>
          </a:prstGeom>
          <a:solidFill>
            <a:srgbClr val="F0AE19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yncAlt_042354.png" id="357" name="Google Shape;3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9924" y="25237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"/>
          <p:cNvSpPr txBox="1"/>
          <p:nvPr/>
        </p:nvSpPr>
        <p:spPr>
          <a:xfrm>
            <a:off x="6615684" y="2450592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cada evento del usuario vuelve a renderizar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9" name="Google Shape;359;p10"/>
          <p:cNvGraphicFramePr/>
          <p:nvPr/>
        </p:nvGraphicFramePr>
        <p:xfrm>
          <a:off x="54864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383925"/>
                <a:gridCol w="4217700"/>
                <a:gridCol w="4492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Método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Cuándo se ejecuta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en SoftProg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OnInitialized()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 vez, al crear el 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Cargar datos iniciales: ProductoBL.FindAll()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OnParametersSet()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 crear el componente y cada vez que la ruta o el padre cambian sus parámetros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Cargar el producto según el Id de la URL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OnAfterRender(bool)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Después de actualizar el DOM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Llamadas a JavaScript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10"/>
          <p:cNvSpPr/>
          <p:nvPr/>
        </p:nvSpPr>
        <p:spPr>
          <a:xfrm>
            <a:off x="548640" y="4873752"/>
            <a:ext cx="11094415" cy="640080"/>
          </a:xfrm>
          <a:prstGeom prst="roundRect">
            <a:avLst>
              <a:gd fmla="val 11428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731520" y="4873752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 esta sesión se usan las versiones </a:t>
            </a: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síncronas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porque los métodos BL de SoftProg son síncronos. Las versiones Async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OnInitializedAsync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) se verán en la siguiente sesión.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Estructura de un proyecto Blazor</a:t>
            </a:r>
            <a:endParaRPr sz="3200"/>
          </a:p>
        </p:txBody>
      </p:sp>
      <p:sp>
        <p:nvSpPr>
          <p:cNvPr id="367" name="Google Shape;367;p1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Organización del proyecto, Bootstrap, layout y flujo de una solicitud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SoftProg.Web dentro de la arquitectura de SoftProg</a:t>
            </a:r>
            <a:endParaRPr/>
          </a:p>
        </p:txBody>
      </p:sp>
      <p:sp>
        <p:nvSpPr>
          <p:cNvPr id="374" name="Google Shape;374;p1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1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48640" y="1371600"/>
            <a:ext cx="2834640" cy="621792"/>
          </a:xfrm>
          <a:prstGeom prst="roundRect">
            <a:avLst>
              <a:gd fmla="val 11764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SoftProg.Web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web: páginas y componentes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548640" y="2240280"/>
            <a:ext cx="4617720" cy="621792"/>
          </a:xfrm>
          <a:prstGeom prst="roundRect">
            <a:avLst>
              <a:gd fmla="val 11764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SoftProg.Negocio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IProductoBL, IClienteBL, IEmpleadoBL, BLException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48640" y="3108960"/>
            <a:ext cx="4617720" cy="621792"/>
          </a:xfrm>
          <a:prstGeom prst="roundRect">
            <a:avLst>
              <a:gd fmla="val 11764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SoftProg.AccessoDatos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IProductoDAO, ClienteDAOImpl, TransactionsManager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48640" y="3977639"/>
            <a:ext cx="4617720" cy="621792"/>
          </a:xfrm>
          <a:prstGeom prst="roundRect">
            <a:avLst>
              <a:gd fmla="val 11764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SoftProg.DbManager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DBManagerMSSQL · DBManagerMySql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520440" y="1371600"/>
            <a:ext cx="1645920" cy="621792"/>
          </a:xfrm>
          <a:prstGeom prst="roundRect">
            <a:avLst>
              <a:gd fmla="val 11764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SoftProg.App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consola de pruebas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2"/>
          <p:cNvCxnSpPr/>
          <p:nvPr/>
        </p:nvCxnSpPr>
        <p:spPr>
          <a:xfrm>
            <a:off x="1920240" y="2011680"/>
            <a:ext cx="0" cy="210312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2"/>
          <p:cNvCxnSpPr/>
          <p:nvPr/>
        </p:nvCxnSpPr>
        <p:spPr>
          <a:xfrm>
            <a:off x="1920240" y="2880360"/>
            <a:ext cx="0" cy="210312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p12"/>
          <p:cNvCxnSpPr/>
          <p:nvPr/>
        </p:nvCxnSpPr>
        <p:spPr>
          <a:xfrm>
            <a:off x="1920240" y="3749039"/>
            <a:ext cx="0" cy="210313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12"/>
          <p:cNvCxnSpPr/>
          <p:nvPr/>
        </p:nvCxnSpPr>
        <p:spPr>
          <a:xfrm>
            <a:off x="1920240" y="4617720"/>
            <a:ext cx="0" cy="210311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12"/>
          <p:cNvCxnSpPr/>
          <p:nvPr/>
        </p:nvCxnSpPr>
        <p:spPr>
          <a:xfrm>
            <a:off x="4343400" y="2011680"/>
            <a:ext cx="0" cy="210312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12"/>
          <p:cNvSpPr/>
          <p:nvPr/>
        </p:nvSpPr>
        <p:spPr>
          <a:xfrm>
            <a:off x="548640" y="4846320"/>
            <a:ext cx="4617720" cy="621792"/>
          </a:xfrm>
          <a:prstGeom prst="roundRect">
            <a:avLst>
              <a:gd fmla="val 14705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042354.png" id="387" name="Google Shape;3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9560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 txBox="1"/>
          <p:nvPr/>
        </p:nvSpPr>
        <p:spPr>
          <a:xfrm>
            <a:off x="1280160" y="4846320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Base de datos MSSQL / MySQL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5394959" y="1371600"/>
            <a:ext cx="1691640" cy="4096512"/>
          </a:xfrm>
          <a:prstGeom prst="roundRect">
            <a:avLst>
              <a:gd fmla="val 5405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5486399" y="1463040"/>
            <a:ext cx="15087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SoftProg.Modelo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Usado por todas las capas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Empleado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LineaOrdenVenta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CuentaUsuario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7360920" y="1417320"/>
            <a:ext cx="429768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SoftProg.Web es una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nueva capa de presentación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no reemplaza ninguna capa existente.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Solo referencia al proyecto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SoftProg.Negocio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(ver SoftProg.Web.csproj).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Las páginas trabajan con las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interfaces BL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con las </a:t>
            </a:r>
            <a:r>
              <a:rPr b="1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clases del modelo</a:t>
            </a: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A7BC2"/>
              </a:buClr>
              <a:buSzPts val="1500"/>
              <a:buFont typeface="Arial"/>
              <a:buChar char="•"/>
            </a:pPr>
            <a:r>
              <a:rPr b="0" i="0" lang="en-US" spc="0" sz="1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consola SoftProg.App y la aplicación web usan exactamente los mismos objetos de negocio.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Estructura de carpetas de SoftProg.Web</a:t>
            </a:r>
            <a:endParaRPr/>
          </a:p>
        </p:txBody>
      </p:sp>
      <p:sp>
        <p:nvSpPr>
          <p:cNvPr id="397" name="Google Shape;397;p1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1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548640" y="1371600"/>
            <a:ext cx="52578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548640" y="1371600"/>
            <a:ext cx="52578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59612" y="1664208"/>
            <a:ext cx="52358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685800" y="13898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Explorador de la solución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694944" y="1773936"/>
            <a:ext cx="49651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SoftProg.Web/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Properties/launchSettings.json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wwwroot/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app.css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js/softprog.js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Components/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App.razor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Routes.razor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RedirectToLogin.razor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_Imports.razor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Layout/MainLayout.razor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Pages/Almacen/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Pages/RRHH/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Pages/Seguridad/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Pages/Ventas/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Ventas/      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Shared/      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ViewModels/     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Seguridad/      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Servicios/                  </a:t>
            </a:r>
            <a:r>
              <a:rPr b="1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(nuevo)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Program.cs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└─ SoftProg.Web.csproj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" name="Google Shape;404;p13"/>
          <p:cNvGraphicFramePr/>
          <p:nvPr/>
        </p:nvGraphicFramePr>
        <p:xfrm>
          <a:off x="60350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965950"/>
                <a:gridCol w="3639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Propósito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wwwroot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Archivos estáticos públicos (app.css, js/softprog.js). Bootstrap se toma de un CDN.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Components/Pages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Páginas (componentes con @page), agrupadas por módulo: Almacen, RRHH, Ventas.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Components/Ventas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Componentes reutilizables sin @page (maestro-detalle de órdenes).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ViewModels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Clases para formularios y validación: ProductoViewModel, ClienteViewModel.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Program.cs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Configuración de servicios y del pipeline HTTP.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launchSettings.json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URLs y entorno de ejecución: https://localhost:7220.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Program.cs: punto de arranque de la aplicación</a:t>
            </a:r>
            <a:endParaRPr/>
          </a:p>
        </p:txBody>
      </p:sp>
      <p:sp>
        <p:nvSpPr>
          <p:cNvPr id="410" name="Google Shape;410;p1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1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4"/>
          <p:cNvCxnSpPr/>
          <p:nvPr/>
        </p:nvCxnSpPr>
        <p:spPr>
          <a:xfrm>
            <a:off x="749808" y="1600200"/>
            <a:ext cx="0" cy="3383280"/>
          </a:xfrm>
          <a:prstGeom prst="straightConnector1">
            <a:avLst/>
          </a:prstGeom>
          <a:noFill/>
          <a:ln cap="flat" cmpd="sng" w="381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14"/>
          <p:cNvSpPr/>
          <p:nvPr/>
        </p:nvSpPr>
        <p:spPr>
          <a:xfrm>
            <a:off x="548640" y="1371600"/>
            <a:ext cx="402336" cy="402336"/>
          </a:xfrm>
          <a:prstGeom prst="ellipse">
            <a:avLst/>
          </a:prstGeom>
          <a:solidFill>
            <a:srgbClr val="64858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 txBox="1"/>
          <p:nvPr/>
        </p:nvSpPr>
        <p:spPr>
          <a:xfrm>
            <a:off x="1143000" y="13258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Ejecutar el proyecto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Rider: Run, o en consola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dotnet run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48640" y="20574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 txBox="1"/>
          <p:nvPr/>
        </p:nvSpPr>
        <p:spPr>
          <a:xfrm>
            <a:off x="1143000" y="20116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 ejecuta Program.cs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 lo primero que corre: no hay un método Main explícito, sus instrucciones se ejecutan de arriba hacia abajo.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48640" y="27432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1143000" y="26974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Crear el builder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WebApplication.CreateBuilder(args)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lee la configuración.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548640" y="34290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1143000" y="33832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Registrar servicios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Blazor y los objetos de negocio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AddScoped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48640" y="4114800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1143000" y="40690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Construir y configurar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builder.Build()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los middlewares del pipeline.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48640" y="4800600"/>
            <a:ext cx="402336" cy="402336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1143000" y="47548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app.Run()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Inicia el servidor web y queda esperando solicitudes.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400800" y="1371600"/>
            <a:ext cx="5239512" cy="1554480"/>
          </a:xfrm>
          <a:prstGeom prst="roundRect">
            <a:avLst>
              <a:gd fmla="val 470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6400800" y="1371600"/>
            <a:ext cx="523951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411772" y="1664208"/>
            <a:ext cx="521756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6537960" y="1389888"/>
            <a:ext cx="4965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Consola al ejecutar SoftProg.Web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6547104" y="1773936"/>
            <a:ext cx="4946904" cy="1106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info: Microsoft.Hosting.Lifetime[14]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Now listening on: https://localhost:7220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info: Microsoft.Hosting.Lifetime[0]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Application started. Press Ctrl+C to shut down.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6400800" y="3108960"/>
            <a:ext cx="5239512" cy="237744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6583680" y="3200400"/>
            <a:ext cx="4892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Diferencia con SoftProg.App (consola)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la consola, Program.cs ejecuta las pruebas y el programa termina.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SoftProg.Web,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app.Run()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no termina: el servidor atiende solicitudes del navegador hasta que se detiene la aplicación (Ctrl+C o Stop en Rider).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Todo lo que la aplicación necesita se configura antes de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app.Run()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Program.cs: servicios y pipeline HTTP</a:t>
            </a:r>
            <a:endParaRPr/>
          </a:p>
        </p:txBody>
      </p:sp>
      <p:sp>
        <p:nvSpPr>
          <p:cNvPr id="437" name="Google Shape;437;p1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1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48640" y="1371600"/>
            <a:ext cx="70866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548640" y="1371600"/>
            <a:ext cx="70866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559612" y="1664208"/>
            <a:ext cx="70646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 txBox="1"/>
          <p:nvPr/>
        </p:nvSpPr>
        <p:spPr>
          <a:xfrm>
            <a:off x="685800" y="1389888"/>
            <a:ext cx="6812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694944" y="1773936"/>
            <a:ext cx="67939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builder = WebApplication.CreateBuilder(args);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1. Servicios de Blazor con interactividad en el servidor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builder.Services.AddRazorComponents()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.AddInteractiveServerComponents();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builder.Services.AddSeguridad();      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sección 9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2. Objetos de negocio de SoftProg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builder.Services.AddScoped&lt;IProductoBL, ProductoBLImpl&gt;();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builder.Services.AddScoped&lt;IAreaBL, AreaBLImpl&gt;();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builder.Services.AddScoped&lt;IClienteBL, ClienteBLImpl&gt;();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builder.Services.AddScoped&lt;IEmpleadoBL, EmpleadoBLImpl&gt;();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builder.Services.AddScoped&lt;ICuentaUsuarioBL, CuentaUsuarioBLImpl&gt;();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builder.Services.AddScoped&lt;IOrdenVentaBL, OrdenVentaBLImpl&gt;();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app = builder.Build();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3. Pipeline HTTP: middlewares que procesan cada solicitud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 UseExceptionHandler y UseHsts fuera del entorno de desarrollo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app.UseStatusCodePagesWithReExecute(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"/not-found"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createScopeForStatusCodePages: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app.UseHttpsRedirection();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app.UseAuthentication();              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sección 9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app.UseAuthorization();               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sección 9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app.UseAntiforgery();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app.MapStaticAssets();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4. Punto de entrada de la interfaz: el componente App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app.MapRazorComponents&lt;App&gt;()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.AddInteractiveServerRenderMode();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app.MapSesionEndpoints();             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sección 9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app.Run();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7909560" y="141732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8458200" y="1380744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Servicios de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Registra los componentes Razor y habilita el modo Interactive Server.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7909560" y="2441448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8458200" y="2404872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Objetos de negocio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Registra los BL en el contenedor de inyección de dependencias (sección 3).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7909560" y="3465576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8458200" y="342900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Pipeline HTTP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solicitud atraviesa estos middlewares en el orden en que se declaran.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7909560" y="4489704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8458200" y="4453128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 raíz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App.razor es el componente que genera el documento HTML.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Referenciar Bootstrap desde un CDN</a:t>
            </a:r>
            <a:endParaRPr/>
          </a:p>
        </p:txBody>
      </p:sp>
      <p:sp>
        <p:nvSpPr>
          <p:cNvPr id="457" name="Google Shape;457;p1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 txBox="1"/>
          <p:nvPr/>
        </p:nvSpPr>
        <p:spPr>
          <a:xfrm>
            <a:off x="548640" y="137160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es un CDN?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red de servidores públicos (Content Delivery Network) que distribuye archivos estáticos. El navegador descarga Bootstrap desde cdn.jsdelivr.net: el proyecto no guarda copias de esos archivos.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1051560" y="2624328"/>
            <a:ext cx="4983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Ingresar a getbootstrap.com →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→ sección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CDN via jsDelivr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6"/>
          <p:cNvSpPr txBox="1"/>
          <p:nvPr/>
        </p:nvSpPr>
        <p:spPr>
          <a:xfrm>
            <a:off x="1051560" y="3191256"/>
            <a:ext cx="4983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Copiar los enlaces del CSS y del JavaScript (versión 5.3.8).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48640" y="3831336"/>
            <a:ext cx="365760" cy="36576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1051560" y="3758184"/>
            <a:ext cx="4983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Pegarlos en App.razor: el CSS en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el script al final de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48640" y="4343400"/>
            <a:ext cx="548640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548640" y="4343400"/>
            <a:ext cx="54864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559612" y="4636008"/>
            <a:ext cx="54644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685800" y="436168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Enlaces de Bootstrap 5.3.8 (base + archivo)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 txBox="1"/>
          <p:nvPr/>
        </p:nvSpPr>
        <p:spPr>
          <a:xfrm>
            <a:off x="694944" y="4745736"/>
            <a:ext cx="519379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https://cdn.jsdelivr.net/npm/bootstrap@5.3.8/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dist/css/bootstrap.min.css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dist/js/bootstrap.bundle.min.js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6400800" y="137160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16C78E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cdn.jsdelivr.net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bootstrap.min.css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bootstrap.bundle.min.js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9125712" y="137160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localhost:7220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app.css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blazor.web.js · softprog.js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567928" y="333756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Globe_FFFFFF.png" id="474" name="Google Shape;4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8628" y="345826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/>
          <p:nvPr/>
        </p:nvSpPr>
        <p:spPr>
          <a:xfrm>
            <a:off x="7498079" y="3931920"/>
            <a:ext cx="3017520" cy="548640"/>
          </a:xfrm>
          <a:prstGeom prst="roundRect">
            <a:avLst>
              <a:gd fmla="val 13333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16"/>
          <p:cNvCxnSpPr/>
          <p:nvPr/>
        </p:nvCxnSpPr>
        <p:spPr>
          <a:xfrm>
            <a:off x="7653527" y="2724912"/>
            <a:ext cx="576073" cy="1179575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16"/>
          <p:cNvCxnSpPr/>
          <p:nvPr/>
        </p:nvCxnSpPr>
        <p:spPr>
          <a:xfrm flipH="1">
            <a:off x="9784080" y="2724912"/>
            <a:ext cx="594360" cy="1179575"/>
          </a:xfrm>
          <a:prstGeom prst="straightConnector1">
            <a:avLst/>
          </a:prstGeom>
          <a:noFill/>
          <a:ln cap="flat" cmpd="sng" w="317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16"/>
          <p:cNvSpPr/>
          <p:nvPr/>
        </p:nvSpPr>
        <p:spPr>
          <a:xfrm>
            <a:off x="6400800" y="4663440"/>
            <a:ext cx="5239512" cy="822960"/>
          </a:xfrm>
          <a:prstGeom prst="roundRect">
            <a:avLst>
              <a:gd fmla="val 8888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6537960" y="4663440"/>
            <a:ext cx="4983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 versión va en la URL (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@5.3.8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): el sitio no cambia si Bootstrap publica otra versión.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Requiere conexión a Internet al cargar la página.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App.razor: documento HTML raíz y referencias globales</a:t>
            </a:r>
            <a:endParaRPr/>
          </a:p>
        </p:txBody>
      </p:sp>
      <p:sp>
        <p:nvSpPr>
          <p:cNvPr id="485" name="Google Shape;485;p1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548640" y="1325880"/>
            <a:ext cx="75895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548640" y="1325880"/>
            <a:ext cx="7589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59612" y="1618488"/>
            <a:ext cx="7567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685800" y="13441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Components/App.razor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694944" y="1728216"/>
            <a:ext cx="7296912" cy="375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&lt;html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lang=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&lt;meta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charset=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&lt;meta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name=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"viewport"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content=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"width=device-width, initial-scale=1.0"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&lt;base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&lt;ResourcePreloader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"https://cdn.jsdelivr.net/npm/bootstrap@5.3.8/dist/css/bootstrap.min.css"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rel=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integrity=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"sha384-sRIl4kx..."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crossorigin=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"anonymous"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rel=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app.css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rel=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SoftProg.Web.styles.css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&lt;ImportMap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&lt;HeadOutlet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@rendermode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"InteractiveServer"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&lt;Routes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@rendermode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"InteractiveServer"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&lt;ReconnectModal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"https://cdn.jsdelivr.net/npm/bootstrap@5.3.8/dist/js/bootstrap.bundle.min.js"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integrity=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"sha384-FKyoEFo..."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crossorigin=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"anonymous"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js/softprog.js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_framework/blazor.web.js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8366760" y="132588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de Bootstrap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8366760" y="1655064"/>
            <a:ext cx="3273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 toma del CDN y va antes de app.css para que los estilos propios puedan sobrescribirlo.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8366760" y="2221991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HeadOutlet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 txBox="1"/>
          <p:nvPr/>
        </p:nvSpPr>
        <p:spPr>
          <a:xfrm>
            <a:off x="8366760" y="2551175"/>
            <a:ext cx="3273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Permite que cada página defina su título con &lt;PageTitle&gt;.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8366760" y="3118104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 txBox="1"/>
          <p:nvPr/>
        </p:nvSpPr>
        <p:spPr>
          <a:xfrm>
            <a:off x="8366760" y="3447288"/>
            <a:ext cx="3273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 enrutador. InteractiveServer activa la interactividad en todas las páginas.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8366760" y="4014215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Scripts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8366760" y="4343400"/>
            <a:ext cx="3273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bootstrap.bundle.min.js (menús) desde el CDN, js/softprog.js (sección 8) y blazor.web.js (SignalR).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8366760" y="4937760"/>
            <a:ext cx="3273552" cy="594360"/>
          </a:xfrm>
          <a:prstGeom prst="roundRect">
            <a:avLst>
              <a:gd fmla="val 12307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8458200" y="493776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Las URL del CDN se escriben completas; </a:t>
            </a:r>
            <a:r>
              <a:rPr b="1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@Assets[...]</a:t>
            </a:r>
            <a:r>
              <a:rPr b="0" i="0" lang="en-US" spc="0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solo se usa para archivos de wwwroot.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Routes.razor y _Imports.razor</a:t>
            </a:r>
            <a:endParaRPr/>
          </a:p>
        </p:txBody>
      </p:sp>
      <p:sp>
        <p:nvSpPr>
          <p:cNvPr id="514" name="Google Shape;514;p1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548640" y="1371600"/>
            <a:ext cx="5440680" cy="2697480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548640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59612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685800" y="1389888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Components/Routes.razor (versión inicial)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 txBox="1"/>
          <p:nvPr/>
        </p:nvSpPr>
        <p:spPr>
          <a:xfrm>
            <a:off x="694944" y="1773936"/>
            <a:ext cx="5148072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&lt;Router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AppAssembly=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"typeof(Program).Assembly"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NotFoundPage=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"typeof(Pages.NotFound)"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&lt;Found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Context=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&lt;RouteView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RouteData=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DefaultLayout=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"typeof(Layout.MainLayout)"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&lt;FocusOnNavigate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RouteData=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Selector=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"h1"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&lt;/Found&gt;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&lt;/Router&gt;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199632" y="1371600"/>
            <a:ext cx="5440680" cy="2697480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6199632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6210604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6336792" y="1389888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Components/_Imports.razor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 txBox="1"/>
          <p:nvPr/>
        </p:nvSpPr>
        <p:spPr>
          <a:xfrm>
            <a:off x="6345936" y="1773936"/>
            <a:ext cx="5148072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System.Security.Claims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Microsoft.AspNetCore.Authorization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Microsoft.AspNetCore.Components.Authorization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... @using de la plantilla: Forms, Routing, Web, JSInterop ... *@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SoftProg.Modelo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SoftProg.Modelo.Almacen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SoftProg.Modelo.RRHH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SoftProg.Modelo.Ventas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SoftProg.Modelo.Seguridad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SoftProg.Negocio.BL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SoftProg.Web.ViewModels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SoftProg.Web.Seguridad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SoftProg.Web.Servicios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SoftProg.Web.Components.Ventas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SoftProg.Web.Components.Shared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 txBox="1"/>
          <p:nvPr/>
        </p:nvSpPr>
        <p:spPr>
          <a:xfrm>
            <a:off x="548640" y="4206240"/>
            <a:ext cx="5440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busca en el ensamblado los componentes que tienen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RouteView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 la página dentro del layout (en la sección 9 pasa a ser AuthorizeRouteView).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NotFoundPage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usa cuando ninguna ruta coincide con la URL.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 txBox="1"/>
          <p:nvPr/>
        </p:nvSpPr>
        <p:spPr>
          <a:xfrm>
            <a:off x="6199632" y="4206240"/>
            <a:ext cx="5440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 este archivo se aplican a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los componentes de la carpeta y subcarpetas.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Evita repetir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@using SoftProg.Negocio.BL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en cada página.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es un layout? MainLayout.razor</a:t>
            </a:r>
            <a:endParaRPr/>
          </a:p>
        </p:txBody>
      </p:sp>
      <p:sp>
        <p:nvSpPr>
          <p:cNvPr id="538" name="Google Shape;538;p1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1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48640" y="1371600"/>
            <a:ext cx="484632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548640" y="1371600"/>
            <a:ext cx="48463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559612" y="1664208"/>
            <a:ext cx="48243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685800" y="138988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Components/Layout/MainLayout.razor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694944" y="1773936"/>
            <a:ext cx="4553712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@inherits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LayoutComponentBase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id=</a:t>
            </a:r>
            <a:r>
              <a:rPr b="0" i="0" lang="en-US" spc="0" sz="13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"blazor-error-ui"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data-nosnippet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pc="0" sz="13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mensaje de error no controlado *@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 txBox="1"/>
          <p:nvPr/>
        </p:nvSpPr>
        <p:spPr>
          <a:xfrm>
            <a:off x="548640" y="3566160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un componente que define la estructura visual compartida; hereda de 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LayoutComponentBase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marca el lugar donde se inserta la página actual.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 asigna por defecto en Routes.razor (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DefaultLayout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 o en una página con 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@layout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5760720" y="1371600"/>
            <a:ext cx="3840480" cy="4114800"/>
          </a:xfrm>
          <a:prstGeom prst="roundRect">
            <a:avLst>
              <a:gd fmla="val 1904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5760720" y="1371600"/>
            <a:ext cx="3840480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5769864" y="1645920"/>
            <a:ext cx="3822192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588873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6044183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6199631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6400800" y="1444752"/>
            <a:ext cx="3063240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https://localhost:7220/...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5870448" y="1865376"/>
            <a:ext cx="3621024" cy="502920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Barra de navegación (común)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5870448" y="2487168"/>
            <a:ext cx="3621024" cy="2331720"/>
          </a:xfrm>
          <a:prstGeom prst="roundRect">
            <a:avLst>
              <a:gd fmla="val 1960" name="adj"/>
            </a:avLst>
          </a:prstGeom>
          <a:solidFill>
            <a:srgbClr val="0A7BC2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5870448" y="2487168"/>
            <a:ext cx="3621024" cy="2331720"/>
          </a:xfrm>
          <a:prstGeom prst="rect">
            <a:avLst/>
          </a:prstGeom>
          <a:noFill/>
          <a:ln cap="flat" cmpd="sng" w="25400">
            <a:solidFill>
              <a:srgbClr val="0A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5870448" y="3172968"/>
            <a:ext cx="3621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pc="0" sz="2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5870448" y="3630168"/>
            <a:ext cx="3621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contenido de la página actual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5870448" y="4937760"/>
            <a:ext cx="3621024" cy="457200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Pie de página (común)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9829800" y="2624328"/>
            <a:ext cx="1810512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ListarProductos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 "/productos"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19"/>
          <p:cNvCxnSpPr/>
          <p:nvPr/>
        </p:nvCxnSpPr>
        <p:spPr>
          <a:xfrm flipH="1">
            <a:off x="9473184" y="3008376"/>
            <a:ext cx="338328" cy="576072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2" name="Google Shape;562;p19"/>
          <p:cNvSpPr/>
          <p:nvPr/>
        </p:nvSpPr>
        <p:spPr>
          <a:xfrm>
            <a:off x="9829800" y="3767328"/>
            <a:ext cx="1810512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ListarClientes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 "/clientes"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19"/>
          <p:cNvCxnSpPr/>
          <p:nvPr/>
        </p:nvCxnSpPr>
        <p:spPr>
          <a:xfrm rot="10800000">
            <a:off x="9473184" y="3584448"/>
            <a:ext cx="338328" cy="566928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MainLayout.razor con barra de navegación Bootstrap</a:t>
            </a:r>
            <a:endParaRPr/>
          </a:p>
        </p:txBody>
      </p:sp>
      <p:sp>
        <p:nvSpPr>
          <p:cNvPr id="569" name="Google Shape;569;p2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2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48640" y="1371600"/>
            <a:ext cx="67665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548640" y="1371600"/>
            <a:ext cx="67665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559612" y="1664208"/>
            <a:ext cx="67446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0"/>
          <p:cNvSpPr txBox="1"/>
          <p:nvPr/>
        </p:nvSpPr>
        <p:spPr>
          <a:xfrm>
            <a:off x="685800" y="1389888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Components/Layout/MainLayout.razor (versión inicial)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 txBox="1"/>
          <p:nvPr/>
        </p:nvSpPr>
        <p:spPr>
          <a:xfrm>
            <a:off x="694944" y="1773936"/>
            <a:ext cx="64739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@inherits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LayoutComponentBase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"navbar navbar-expand navbar-dark bg-primary px-3"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"navbar-brand"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SoftProg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"navbar-nav"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"clientes"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Clientes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"empleados"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Empleados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"areas"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Áreas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"cuentas-usuario"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Cuentas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"ordenes-venta"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Órdenes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&lt;/nav&gt;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&lt;main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"container mt-4"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1" i="0" lang="en-US" spc="0" sz="10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&lt;/main&gt;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pc="0" sz="10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se mantiene el div blazor-error-ui al final *@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7589520" y="1371600"/>
            <a:ext cx="4050791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7589520" y="1371600"/>
            <a:ext cx="4050791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7598664" y="1645920"/>
            <a:ext cx="403250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771753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787298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802843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8229600" y="1444752"/>
            <a:ext cx="3273551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7589520" y="1755648"/>
            <a:ext cx="4050791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 txBox="1"/>
          <p:nvPr/>
        </p:nvSpPr>
        <p:spPr>
          <a:xfrm>
            <a:off x="7726680" y="175564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0"/>
          <p:cNvSpPr txBox="1"/>
          <p:nvPr/>
        </p:nvSpPr>
        <p:spPr>
          <a:xfrm>
            <a:off x="8823960" y="1755648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0"/>
          <p:cNvSpPr txBox="1"/>
          <p:nvPr/>
        </p:nvSpPr>
        <p:spPr>
          <a:xfrm>
            <a:off x="9834372" y="1755648"/>
            <a:ext cx="923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 txBox="1"/>
          <p:nvPr/>
        </p:nvSpPr>
        <p:spPr>
          <a:xfrm>
            <a:off x="10757916" y="1755648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Empleados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7863840" y="2304288"/>
            <a:ext cx="3502151" cy="1143000"/>
          </a:xfrm>
          <a:prstGeom prst="roundRect">
            <a:avLst>
              <a:gd fmla="val 4000" name="adj"/>
            </a:avLst>
          </a:prstGeom>
          <a:solidFill>
            <a:srgbClr val="0A7BC2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7863840" y="2304288"/>
            <a:ext cx="3502151" cy="1143000"/>
          </a:xfrm>
          <a:prstGeom prst="rect">
            <a:avLst/>
          </a:prstGeom>
          <a:noFill/>
          <a:ln cap="flat" cmpd="sng" w="19050">
            <a:solidFill>
              <a:srgbClr val="0A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 txBox="1"/>
          <p:nvPr/>
        </p:nvSpPr>
        <p:spPr>
          <a:xfrm>
            <a:off x="7863840" y="2304288"/>
            <a:ext cx="3502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@Body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0"/>
          <p:cNvSpPr txBox="1"/>
          <p:nvPr/>
        </p:nvSpPr>
        <p:spPr>
          <a:xfrm>
            <a:off x="7589520" y="3749039"/>
            <a:ext cx="4050791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navbar-dark bg-primary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barra con fondo del color primario y texto claro.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container mt-4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centra el contenido y agrega margen superior.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NavLink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agrega la clase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active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cuando la URL coincide; Bootstrap la resalta.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Clases de Bootstrap que usaremos en listados y formularios</a:t>
            </a:r>
            <a:endParaRPr/>
          </a:p>
        </p:txBody>
      </p:sp>
      <p:sp>
        <p:nvSpPr>
          <p:cNvPr id="603" name="Google Shape;603;p2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2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5" name="Google Shape;605;p2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659000"/>
                <a:gridCol w="4767850"/>
                <a:gridCol w="36675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en SoftProg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Encabezado con botón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d-flex · justify-content-between · mb-3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Título «Productos» + «Nuevo producto»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Tablas y QuickGrid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table · table-striped · table-hover · table-sm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Listados de productos y empleados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Botones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btn btn-success · btn-primary · btn-danger · btn-sm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Nuevo, Editar, Eliminar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Campos de texto y número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form-label · form-control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y precio del producto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Listas desplegables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form-select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Unidad de medida, categoría, área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Casillas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form-check · form-check-input · form-check-label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 activo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Mensajes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alert alert-danger · alert-info · badge bg-success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de BLException, estado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Maestro-detalle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row · col-lg-7 · col-lg-5 · card · card-header · card-body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Órdenes de venta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Cómo colaboran las partes: primera solicitud a /productos</a:t>
            </a:r>
            <a:endParaRPr/>
          </a:p>
        </p:txBody>
      </p:sp>
      <p:sp>
        <p:nvSpPr>
          <p:cNvPr id="611" name="Google Shape;611;p2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2" name="Google Shape;612;p2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548640" y="141732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Globe_0A7BC2.png" id="615" name="Google Shape;6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2"/>
          <p:cNvSpPr txBox="1"/>
          <p:nvPr/>
        </p:nvSpPr>
        <p:spPr>
          <a:xfrm>
            <a:off x="685800" y="203911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685800" y="235915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Solicita GET https://localhost:7220/productos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3407968" y="141732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3545128" y="15544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gs_0A7BC2.png" id="620" name="Google Shape;6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9648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2"/>
          <p:cNvSpPr txBox="1"/>
          <p:nvPr/>
        </p:nvSpPr>
        <p:spPr>
          <a:xfrm>
            <a:off x="3545128" y="203911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Program.cs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3545128" y="235915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pipeline procesa la solicitud: HTTPS, archivos estáticos, antiforgery.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6267297" y="141732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6404457" y="15544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Code_0A7BC2.png" id="625" name="Google Shape;6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8977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2"/>
          <p:cNvSpPr txBox="1"/>
          <p:nvPr/>
        </p:nvSpPr>
        <p:spPr>
          <a:xfrm>
            <a:off x="6404457" y="203911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App.razor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6404457" y="235915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MapRazorComponents&lt;App&gt; genera el documento HTML raíz.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9126626" y="141732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9263786" y="15544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oute_0A7BC2.png" id="630" name="Google Shape;63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8306" y="1572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2"/>
          <p:cNvSpPr txBox="1"/>
          <p:nvPr/>
        </p:nvSpPr>
        <p:spPr>
          <a:xfrm>
            <a:off x="9263786" y="203911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Routes.razor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9263786" y="235915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Router encuentra el componente con @page "/productos".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9126626" y="361188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9263786" y="3749040"/>
            <a:ext cx="411480" cy="4114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WindowMaximize_0A7BC2.png" id="635" name="Google Shape;63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38306" y="3767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2"/>
          <p:cNvSpPr txBox="1"/>
          <p:nvPr/>
        </p:nvSpPr>
        <p:spPr>
          <a:xfrm>
            <a:off x="9263786" y="423367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MainLayout.razor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9263786" y="455371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RouteView coloca la página dentro de @Body.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6267297" y="361188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6404457" y="3749040"/>
            <a:ext cx="411480" cy="4114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able_0A7BC2.png" id="640" name="Google Shape;6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8977" y="3767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2"/>
          <p:cNvSpPr txBox="1"/>
          <p:nvPr/>
        </p:nvSpPr>
        <p:spPr>
          <a:xfrm>
            <a:off x="6404457" y="423367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6404457" y="455371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OnInitialized() obtiene los datos con ProductoBL.FindAll().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3407968" y="361188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3545128" y="374904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Alt_0A7BC2.png" id="645" name="Google Shape;64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19648" y="3767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2"/>
          <p:cNvSpPr txBox="1"/>
          <p:nvPr/>
        </p:nvSpPr>
        <p:spPr>
          <a:xfrm>
            <a:off x="3545128" y="423367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Respuesta HTML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3545128" y="455371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servidor envía el HTML completo (prerenderizado).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548640" y="3611880"/>
            <a:ext cx="251460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685800" y="374904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hangeAlt_0A7BC2.png" id="650" name="Google Shape;65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60320" y="3767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2"/>
          <p:cNvSpPr txBox="1"/>
          <p:nvPr/>
        </p:nvSpPr>
        <p:spPr>
          <a:xfrm>
            <a:off x="685800" y="423367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blazor.web.js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2"/>
          <p:cNvSpPr txBox="1"/>
          <p:nvPr/>
        </p:nvSpPr>
        <p:spPr>
          <a:xfrm>
            <a:off x="685800" y="4553712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Abre el circuito SignalR: la página se vuelve interactiva.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22"/>
          <p:cNvCxnSpPr/>
          <p:nvPr/>
        </p:nvCxnSpPr>
        <p:spPr>
          <a:xfrm>
            <a:off x="3090672" y="2263140"/>
            <a:ext cx="289864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4" name="Google Shape;654;p22"/>
          <p:cNvCxnSpPr/>
          <p:nvPr/>
        </p:nvCxnSpPr>
        <p:spPr>
          <a:xfrm>
            <a:off x="5950000" y="2263140"/>
            <a:ext cx="28986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5" name="Google Shape;655;p22"/>
          <p:cNvCxnSpPr/>
          <p:nvPr/>
        </p:nvCxnSpPr>
        <p:spPr>
          <a:xfrm>
            <a:off x="8809329" y="2263140"/>
            <a:ext cx="28986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6" name="Google Shape;656;p22"/>
          <p:cNvCxnSpPr/>
          <p:nvPr/>
        </p:nvCxnSpPr>
        <p:spPr>
          <a:xfrm>
            <a:off x="10383926" y="3136392"/>
            <a:ext cx="0" cy="448056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7" name="Google Shape;657;p22"/>
          <p:cNvCxnSpPr/>
          <p:nvPr/>
        </p:nvCxnSpPr>
        <p:spPr>
          <a:xfrm rot="10800000">
            <a:off x="8809329" y="4457700"/>
            <a:ext cx="28986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8" name="Google Shape;658;p22"/>
          <p:cNvCxnSpPr/>
          <p:nvPr/>
        </p:nvCxnSpPr>
        <p:spPr>
          <a:xfrm rot="10800000">
            <a:off x="5950000" y="4457700"/>
            <a:ext cx="28986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9" name="Google Shape;659;p22"/>
          <p:cNvCxnSpPr/>
          <p:nvPr/>
        </p:nvCxnSpPr>
        <p:spPr>
          <a:xfrm rot="10800000">
            <a:off x="3090671" y="4457700"/>
            <a:ext cx="28986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Cómo colaboran las partes: interacción del usuario</a:t>
            </a:r>
            <a:endParaRPr/>
          </a:p>
        </p:txBody>
      </p:sp>
      <p:sp>
        <p:nvSpPr>
          <p:cNvPr id="665" name="Google Shape;665;p2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6" name="Google Shape;666;p2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 · ESTRUCTURA DE UN PROYECTO BLAZOR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548640" y="1371600"/>
            <a:ext cx="11094415" cy="1463040"/>
          </a:xfrm>
          <a:prstGeom prst="roundRect">
            <a:avLst>
              <a:gd fmla="val 6250" name="adj"/>
            </a:avLst>
          </a:prstGeom>
          <a:solidFill>
            <a:srgbClr val="0A7BC2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548640" y="3108960"/>
            <a:ext cx="11094415" cy="1463040"/>
          </a:xfrm>
          <a:prstGeom prst="roundRect">
            <a:avLst>
              <a:gd fmla="val 6250" name="adj"/>
            </a:avLst>
          </a:prstGeom>
          <a:solidFill>
            <a:srgbClr val="042354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Globe_FFFFFF.png" id="670" name="Google Shape;6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0" y="172090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3"/>
          <p:cNvSpPr txBox="1"/>
          <p:nvPr/>
        </p:nvSpPr>
        <p:spPr>
          <a:xfrm>
            <a:off x="640080" y="21762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FFFFFF.png" id="673" name="Google Shape;6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40" y="345826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3"/>
          <p:cNvSpPr txBox="1"/>
          <p:nvPr/>
        </p:nvSpPr>
        <p:spPr>
          <a:xfrm>
            <a:off x="640080" y="39136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Servidor (circuito)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2103120" y="1627632"/>
            <a:ext cx="1828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Clic en «Eliminar» del producto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4343400" y="3364992"/>
            <a:ext cx="1828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 ejecuta EliminarProducto(3)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6537960" y="3364992"/>
            <a:ext cx="1828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ProductoBL.Delete(3) y FindAll()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8732520" y="3364992"/>
            <a:ext cx="1828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Nuevo render y cálculo de diferencias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9555480" y="1627632"/>
            <a:ext cx="20116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DOM se actualiza sin recargar la página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0" name="Google Shape;680;p23"/>
          <p:cNvCxnSpPr/>
          <p:nvPr/>
        </p:nvCxnSpPr>
        <p:spPr>
          <a:xfrm>
            <a:off x="3017520" y="2615184"/>
            <a:ext cx="1691640" cy="722376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23"/>
          <p:cNvSpPr txBox="1"/>
          <p:nvPr/>
        </p:nvSpPr>
        <p:spPr>
          <a:xfrm>
            <a:off x="1737360" y="27706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2 · evento por SignalR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p23"/>
          <p:cNvCxnSpPr/>
          <p:nvPr/>
        </p:nvCxnSpPr>
        <p:spPr>
          <a:xfrm>
            <a:off x="6199632" y="3845052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3" name="Google Shape;683;p23"/>
          <p:cNvCxnSpPr/>
          <p:nvPr/>
        </p:nvCxnSpPr>
        <p:spPr>
          <a:xfrm>
            <a:off x="8394192" y="3845052"/>
            <a:ext cx="310896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4" name="Google Shape;684;p23"/>
          <p:cNvCxnSpPr/>
          <p:nvPr/>
        </p:nvCxnSpPr>
        <p:spPr>
          <a:xfrm flipH="1" rot="10800000">
            <a:off x="9921240" y="2615184"/>
            <a:ext cx="640079" cy="722376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5" name="Google Shape;685;p23"/>
          <p:cNvSpPr txBox="1"/>
          <p:nvPr/>
        </p:nvSpPr>
        <p:spPr>
          <a:xfrm>
            <a:off x="7315200" y="27706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6 · solo los cambios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3"/>
          <p:cNvSpPr/>
          <p:nvPr/>
        </p:nvSpPr>
        <p:spPr>
          <a:xfrm>
            <a:off x="548640" y="4846320"/>
            <a:ext cx="11094415" cy="640080"/>
          </a:xfrm>
          <a:prstGeom prst="roundRect">
            <a:avLst>
              <a:gd fmla="val 14285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ightbulb_042354.png" id="687" name="Google Shape;6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9560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3"/>
          <p:cNvSpPr txBox="1"/>
          <p:nvPr/>
        </p:nvSpPr>
        <p:spPr>
          <a:xfrm>
            <a:off x="1325880" y="4846320"/>
            <a:ext cx="101800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 hay recarga completa: el estado de la página vive en el servidor y Blazor sincroniza el navegador.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Inyección de dependencias</a:t>
            </a:r>
            <a:endParaRPr sz="3200"/>
          </a:p>
        </p:txBody>
      </p:sp>
      <p:sp>
        <p:nvSpPr>
          <p:cNvPr id="694" name="Google Shape;694;p2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Los objetos de negocio de SoftProg disponibles para las páginas</a:t>
            </a:r>
            <a:endParaRPr/>
          </a:p>
        </p:txBody>
      </p:sp>
      <p:sp>
        <p:nvSpPr>
          <p:cNvPr id="695" name="Google Shape;695;p24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Inyección de dependencias: de dónde obtiene los datos una página</a:t>
            </a:r>
            <a:endParaRPr/>
          </a:p>
        </p:txBody>
      </p:sp>
      <p:sp>
        <p:nvSpPr>
          <p:cNvPr id="701" name="Google Shape;701;p2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2" name="Google Shape;702;p2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3 · INYECCIÓN DE DEPENDENCIAS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 txBox="1"/>
          <p:nvPr/>
        </p:nvSpPr>
        <p:spPr>
          <a:xfrm>
            <a:off x="548640" y="1371600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inyección de dependencias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(DI) es un patrón en el que un objeto declara qué necesita (una interfaz) y un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contenedor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le entrega la implementación.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548640" y="2331720"/>
            <a:ext cx="576072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548640" y="2331720"/>
            <a:ext cx="57607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559612" y="2624327"/>
            <a:ext cx="57387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5"/>
          <p:cNvSpPr txBox="1"/>
          <p:nvPr/>
        </p:nvSpPr>
        <p:spPr>
          <a:xfrm>
            <a:off x="685800" y="23500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SoftProg.App/Program.cs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5"/>
          <p:cNvSpPr txBox="1"/>
          <p:nvPr/>
        </p:nvSpPr>
        <p:spPr>
          <a:xfrm>
            <a:off x="694944" y="2734056"/>
            <a:ext cx="546811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10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SoftProg.App (consola): el programa crea sus dependencias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IProductoBL ProductoBL =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ProductoBLImpl();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IClienteBL ClienteBL =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ClienteBLImpl();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5"/>
          <p:cNvSpPr txBox="1"/>
          <p:nvPr/>
        </p:nvSpPr>
        <p:spPr>
          <a:xfrm>
            <a:off x="548640" y="3703320"/>
            <a:ext cx="5760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una aplicación web, cada página tendría que decidir qué implementación usar y cuándo crearla.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DI, la página solo conoce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IProductoBL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; el contenedor decide que la implementación es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ProductoBLImpl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Por eso la DI se configura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 construir cualquier página: de ahí vienen los datos.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6949440" y="1371600"/>
            <a:ext cx="4690872" cy="2560320"/>
          </a:xfrm>
          <a:prstGeom prst="roundRect">
            <a:avLst>
              <a:gd fmla="val 3571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7132320" y="1508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Plug_FFFFFF.png" id="712" name="Google Shape;7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2048" y="1618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5"/>
          <p:cNvSpPr txBox="1"/>
          <p:nvPr/>
        </p:nvSpPr>
        <p:spPr>
          <a:xfrm>
            <a:off x="7726679" y="1508760"/>
            <a:ext cx="3776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Contenedor de servicios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7132320" y="2148840"/>
            <a:ext cx="1874519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IProductoBL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p25"/>
          <p:cNvCxnSpPr/>
          <p:nvPr/>
        </p:nvCxnSpPr>
        <p:spPr>
          <a:xfrm>
            <a:off x="9052559" y="2340864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6" name="Google Shape;716;p25"/>
          <p:cNvSpPr/>
          <p:nvPr/>
        </p:nvSpPr>
        <p:spPr>
          <a:xfrm>
            <a:off x="9390888" y="2148840"/>
            <a:ext cx="2066543" cy="38404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ProductoBLImpl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7132320" y="2697480"/>
            <a:ext cx="1874519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IClienteBL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25"/>
          <p:cNvCxnSpPr/>
          <p:nvPr/>
        </p:nvCxnSpPr>
        <p:spPr>
          <a:xfrm>
            <a:off x="9052559" y="2889504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9" name="Google Shape;719;p25"/>
          <p:cNvSpPr/>
          <p:nvPr/>
        </p:nvSpPr>
        <p:spPr>
          <a:xfrm>
            <a:off x="9390888" y="2697480"/>
            <a:ext cx="2066543" cy="38404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ClienteBLImpl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7132320" y="3246120"/>
            <a:ext cx="1874519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IEmpleadoBL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25"/>
          <p:cNvCxnSpPr/>
          <p:nvPr/>
        </p:nvCxnSpPr>
        <p:spPr>
          <a:xfrm>
            <a:off x="9052559" y="3438144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2" name="Google Shape;722;p25"/>
          <p:cNvSpPr/>
          <p:nvPr/>
        </p:nvSpPr>
        <p:spPr>
          <a:xfrm>
            <a:off x="9390888" y="3246120"/>
            <a:ext cx="2066543" cy="38404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EmpleadoBLImpl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7498079" y="4526280"/>
            <a:ext cx="3566160" cy="777240"/>
          </a:xfrm>
          <a:prstGeom prst="roundRect">
            <a:avLst>
              <a:gd fmla="val 9411" name="adj"/>
            </a:avLst>
          </a:prstGeom>
          <a:solidFill>
            <a:srgbClr val="E7EDED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@inject IProductoBL ProductoBL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25"/>
          <p:cNvCxnSpPr/>
          <p:nvPr/>
        </p:nvCxnSpPr>
        <p:spPr>
          <a:xfrm rot="10800000">
            <a:off x="8229600" y="3959352"/>
            <a:ext cx="0" cy="539496"/>
          </a:xfrm>
          <a:prstGeom prst="straightConnector1">
            <a:avLst/>
          </a:prstGeom>
          <a:noFill/>
          <a:ln cap="flat" cmpd="sng" w="3175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5" name="Google Shape;725;p25"/>
          <p:cNvCxnSpPr/>
          <p:nvPr/>
        </p:nvCxnSpPr>
        <p:spPr>
          <a:xfrm>
            <a:off x="10332720" y="3959352"/>
            <a:ext cx="0" cy="539496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6" name="Google Shape;726;p25"/>
          <p:cNvSpPr txBox="1"/>
          <p:nvPr/>
        </p:nvSpPr>
        <p:spPr>
          <a:xfrm>
            <a:off x="6629400" y="4069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· solicita IProductoBL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5"/>
          <p:cNvSpPr txBox="1"/>
          <p:nvPr/>
        </p:nvSpPr>
        <p:spPr>
          <a:xfrm>
            <a:off x="10424159" y="4069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2 · entrega ProductoBLImpl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Registro de los objetos de negocio en Program.cs</a:t>
            </a:r>
            <a:endParaRPr/>
          </a:p>
        </p:txBody>
      </p:sp>
      <p:sp>
        <p:nvSpPr>
          <p:cNvPr id="733" name="Google Shape;733;p2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4" name="Google Shape;734;p2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3 · INYECCIÓN DE DEPENDENCIAS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548640" y="1371600"/>
            <a:ext cx="7498079" cy="2057400"/>
          </a:xfrm>
          <a:prstGeom prst="roundRect">
            <a:avLst>
              <a:gd fmla="val 355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548640" y="1371600"/>
            <a:ext cx="7498079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6"/>
          <p:cNvSpPr/>
          <p:nvPr/>
        </p:nvSpPr>
        <p:spPr>
          <a:xfrm>
            <a:off x="559612" y="1664208"/>
            <a:ext cx="74761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6"/>
          <p:cNvSpPr txBox="1"/>
          <p:nvPr/>
        </p:nvSpPr>
        <p:spPr>
          <a:xfrm>
            <a:off x="685800" y="1389888"/>
            <a:ext cx="72237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SoftProg.Web/Program.cs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6"/>
          <p:cNvSpPr txBox="1"/>
          <p:nvPr/>
        </p:nvSpPr>
        <p:spPr>
          <a:xfrm>
            <a:off x="694944" y="1773936"/>
            <a:ext cx="7205471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builder.Services.AddScoped&lt;IProductoBL, ProductoBLImpl&gt;();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builder.Services.AddScoped&lt;IAreaBL, AreaBLImpl&gt;();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builder.Services.AddScoped&lt;IClienteBL, ClienteBLImpl&gt;();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builder.Services.AddScoped&lt;IEmpleadoBL, EmpleadoBLImpl&gt;();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builder.Services.AddScoped&lt;ICuentaUsuarioBL, CuentaUsuarioBLImpl&gt;();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builder.Services.AddScoped&lt;IOrdenVentaBL, OrdenVentaBLImpl&gt;();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8275320" y="1371600"/>
            <a:ext cx="3364992" cy="2057400"/>
          </a:xfrm>
          <a:prstGeom prst="roundRect">
            <a:avLst>
              <a:gd fmla="val 4444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6"/>
          <p:cNvSpPr txBox="1"/>
          <p:nvPr/>
        </p:nvSpPr>
        <p:spPr>
          <a:xfrm>
            <a:off x="8458200" y="1463040"/>
            <a:ext cx="3017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Forma general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AddScoped&lt;Interfaz, Implementación&gt;()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Cuando un componente pida la interfaz, el contenedor crea (o reutiliza) un objeto de la implementación.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548640" y="3611880"/>
            <a:ext cx="3557016" cy="1901952"/>
          </a:xfrm>
          <a:prstGeom prst="roundRect">
            <a:avLst>
              <a:gd fmla="val 4807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731520" y="3767328"/>
            <a:ext cx="1737360" cy="347472"/>
          </a:xfrm>
          <a:prstGeom prst="roundRect">
            <a:avLst>
              <a:gd fmla="val 50000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AddSingleton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6"/>
          <p:cNvSpPr txBox="1"/>
          <p:nvPr/>
        </p:nvSpPr>
        <p:spPr>
          <a:xfrm>
            <a:off x="731520" y="42062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sola instancia para toda la aplicación y para todos los usuarios.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6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Uso típico: Configuración compartida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4315968" y="3611880"/>
            <a:ext cx="3557016" cy="1901952"/>
          </a:xfrm>
          <a:prstGeom prst="roundRect">
            <a:avLst>
              <a:gd fmla="val 4807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4498848" y="3767328"/>
            <a:ext cx="1737360" cy="347472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AddScoped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6"/>
          <p:cNvSpPr txBox="1"/>
          <p:nvPr/>
        </p:nvSpPr>
        <p:spPr>
          <a:xfrm>
            <a:off x="4498848" y="42062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instancia por circuito: en Blazor Server, por cada pestaña conectada.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 txBox="1"/>
          <p:nvPr/>
        </p:nvSpPr>
        <p:spPr>
          <a:xfrm>
            <a:off x="4498848" y="5029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Uso típico: Objetos BL de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8083296" y="3611880"/>
            <a:ext cx="3557016" cy="1901952"/>
          </a:xfrm>
          <a:prstGeom prst="roundRect">
            <a:avLst>
              <a:gd fmla="val 4807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8266175" y="3767328"/>
            <a:ext cx="1737360" cy="347472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AddTransient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6"/>
          <p:cNvSpPr txBox="1"/>
          <p:nvPr/>
        </p:nvSpPr>
        <p:spPr>
          <a:xfrm>
            <a:off x="8266175" y="42062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instancia nueva cada vez que se solicita el servicio.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 txBox="1"/>
          <p:nvPr/>
        </p:nvSpPr>
        <p:spPr>
          <a:xfrm>
            <a:off x="8266175" y="5029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Uso típico: Servicios ligeros sin estado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Consumir objetos BL en un componente</a:t>
            </a:r>
            <a:endParaRPr/>
          </a:p>
        </p:txBody>
      </p:sp>
      <p:sp>
        <p:nvSpPr>
          <p:cNvPr id="759" name="Google Shape;759;p2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0" name="Google Shape;760;p2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3 · INYECCIÓN DE DEPENDENCIAS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7"/>
          <p:cNvSpPr/>
          <p:nvPr/>
        </p:nvSpPr>
        <p:spPr>
          <a:xfrm>
            <a:off x="548640" y="1371600"/>
            <a:ext cx="52578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7"/>
          <p:cNvSpPr/>
          <p:nvPr/>
        </p:nvSpPr>
        <p:spPr>
          <a:xfrm>
            <a:off x="548640" y="1371600"/>
            <a:ext cx="52578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7"/>
          <p:cNvSpPr/>
          <p:nvPr/>
        </p:nvSpPr>
        <p:spPr>
          <a:xfrm>
            <a:off x="559612" y="1664208"/>
            <a:ext cx="52358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7"/>
          <p:cNvSpPr txBox="1"/>
          <p:nvPr/>
        </p:nvSpPr>
        <p:spPr>
          <a:xfrm>
            <a:off x="685800" y="13898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el archivo 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7"/>
          <p:cNvSpPr txBox="1"/>
          <p:nvPr/>
        </p:nvSpPr>
        <p:spPr>
          <a:xfrm>
            <a:off x="694944" y="1773936"/>
            <a:ext cx="4965192" cy="466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IProductoBL ProductoBL;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548640" y="2468880"/>
            <a:ext cx="5257800" cy="10515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548640" y="2468880"/>
            <a:ext cx="52578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559612" y="2761488"/>
            <a:ext cx="52358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7"/>
          <p:cNvSpPr txBox="1"/>
          <p:nvPr/>
        </p:nvSpPr>
        <p:spPr>
          <a:xfrm>
            <a:off x="685800" y="248716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@code o en un code-behind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7"/>
          <p:cNvSpPr txBox="1"/>
          <p:nvPr/>
        </p:nvSpPr>
        <p:spPr>
          <a:xfrm>
            <a:off x="694944" y="2871216"/>
            <a:ext cx="4965192" cy="603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[Inject]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IProductoBL ProductoBL {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!;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7"/>
          <p:cNvSpPr txBox="1"/>
          <p:nvPr/>
        </p:nvSpPr>
        <p:spPr>
          <a:xfrm>
            <a:off x="548640" y="3657600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Ambas formas son equivalentes. En el curso se usa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en el marcado.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6080760" y="1371600"/>
            <a:ext cx="5559552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6080760" y="1371600"/>
            <a:ext cx="555955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6091732" y="1664208"/>
            <a:ext cx="553760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7"/>
          <p:cNvSpPr txBox="1"/>
          <p:nvPr/>
        </p:nvSpPr>
        <p:spPr>
          <a:xfrm>
            <a:off x="6217920" y="1389888"/>
            <a:ext cx="5285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Varios servicios en una página (GestionarEmpleadosPage)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7"/>
          <p:cNvSpPr txBox="1"/>
          <p:nvPr/>
        </p:nvSpPr>
        <p:spPr>
          <a:xfrm>
            <a:off x="6227064" y="1773936"/>
            <a:ext cx="52669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IEmpleadoBL EmpleadoBL;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IAreaBL AreaBL;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ICuentaUsuarioBL CuentaUsuarioBL;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7"/>
          <p:cNvSpPr txBox="1"/>
          <p:nvPr/>
        </p:nvSpPr>
        <p:spPr>
          <a:xfrm>
            <a:off x="6080760" y="3017520"/>
            <a:ext cx="55595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componente puede inyectar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todos los servicios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que necesite.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NavigationManager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IJSRuntime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también se inyectan: los registra Blazor.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7"/>
          <p:cNvSpPr/>
          <p:nvPr/>
        </p:nvSpPr>
        <p:spPr>
          <a:xfrm>
            <a:off x="548640" y="4526280"/>
            <a:ext cx="2377440" cy="566928"/>
          </a:xfrm>
          <a:prstGeom prst="roundRect">
            <a:avLst>
              <a:gd fmla="val 12903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27"/>
          <p:cNvCxnSpPr/>
          <p:nvPr/>
        </p:nvCxnSpPr>
        <p:spPr>
          <a:xfrm>
            <a:off x="2962656" y="4809744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2" name="Google Shape;782;p27"/>
          <p:cNvSpPr/>
          <p:nvPr/>
        </p:nvSpPr>
        <p:spPr>
          <a:xfrm>
            <a:off x="3163824" y="4526280"/>
            <a:ext cx="2971800" cy="566928"/>
          </a:xfrm>
          <a:prstGeom prst="roundRect">
            <a:avLst>
              <a:gd fmla="val 12903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IProductoBL · ProductoBLImpl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27"/>
          <p:cNvCxnSpPr/>
          <p:nvPr/>
        </p:nvCxnSpPr>
        <p:spPr>
          <a:xfrm>
            <a:off x="6172200" y="4809744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4" name="Google Shape;784;p27"/>
          <p:cNvSpPr/>
          <p:nvPr/>
        </p:nvSpPr>
        <p:spPr>
          <a:xfrm>
            <a:off x="6373368" y="4526280"/>
            <a:ext cx="2148840" cy="566928"/>
          </a:xfrm>
          <a:prstGeom prst="roundRect">
            <a:avLst>
              <a:gd fmla="val 12903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ProductoDAOImpl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27"/>
          <p:cNvCxnSpPr/>
          <p:nvPr/>
        </p:nvCxnSpPr>
        <p:spPr>
          <a:xfrm>
            <a:off x="8558784" y="4809744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6" name="Google Shape;786;p27"/>
          <p:cNvSpPr/>
          <p:nvPr/>
        </p:nvSpPr>
        <p:spPr>
          <a:xfrm>
            <a:off x="8759952" y="4526280"/>
            <a:ext cx="1947672" cy="566928"/>
          </a:xfrm>
          <a:prstGeom prst="roundRect">
            <a:avLst>
              <a:gd fmla="val 12903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7"/>
          <p:cNvSpPr txBox="1"/>
          <p:nvPr/>
        </p:nvSpPr>
        <p:spPr>
          <a:xfrm>
            <a:off x="548640" y="5193792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El contenedor asigna ProductoBL antes de que se ejecute cualquier método del ciclo de vida del componente.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Construcción de un listado paso a paso</a:t>
            </a:r>
            <a:endParaRPr sz="3200"/>
          </a:p>
        </p:txBody>
      </p:sp>
      <p:sp>
        <p:nvSpPr>
          <p:cNvPr id="793" name="Google Shape;793;p2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Listado de productos: rutas, datos, Razor, enlaces, eventos y navegación</a:t>
            </a:r>
            <a:endParaRPr/>
          </a:p>
        </p:txBody>
      </p:sp>
      <p:sp>
        <p:nvSpPr>
          <p:cNvPr id="794" name="Google Shape;794;p28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Pasos para construir el listado de productos</a:t>
            </a:r>
            <a:endParaRPr/>
          </a:p>
        </p:txBody>
      </p:sp>
      <p:sp>
        <p:nvSpPr>
          <p:cNvPr id="800" name="Google Shape;800;p2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1" name="Google Shape;801;p2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9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9"/>
          <p:cNvSpPr txBox="1"/>
          <p:nvPr/>
        </p:nvSpPr>
        <p:spPr>
          <a:xfrm>
            <a:off x="1097280" y="134416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Crear el componente y su ruta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9"/>
          <p:cNvSpPr txBox="1"/>
          <p:nvPr/>
        </p:nvSpPr>
        <p:spPr>
          <a:xfrm>
            <a:off x="4114800" y="134416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 · Routing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29"/>
          <p:cNvCxnSpPr/>
          <p:nvPr/>
        </p:nvCxnSpPr>
        <p:spPr>
          <a:xfrm>
            <a:off x="740664" y="1764792"/>
            <a:ext cx="0" cy="109727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29"/>
          <p:cNvSpPr/>
          <p:nvPr/>
        </p:nvSpPr>
        <p:spPr>
          <a:xfrm>
            <a:off x="548640" y="188366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9"/>
          <p:cNvSpPr txBox="1"/>
          <p:nvPr/>
        </p:nvSpPr>
        <p:spPr>
          <a:xfrm>
            <a:off x="1097280" y="185623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Obtener los 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9"/>
          <p:cNvSpPr txBox="1"/>
          <p:nvPr/>
        </p:nvSpPr>
        <p:spPr>
          <a:xfrm>
            <a:off x="4114800" y="185623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@inject · OnInitialized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29"/>
          <p:cNvCxnSpPr/>
          <p:nvPr/>
        </p:nvCxnSpPr>
        <p:spPr>
          <a:xfrm>
            <a:off x="740664" y="2276856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29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1097280" y="2368296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Mostrar los 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9"/>
          <p:cNvSpPr txBox="1"/>
          <p:nvPr/>
        </p:nvSpPr>
        <p:spPr>
          <a:xfrm>
            <a:off x="4114800" y="236829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@foreach · expresiones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29"/>
          <p:cNvCxnSpPr/>
          <p:nvPr/>
        </p:nvCxnSpPr>
        <p:spPr>
          <a:xfrm>
            <a:off x="740664" y="2788920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p29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9"/>
          <p:cNvSpPr txBox="1"/>
          <p:nvPr/>
        </p:nvSpPr>
        <p:spPr>
          <a:xfrm>
            <a:off x="1097280" y="2880360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Enlazar atributos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9"/>
          <p:cNvSpPr txBox="1"/>
          <p:nvPr/>
        </p:nvSpPr>
        <p:spPr>
          <a:xfrm>
            <a:off x="4114800" y="288036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class · disabled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29"/>
          <p:cNvCxnSpPr/>
          <p:nvPr/>
        </p:nvCxnSpPr>
        <p:spPr>
          <a:xfrm>
            <a:off x="740664" y="3300984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8" name="Google Shape;818;p29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9"/>
          <p:cNvSpPr txBox="1"/>
          <p:nvPr/>
        </p:nvSpPr>
        <p:spPr>
          <a:xfrm>
            <a:off x="1097280" y="3392424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Responder a eventos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9"/>
          <p:cNvSpPr txBox="1"/>
          <p:nvPr/>
        </p:nvSpPr>
        <p:spPr>
          <a:xfrm>
            <a:off x="4114800" y="339242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@onclick · lambdas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1" name="Google Shape;821;p29"/>
          <p:cNvCxnSpPr/>
          <p:nvPr/>
        </p:nvCxnSpPr>
        <p:spPr>
          <a:xfrm>
            <a:off x="740664" y="3813048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29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9"/>
          <p:cNvSpPr txBox="1"/>
          <p:nvPr/>
        </p:nvSpPr>
        <p:spPr>
          <a:xfrm>
            <a:off x="1097280" y="390448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Navegar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9"/>
          <p:cNvSpPr txBox="1"/>
          <p:nvPr/>
        </p:nvSpPr>
        <p:spPr>
          <a:xfrm>
            <a:off x="4114800" y="390448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NavigationManager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29"/>
          <p:cNvCxnSpPr/>
          <p:nvPr/>
        </p:nvCxnSpPr>
        <p:spPr>
          <a:xfrm>
            <a:off x="740664" y="4325112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29"/>
          <p:cNvSpPr/>
          <p:nvPr/>
        </p:nvSpPr>
        <p:spPr>
          <a:xfrm>
            <a:off x="548640" y="444398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9"/>
          <p:cNvSpPr txBox="1"/>
          <p:nvPr/>
        </p:nvSpPr>
        <p:spPr>
          <a:xfrm>
            <a:off x="1097280" y="441655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Filtrar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9"/>
          <p:cNvSpPr txBox="1"/>
          <p:nvPr/>
        </p:nvSpPr>
        <p:spPr>
          <a:xfrm>
            <a:off x="4114800" y="441655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 · FilterByName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29"/>
          <p:cNvCxnSpPr/>
          <p:nvPr/>
        </p:nvCxnSpPr>
        <p:spPr>
          <a:xfrm>
            <a:off x="740664" y="4837176"/>
            <a:ext cx="0" cy="109728"/>
          </a:xfrm>
          <a:prstGeom prst="straightConnector1">
            <a:avLst/>
          </a:prstGeom>
          <a:noFill/>
          <a:ln cap="flat" cmpd="sng" w="254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29"/>
          <p:cNvSpPr/>
          <p:nvPr/>
        </p:nvSpPr>
        <p:spPr>
          <a:xfrm>
            <a:off x="548640" y="495604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9"/>
          <p:cNvSpPr txBox="1"/>
          <p:nvPr/>
        </p:nvSpPr>
        <p:spPr>
          <a:xfrm>
            <a:off x="1097280" y="4928616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Reemplazar la tabla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9"/>
          <p:cNvSpPr txBox="1"/>
          <p:nvPr/>
        </p:nvSpPr>
        <p:spPr>
          <a:xfrm>
            <a:off x="4114800" y="492861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QuickGrid (sección 5)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9"/>
          <p:cNvSpPr/>
          <p:nvPr/>
        </p:nvSpPr>
        <p:spPr>
          <a:xfrm>
            <a:off x="6537960" y="1371600"/>
            <a:ext cx="5102352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9"/>
          <p:cNvSpPr/>
          <p:nvPr/>
        </p:nvSpPr>
        <p:spPr>
          <a:xfrm>
            <a:off x="6537960" y="1371600"/>
            <a:ext cx="510235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6547104" y="1645920"/>
            <a:ext cx="508406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666597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682142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697687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7178040" y="1444752"/>
            <a:ext cx="432511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6537960" y="1755648"/>
            <a:ext cx="5102352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9"/>
          <p:cNvSpPr txBox="1"/>
          <p:nvPr/>
        </p:nvSpPr>
        <p:spPr>
          <a:xfrm>
            <a:off x="6675120" y="175564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 txBox="1"/>
          <p:nvPr/>
        </p:nvSpPr>
        <p:spPr>
          <a:xfrm>
            <a:off x="7772400" y="1755648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 txBox="1"/>
          <p:nvPr/>
        </p:nvSpPr>
        <p:spPr>
          <a:xfrm>
            <a:off x="8782812" y="1755648"/>
            <a:ext cx="9235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9"/>
          <p:cNvSpPr txBox="1"/>
          <p:nvPr/>
        </p:nvSpPr>
        <p:spPr>
          <a:xfrm>
            <a:off x="9706356" y="1755648"/>
            <a:ext cx="10104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Empleados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 txBox="1"/>
          <p:nvPr/>
        </p:nvSpPr>
        <p:spPr>
          <a:xfrm>
            <a:off x="6766560" y="23042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10177272" y="2322576"/>
            <a:ext cx="1234440" cy="310896"/>
          </a:xfrm>
          <a:prstGeom prst="roundRect">
            <a:avLst>
              <a:gd fmla="val 14705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Nuevo producto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6766560" y="2761488"/>
            <a:ext cx="4645152" cy="292608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Buscar producto...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6766560" y="3172968"/>
            <a:ext cx="4160520" cy="292608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6821424" y="3172968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 ▲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 txBox="1"/>
          <p:nvPr/>
        </p:nvSpPr>
        <p:spPr>
          <a:xfrm>
            <a:off x="8558784" y="3172968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9"/>
          <p:cNvSpPr txBox="1"/>
          <p:nvPr/>
        </p:nvSpPr>
        <p:spPr>
          <a:xfrm>
            <a:off x="9198864" y="3172968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 txBox="1"/>
          <p:nvPr/>
        </p:nvSpPr>
        <p:spPr>
          <a:xfrm>
            <a:off x="9747504" y="3172968"/>
            <a:ext cx="11612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9"/>
          <p:cNvSpPr/>
          <p:nvPr/>
        </p:nvSpPr>
        <p:spPr>
          <a:xfrm>
            <a:off x="6766560" y="3465575"/>
            <a:ext cx="41605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9"/>
          <p:cNvSpPr txBox="1"/>
          <p:nvPr/>
        </p:nvSpPr>
        <p:spPr>
          <a:xfrm>
            <a:off x="6821424" y="3465575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Archivador Oficio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9"/>
          <p:cNvSpPr txBox="1"/>
          <p:nvPr/>
        </p:nvSpPr>
        <p:spPr>
          <a:xfrm>
            <a:off x="8558784" y="3465575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18.00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9"/>
          <p:cNvSpPr/>
          <p:nvPr/>
        </p:nvSpPr>
        <p:spPr>
          <a:xfrm>
            <a:off x="9253728" y="3538727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9710928" y="3511295"/>
            <a:ext cx="50292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9"/>
          <p:cNvSpPr/>
          <p:nvPr/>
        </p:nvSpPr>
        <p:spPr>
          <a:xfrm>
            <a:off x="10259567" y="3511295"/>
            <a:ext cx="59436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9"/>
          <p:cNvSpPr/>
          <p:nvPr/>
        </p:nvSpPr>
        <p:spPr>
          <a:xfrm>
            <a:off x="6766560" y="3758183"/>
            <a:ext cx="4160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9"/>
          <p:cNvSpPr txBox="1"/>
          <p:nvPr/>
        </p:nvSpPr>
        <p:spPr>
          <a:xfrm>
            <a:off x="6821424" y="3758183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Calculadora Científica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9"/>
          <p:cNvSpPr txBox="1"/>
          <p:nvPr/>
        </p:nvSpPr>
        <p:spPr>
          <a:xfrm>
            <a:off x="8558784" y="3758183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88.00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9"/>
          <p:cNvSpPr/>
          <p:nvPr/>
        </p:nvSpPr>
        <p:spPr>
          <a:xfrm>
            <a:off x="9253728" y="3831335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9"/>
          <p:cNvSpPr/>
          <p:nvPr/>
        </p:nvSpPr>
        <p:spPr>
          <a:xfrm>
            <a:off x="9710928" y="3803903"/>
            <a:ext cx="50292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10259567" y="3803903"/>
            <a:ext cx="59436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9"/>
          <p:cNvSpPr/>
          <p:nvPr/>
        </p:nvSpPr>
        <p:spPr>
          <a:xfrm>
            <a:off x="6766560" y="4050791"/>
            <a:ext cx="41605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9"/>
          <p:cNvSpPr txBox="1"/>
          <p:nvPr/>
        </p:nvSpPr>
        <p:spPr>
          <a:xfrm>
            <a:off x="6821424" y="4050791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9"/>
          <p:cNvSpPr txBox="1"/>
          <p:nvPr/>
        </p:nvSpPr>
        <p:spPr>
          <a:xfrm>
            <a:off x="8558784" y="4050791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9"/>
          <p:cNvSpPr/>
          <p:nvPr/>
        </p:nvSpPr>
        <p:spPr>
          <a:xfrm>
            <a:off x="9253728" y="4123944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9710928" y="4096511"/>
            <a:ext cx="50292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10259567" y="4096511"/>
            <a:ext cx="59436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9"/>
          <p:cNvSpPr/>
          <p:nvPr/>
        </p:nvSpPr>
        <p:spPr>
          <a:xfrm>
            <a:off x="6766560" y="4343400"/>
            <a:ext cx="4160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9"/>
          <p:cNvSpPr txBox="1"/>
          <p:nvPr/>
        </p:nvSpPr>
        <p:spPr>
          <a:xfrm>
            <a:off x="6821424" y="4343400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Impresora Multifuncional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9"/>
          <p:cNvSpPr txBox="1"/>
          <p:nvPr/>
        </p:nvSpPr>
        <p:spPr>
          <a:xfrm>
            <a:off x="8558784" y="434340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249.90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9253728" y="4416552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9710928" y="4389120"/>
            <a:ext cx="50292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9"/>
          <p:cNvSpPr/>
          <p:nvPr/>
        </p:nvSpPr>
        <p:spPr>
          <a:xfrm>
            <a:off x="10259567" y="4389120"/>
            <a:ext cx="59436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9"/>
          <p:cNvSpPr/>
          <p:nvPr/>
        </p:nvSpPr>
        <p:spPr>
          <a:xfrm>
            <a:off x="6766560" y="4636008"/>
            <a:ext cx="41605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6821424" y="4636008"/>
            <a:ext cx="166420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Lápiz HB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9"/>
          <p:cNvSpPr txBox="1"/>
          <p:nvPr/>
        </p:nvSpPr>
        <p:spPr>
          <a:xfrm>
            <a:off x="8558784" y="4636008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9253728" y="4709160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9"/>
          <p:cNvSpPr/>
          <p:nvPr/>
        </p:nvSpPr>
        <p:spPr>
          <a:xfrm>
            <a:off x="9710928" y="4681728"/>
            <a:ext cx="50292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10259567" y="4681728"/>
            <a:ext cx="59436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29"/>
          <p:cNvCxnSpPr/>
          <p:nvPr/>
        </p:nvCxnSpPr>
        <p:spPr>
          <a:xfrm>
            <a:off x="6766560" y="4928616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4" name="Google Shape;884;p29"/>
          <p:cNvSpPr txBox="1"/>
          <p:nvPr/>
        </p:nvSpPr>
        <p:spPr>
          <a:xfrm>
            <a:off x="6766560" y="50017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‹  Página 1 de 2  ›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9"/>
          <p:cNvSpPr txBox="1"/>
          <p:nvPr/>
        </p:nvSpPr>
        <p:spPr>
          <a:xfrm>
            <a:off x="6766560" y="518464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Resultado al terminar las secciones 4 y 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1: crear el componente y asignar su ruta</a:t>
            </a:r>
            <a:endParaRPr/>
          </a:p>
        </p:txBody>
      </p:sp>
      <p:sp>
        <p:nvSpPr>
          <p:cNvPr id="891" name="Google Shape;891;p3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2" name="Google Shape;892;p3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0"/>
          <p:cNvSpPr txBox="1"/>
          <p:nvPr/>
        </p:nvSpPr>
        <p:spPr>
          <a:xfrm>
            <a:off x="1097280" y="1307592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Rider: clic derecho en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Components/Pages/Almacen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Razor Component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→ ListarProductosPage.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0"/>
          <p:cNvSpPr txBox="1"/>
          <p:nvPr/>
        </p:nvSpPr>
        <p:spPr>
          <a:xfrm>
            <a:off x="1097280" y="1965960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 "/productos"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en la primera línea: el componente se convierte en página.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0"/>
          <p:cNvSpPr txBox="1"/>
          <p:nvPr/>
        </p:nvSpPr>
        <p:spPr>
          <a:xfrm>
            <a:off x="1097280" y="2624328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Ejecutar y abrir https://localhost:7220/productos.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548640" y="3429000"/>
            <a:ext cx="566928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0"/>
          <p:cNvSpPr/>
          <p:nvPr/>
        </p:nvSpPr>
        <p:spPr>
          <a:xfrm>
            <a:off x="548640" y="3429000"/>
            <a:ext cx="56692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0"/>
          <p:cNvSpPr/>
          <p:nvPr/>
        </p:nvSpPr>
        <p:spPr>
          <a:xfrm>
            <a:off x="559612" y="3721608"/>
            <a:ext cx="56473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0"/>
          <p:cNvSpPr txBox="1"/>
          <p:nvPr/>
        </p:nvSpPr>
        <p:spPr>
          <a:xfrm>
            <a:off x="685800" y="3447288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Components/Pages/Almacen/ListarProductosPage.razor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0"/>
          <p:cNvSpPr txBox="1"/>
          <p:nvPr/>
        </p:nvSpPr>
        <p:spPr>
          <a:xfrm>
            <a:off x="694944" y="3831335"/>
            <a:ext cx="5376672" cy="1655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&lt;PageTitle&gt;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&lt;/PageTitle&gt;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0"/>
          <p:cNvSpPr txBox="1"/>
          <p:nvPr/>
        </p:nvSpPr>
        <p:spPr>
          <a:xfrm>
            <a:off x="6583680" y="1097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Anatomía de un componente 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0"/>
          <p:cNvSpPr/>
          <p:nvPr/>
        </p:nvSpPr>
        <p:spPr>
          <a:xfrm>
            <a:off x="6583680" y="1417320"/>
            <a:ext cx="5056632" cy="109728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6748272" y="1600200"/>
            <a:ext cx="256032" cy="256032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0"/>
          <p:cNvSpPr txBox="1"/>
          <p:nvPr/>
        </p:nvSpPr>
        <p:spPr>
          <a:xfrm>
            <a:off x="7132320" y="152704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Directivas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0"/>
          <p:cNvSpPr txBox="1"/>
          <p:nvPr/>
        </p:nvSpPr>
        <p:spPr>
          <a:xfrm>
            <a:off x="6748272" y="19202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Configuran el componente: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 Van al inicio del archivo.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6583680" y="2651760"/>
            <a:ext cx="5056632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6748272" y="2834640"/>
            <a:ext cx="256032" cy="256032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0"/>
          <p:cNvSpPr txBox="1"/>
          <p:nvPr/>
        </p:nvSpPr>
        <p:spPr>
          <a:xfrm>
            <a:off x="7132320" y="276148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Marcado: HTML + 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0"/>
          <p:cNvSpPr txBox="1"/>
          <p:nvPr/>
        </p:nvSpPr>
        <p:spPr>
          <a:xfrm>
            <a:off x="6748272" y="315468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HTML con clases Bootstrap y expresiones Razor. Define qué se muestra.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0"/>
          <p:cNvSpPr/>
          <p:nvPr/>
        </p:nvSpPr>
        <p:spPr>
          <a:xfrm>
            <a:off x="6583680" y="4114800"/>
            <a:ext cx="5056632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6748272" y="4297680"/>
            <a:ext cx="256032" cy="25603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0"/>
          <p:cNvSpPr txBox="1"/>
          <p:nvPr/>
        </p:nvSpPr>
        <p:spPr>
          <a:xfrm>
            <a:off x="7132320" y="422452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Bloque @code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0"/>
          <p:cNvSpPr txBox="1"/>
          <p:nvPr/>
        </p:nvSpPr>
        <p:spPr>
          <a:xfrm>
            <a:off x="6748272" y="46177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Propiedades y métodos C# del componente: su estado y sus manejadores de eventos.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Routing: cómo se mapea una URL a una página</a:t>
            </a:r>
            <a:endParaRPr/>
          </a:p>
        </p:txBody>
      </p:sp>
      <p:sp>
        <p:nvSpPr>
          <p:cNvPr id="923" name="Google Shape;923;p3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4" name="Google Shape;924;p3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1"/>
          <p:cNvSpPr/>
          <p:nvPr/>
        </p:nvSpPr>
        <p:spPr>
          <a:xfrm>
            <a:off x="548640" y="1417320"/>
            <a:ext cx="4663440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https://localhost:7220/productos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6" name="Google Shape;926;p31"/>
          <p:cNvCxnSpPr/>
          <p:nvPr/>
        </p:nvCxnSpPr>
        <p:spPr>
          <a:xfrm>
            <a:off x="2880360" y="192024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7" name="Google Shape;927;p31"/>
          <p:cNvSpPr/>
          <p:nvPr/>
        </p:nvSpPr>
        <p:spPr>
          <a:xfrm>
            <a:off x="548640" y="2331720"/>
            <a:ext cx="4663440" cy="960120"/>
          </a:xfrm>
          <a:prstGeom prst="roundRect">
            <a:avLst>
              <a:gd fmla="val 7619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Router (Routes.razor)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 la URL con las rutas declaradas con @page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8" name="Google Shape;928;p31"/>
          <p:cNvCxnSpPr/>
          <p:nvPr/>
        </p:nvCxnSpPr>
        <p:spPr>
          <a:xfrm>
            <a:off x="2880360" y="33375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9" name="Google Shape;929;p31"/>
          <p:cNvSpPr/>
          <p:nvPr/>
        </p:nvSpPr>
        <p:spPr>
          <a:xfrm>
            <a:off x="548640" y="3749039"/>
            <a:ext cx="4663440" cy="960120"/>
          </a:xfrm>
          <a:prstGeom prst="roundRect">
            <a:avLst>
              <a:gd fmla="val 7619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RouteView + MainLayout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renderiza ListarProductosPage dentro de @Body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0" name="Google Shape;930;p31"/>
          <p:cNvGraphicFramePr/>
          <p:nvPr/>
        </p:nvGraphicFramePr>
        <p:xfrm>
          <a:off x="562356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3108950"/>
                <a:gridCol w="2907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Ruta declarada con @page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"/productos"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ListarProductosPage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"/productos/nuevo"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GestionarProductosPage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"/productos/editar/{Id:int}"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GestionarProductosPage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"/clientes"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ListarClientesPage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"/empleados"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ListarEmpleadosPage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"/ordenes-venta"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OrdenesVentaPage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(sin coincidencia)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NotFound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1" name="Google Shape;931;p31"/>
          <p:cNvSpPr/>
          <p:nvPr/>
        </p:nvSpPr>
        <p:spPr>
          <a:xfrm>
            <a:off x="5605272" y="1801368"/>
            <a:ext cx="6053328" cy="411480"/>
          </a:xfrm>
          <a:prstGeom prst="rect">
            <a:avLst/>
          </a:prstGeom>
          <a:noFill/>
          <a:ln cap="flat" cmpd="sng" w="381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p31"/>
          <p:cNvCxnSpPr/>
          <p:nvPr/>
        </p:nvCxnSpPr>
        <p:spPr>
          <a:xfrm flipH="1" rot="10800000">
            <a:off x="5230368" y="2011680"/>
            <a:ext cx="347472" cy="777240"/>
          </a:xfrm>
          <a:prstGeom prst="straightConnector1">
            <a:avLst/>
          </a:prstGeom>
          <a:noFill/>
          <a:ln cap="flat" cmpd="sng" w="254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3" name="Google Shape;933;p31"/>
          <p:cNvSpPr/>
          <p:nvPr/>
        </p:nvSpPr>
        <p:spPr>
          <a:xfrm>
            <a:off x="548640" y="4892040"/>
            <a:ext cx="11094415" cy="621792"/>
          </a:xfrm>
          <a:prstGeom prst="roundRect">
            <a:avLst>
              <a:gd fmla="val 11764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1"/>
          <p:cNvSpPr txBox="1"/>
          <p:nvPr/>
        </p:nvSpPr>
        <p:spPr>
          <a:xfrm>
            <a:off x="731520" y="4892040"/>
            <a:ext cx="1072865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 URL la define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, no la carpeta: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Pages/Almacen/ListarProductosPage.razor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responde en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/productos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. Las rutas no distinguen mayúsculas de minúsculas.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2: obtener los datos con el objeto BL inyectado</a:t>
            </a:r>
            <a:endParaRPr/>
          </a:p>
        </p:txBody>
      </p:sp>
      <p:sp>
        <p:nvSpPr>
          <p:cNvPr id="940" name="Google Shape;940;p3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" name="Google Shape;941;p3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548640" y="1371600"/>
            <a:ext cx="60350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548640" y="1371600"/>
            <a:ext cx="60350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559612" y="1664208"/>
            <a:ext cx="60130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685800" y="138988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694944" y="1773936"/>
            <a:ext cx="57424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IProductoBL ProductoBL;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&lt;PageTitle&gt;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&lt;/PageTitle&gt;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3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List&lt;Producto&gt; Productos {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 = [];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OnInitialized()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Productos = ProductoBL.FindAll();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2"/>
          <p:cNvSpPr/>
          <p:nvPr/>
        </p:nvSpPr>
        <p:spPr>
          <a:xfrm>
            <a:off x="6812280" y="1371600"/>
            <a:ext cx="4828032" cy="310896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@inject IProductoBL ProductoBL;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6812280" y="1737360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Pide al contenedor el objeto BL registrado en Program.cs.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6812280" y="2404872"/>
            <a:ext cx="4828032" cy="310896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List&lt;Producto&gt; 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"/>
          <p:cNvSpPr txBox="1"/>
          <p:nvPr/>
        </p:nvSpPr>
        <p:spPr>
          <a:xfrm>
            <a:off x="6812280" y="2770632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Estado del componente: inicia vacío y se llena al cargar.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2"/>
          <p:cNvSpPr/>
          <p:nvPr/>
        </p:nvSpPr>
        <p:spPr>
          <a:xfrm>
            <a:off x="6812280" y="3438144"/>
            <a:ext cx="4828032" cy="310896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OnInitialized()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2"/>
          <p:cNvSpPr txBox="1"/>
          <p:nvPr/>
        </p:nvSpPr>
        <p:spPr>
          <a:xfrm>
            <a:off x="6812280" y="3803904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Método del ciclo de vida (sección 1) que se ejecuta una vez, al crear el componente. Es el lugar para cargar los datos iniciales.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2"/>
          <p:cNvSpPr/>
          <p:nvPr/>
        </p:nvSpPr>
        <p:spPr>
          <a:xfrm>
            <a:off x="6812280" y="4471416"/>
            <a:ext cx="4828032" cy="310896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Versión síncrona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6812280" y="4837176"/>
            <a:ext cx="4828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métodos BL de SoftProg son síncronos; OnInitializedAsync se verá en la siguiente sesión.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3: mostrar los datos con @foreach y una tabla Bootstrap</a:t>
            </a:r>
            <a:endParaRPr/>
          </a:p>
        </p:txBody>
      </p:sp>
      <p:sp>
        <p:nvSpPr>
          <p:cNvPr id="964" name="Google Shape;964;p3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5" name="Google Shape;965;p3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3"/>
          <p:cNvSpPr/>
          <p:nvPr/>
        </p:nvSpPr>
        <p:spPr>
          <a:xfrm>
            <a:off x="548640" y="1371600"/>
            <a:ext cx="69494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548640" y="1371600"/>
            <a:ext cx="69494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559612" y="1664208"/>
            <a:ext cx="69274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3"/>
          <p:cNvSpPr txBox="1"/>
          <p:nvPr/>
        </p:nvSpPr>
        <p:spPr>
          <a:xfrm>
            <a:off x="685800" y="138988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 (marcado)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3"/>
          <p:cNvSpPr txBox="1"/>
          <p:nvPr/>
        </p:nvSpPr>
        <p:spPr>
          <a:xfrm>
            <a:off x="694944" y="1773936"/>
            <a:ext cx="66568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(Productos.Count == 0)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alert-info"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 hay productos registrados.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&lt;table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&lt;thead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"table-dark"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&lt;tr&gt;&lt;th&gt;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&lt;/th&gt;&lt;th&gt;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Unidad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&lt;/th&gt;&lt;th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Precio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&lt;/th&gt;&lt;/tr&gt;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&lt;/thead&gt;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&lt;tbody&gt;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i="0" lang="en-US" spc="0" sz="10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(Producto producto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Productos)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r>
              <a:rPr b="1" i="0" lang="en-US" spc="0" sz="10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@producto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r>
              <a:rPr b="1" i="0" lang="en-US" spc="0" sz="10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@producto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.UnidadMedida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&lt;td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10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@producto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.Precio.ToString(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10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&lt;/tbody&gt;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7726679" y="1371600"/>
            <a:ext cx="3913632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7726679" y="1371600"/>
            <a:ext cx="391363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7735823" y="1645920"/>
            <a:ext cx="389534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3"/>
          <p:cNvSpPr/>
          <p:nvPr/>
        </p:nvSpPr>
        <p:spPr>
          <a:xfrm>
            <a:off x="785469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801014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816559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8366759" y="1444752"/>
            <a:ext cx="313639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3"/>
          <p:cNvSpPr txBox="1"/>
          <p:nvPr/>
        </p:nvSpPr>
        <p:spPr>
          <a:xfrm>
            <a:off x="7909559" y="18653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3"/>
          <p:cNvSpPr/>
          <p:nvPr/>
        </p:nvSpPr>
        <p:spPr>
          <a:xfrm>
            <a:off x="7909559" y="2258568"/>
            <a:ext cx="3246120" cy="29260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3"/>
          <p:cNvSpPr txBox="1"/>
          <p:nvPr/>
        </p:nvSpPr>
        <p:spPr>
          <a:xfrm>
            <a:off x="7964423" y="2258568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3"/>
          <p:cNvSpPr txBox="1"/>
          <p:nvPr/>
        </p:nvSpPr>
        <p:spPr>
          <a:xfrm>
            <a:off x="9656063" y="225856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3"/>
          <p:cNvSpPr txBox="1"/>
          <p:nvPr/>
        </p:nvSpPr>
        <p:spPr>
          <a:xfrm>
            <a:off x="10387584" y="2258568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7909559" y="2551175"/>
            <a:ext cx="32461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3"/>
          <p:cNvSpPr txBox="1"/>
          <p:nvPr/>
        </p:nvSpPr>
        <p:spPr>
          <a:xfrm>
            <a:off x="7964423" y="2551175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3"/>
          <p:cNvSpPr txBox="1"/>
          <p:nvPr/>
        </p:nvSpPr>
        <p:spPr>
          <a:xfrm>
            <a:off x="9656063" y="2551175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3"/>
          <p:cNvSpPr txBox="1"/>
          <p:nvPr/>
        </p:nvSpPr>
        <p:spPr>
          <a:xfrm>
            <a:off x="10387584" y="2551175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3"/>
          <p:cNvSpPr/>
          <p:nvPr/>
        </p:nvSpPr>
        <p:spPr>
          <a:xfrm>
            <a:off x="7909559" y="2843784"/>
            <a:ext cx="32461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3"/>
          <p:cNvSpPr txBox="1"/>
          <p:nvPr/>
        </p:nvSpPr>
        <p:spPr>
          <a:xfrm>
            <a:off x="7964423" y="2843784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Lápiz HB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3"/>
          <p:cNvSpPr txBox="1"/>
          <p:nvPr/>
        </p:nvSpPr>
        <p:spPr>
          <a:xfrm>
            <a:off x="9656063" y="2843784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3"/>
          <p:cNvSpPr txBox="1"/>
          <p:nvPr/>
        </p:nvSpPr>
        <p:spPr>
          <a:xfrm>
            <a:off x="10387584" y="2843784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3"/>
          <p:cNvSpPr/>
          <p:nvPr/>
        </p:nvSpPr>
        <p:spPr>
          <a:xfrm>
            <a:off x="7909559" y="3136391"/>
            <a:ext cx="3246120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3"/>
          <p:cNvSpPr txBox="1"/>
          <p:nvPr/>
        </p:nvSpPr>
        <p:spPr>
          <a:xfrm>
            <a:off x="7964423" y="3136391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Mochila Ejecutiva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3"/>
          <p:cNvSpPr txBox="1"/>
          <p:nvPr/>
        </p:nvSpPr>
        <p:spPr>
          <a:xfrm>
            <a:off x="9656063" y="3136391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3"/>
          <p:cNvSpPr txBox="1"/>
          <p:nvPr/>
        </p:nvSpPr>
        <p:spPr>
          <a:xfrm>
            <a:off x="10387584" y="3136391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45.00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3"/>
          <p:cNvSpPr/>
          <p:nvPr/>
        </p:nvSpPr>
        <p:spPr>
          <a:xfrm>
            <a:off x="7909559" y="3429000"/>
            <a:ext cx="32461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3"/>
          <p:cNvSpPr txBox="1"/>
          <p:nvPr/>
        </p:nvSpPr>
        <p:spPr>
          <a:xfrm>
            <a:off x="7964423" y="3429000"/>
            <a:ext cx="1618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Archivador Oficio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3"/>
          <p:cNvSpPr txBox="1"/>
          <p:nvPr/>
        </p:nvSpPr>
        <p:spPr>
          <a:xfrm>
            <a:off x="9656063" y="342900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10387584" y="3429000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18.00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4" name="Google Shape;1004;p33"/>
          <p:cNvCxnSpPr/>
          <p:nvPr/>
        </p:nvCxnSpPr>
        <p:spPr>
          <a:xfrm>
            <a:off x="7909559" y="3721608"/>
            <a:ext cx="3246121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5" name="Google Shape;1005;p33"/>
          <p:cNvSpPr txBox="1"/>
          <p:nvPr/>
        </p:nvSpPr>
        <p:spPr>
          <a:xfrm>
            <a:off x="7726679" y="4114800"/>
            <a:ext cx="391363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 un mensaje cuando la lista está vacía.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repite la fila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por cada producto.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@producto.Precio.ToString("N2")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aplica formato numérico.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Sintaxis Razor: expresiones</a:t>
            </a:r>
            <a:endParaRPr/>
          </a:p>
        </p:txBody>
      </p:sp>
      <p:sp>
        <p:nvSpPr>
          <p:cNvPr id="1011" name="Google Shape;1011;p3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2" name="Google Shape;1012;p3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3" name="Google Shape;1013;p34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4951225"/>
                <a:gridCol w="4217700"/>
                <a:gridCol w="1925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Sintaxis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@producto.Nombre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Expresión implícita: imprime el valor de una propiedad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Cuaderno A4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@producto.Precio.ToString("N2")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Llamada a un método con formato numérico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12.50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@(cliente.LineaCredito &gt; 0 ? "Sí" : "No")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Expresión explícita: paréntesis cuando hay operadores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Sí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@($"{cliente.Nombre} {cliente.ApellidoPaterno}")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Cadena interpolada en una expresión explícita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Patricia Medina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@empleado.FechaNacimiento.ToString("dd/MM/yyyy")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Formato de fecha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15/03/1990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ventas@softprog.pe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Correo electrónico: Razor no lo interpreta como código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ventas@softprog.pe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@@  /  @* comentario *@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Carácter @ literal / comentario que no se envía al navegador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  /  (nada)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4" name="Google Shape;1014;p34"/>
          <p:cNvSpPr/>
          <p:nvPr/>
        </p:nvSpPr>
        <p:spPr>
          <a:xfrm>
            <a:off x="548640" y="4983480"/>
            <a:ext cx="11094415" cy="530352"/>
          </a:xfrm>
          <a:prstGeom prst="roundRect">
            <a:avLst>
              <a:gd fmla="val 13793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ock_042354.png" id="1015" name="Google Shape;10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5056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34"/>
          <p:cNvSpPr txBox="1"/>
          <p:nvPr/>
        </p:nvSpPr>
        <p:spPr>
          <a:xfrm>
            <a:off x="1234440" y="4983480"/>
            <a:ext cx="1027145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Todo valor impreso con @ se </a:t>
            </a: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codifica en HTML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: si un nombre contiene &lt;script&gt;, se muestra como texto y no se ejecuta.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Sintaxis Razor: estructuras de control</a:t>
            </a:r>
            <a:endParaRPr/>
          </a:p>
        </p:txBody>
      </p:sp>
      <p:sp>
        <p:nvSpPr>
          <p:cNvPr id="1022" name="Google Shape;1022;p3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3" name="Google Shape;1023;p3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548640" y="1371600"/>
            <a:ext cx="544068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5"/>
          <p:cNvSpPr/>
          <p:nvPr/>
        </p:nvSpPr>
        <p:spPr>
          <a:xfrm>
            <a:off x="548640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5"/>
          <p:cNvSpPr/>
          <p:nvPr/>
        </p:nvSpPr>
        <p:spPr>
          <a:xfrm>
            <a:off x="559612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5"/>
          <p:cNvSpPr txBox="1"/>
          <p:nvPr/>
        </p:nvSpPr>
        <p:spPr>
          <a:xfrm>
            <a:off x="685800" y="1389888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@if / else (clientes)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5"/>
          <p:cNvSpPr txBox="1"/>
          <p:nvPr/>
        </p:nvSpPr>
        <p:spPr>
          <a:xfrm>
            <a:off x="694944" y="1773936"/>
            <a:ext cx="5148072" cy="206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(Clientes.Count == 0)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3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alert-info"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No hay clientes registrados.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Total de clientes: </a:t>
            </a: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@Clientes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.Count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5"/>
          <p:cNvSpPr/>
          <p:nvPr/>
        </p:nvSpPr>
        <p:spPr>
          <a:xfrm>
            <a:off x="6199632" y="1371600"/>
            <a:ext cx="544068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6199632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5"/>
          <p:cNvSpPr/>
          <p:nvPr/>
        </p:nvSpPr>
        <p:spPr>
          <a:xfrm>
            <a:off x="6210604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5"/>
          <p:cNvSpPr txBox="1"/>
          <p:nvPr/>
        </p:nvSpPr>
        <p:spPr>
          <a:xfrm>
            <a:off x="6336792" y="1389888"/>
            <a:ext cx="5166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@switch (productos)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5"/>
          <p:cNvSpPr txBox="1"/>
          <p:nvPr/>
        </p:nvSpPr>
        <p:spPr>
          <a:xfrm>
            <a:off x="6345936" y="1773936"/>
            <a:ext cx="5148072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@switch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(producto.UnidadMedida)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case UnidadMedida.KG: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Kilogramo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&lt;/span&gt;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break;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case UnidadMedida.LITRO: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Litro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&lt;/span&gt;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break;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Unidad</a:t>
            </a:r>
            <a:r>
              <a:rPr b="0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&lt;/span&gt;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break;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5"/>
          <p:cNvSpPr/>
          <p:nvPr/>
        </p:nvSpPr>
        <p:spPr>
          <a:xfrm>
            <a:off x="548640" y="4069080"/>
            <a:ext cx="5440680" cy="457200"/>
          </a:xfrm>
          <a:prstGeom prst="roundRect">
            <a:avLst>
              <a:gd fmla="val 10000" name="adj"/>
            </a:avLst>
          </a:prstGeom>
          <a:solidFill>
            <a:srgbClr val="0A7BC2">
              <a:alpha val="14118"/>
            </a:srgbClr>
          </a:solidFill>
          <a:ln cap="flat" cmpd="sng" w="9525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No hay clientes registrados.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5"/>
          <p:cNvSpPr txBox="1"/>
          <p:nvPr/>
        </p:nvSpPr>
        <p:spPr>
          <a:xfrm>
            <a:off x="548640" y="457200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Resultado cuando la lista está vacía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548640" y="4983480"/>
            <a:ext cx="11094415" cy="530352"/>
          </a:xfrm>
          <a:prstGeom prst="roundRect">
            <a:avLst>
              <a:gd fmla="val 13793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5"/>
          <p:cNvSpPr txBox="1"/>
          <p:nvPr/>
        </p:nvSpPr>
        <p:spPr>
          <a:xfrm>
            <a:off x="731520" y="4983480"/>
            <a:ext cx="1072865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Dentro de un bloque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@switch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se escribe HTML directamente. También existen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@for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@while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5"/>
          <p:cNvSpPr txBox="1"/>
          <p:nvPr/>
        </p:nvSpPr>
        <p:spPr>
          <a:xfrm>
            <a:off x="6199632" y="4526280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Muestra «Kilogramo», «Litro» o «Unidad»; el listado final usa TextoUnidadMedida.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4: enlazar atributos con la lógica de @code</a:t>
            </a:r>
            <a:endParaRPr/>
          </a:p>
        </p:txBody>
      </p:sp>
      <p:sp>
        <p:nvSpPr>
          <p:cNvPr id="1044" name="Google Shape;1044;p3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5" name="Google Shape;1045;p3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6"/>
          <p:cNvSpPr/>
          <p:nvPr/>
        </p:nvSpPr>
        <p:spPr>
          <a:xfrm>
            <a:off x="548640" y="1371600"/>
            <a:ext cx="69494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6"/>
          <p:cNvSpPr/>
          <p:nvPr/>
        </p:nvSpPr>
        <p:spPr>
          <a:xfrm>
            <a:off x="548640" y="1371600"/>
            <a:ext cx="69494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6"/>
          <p:cNvSpPr/>
          <p:nvPr/>
        </p:nvSpPr>
        <p:spPr>
          <a:xfrm>
            <a:off x="559612" y="1664208"/>
            <a:ext cx="69274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6"/>
          <p:cNvSpPr txBox="1"/>
          <p:nvPr/>
        </p:nvSpPr>
        <p:spPr>
          <a:xfrm>
            <a:off x="685800" y="138988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6"/>
          <p:cNvSpPr txBox="1"/>
          <p:nvPr/>
        </p:nvSpPr>
        <p:spPr>
          <a:xfrm>
            <a:off x="694944" y="1773936"/>
            <a:ext cx="66568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&lt;tr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class="</a:t>
            </a: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producto.Precio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100 ?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"table-warning"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)"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@producto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@producto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.Precio.ToString(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&lt;span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class="</a:t>
            </a: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@ClaseEstado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(producto)"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@TextoEstado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(producto)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&lt;/span&gt;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ClaseEstado(Producto producto)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producto.IsActivo ? 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"badge bg-success"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"badge bg-secondary"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TextoEstado(Producto producto)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producto.IsActivo ? 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"Activo"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"Inactivo"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6"/>
          <p:cNvSpPr txBox="1"/>
          <p:nvPr/>
        </p:nvSpPr>
        <p:spPr>
          <a:xfrm>
            <a:off x="7726679" y="137160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6"/>
          <p:cNvSpPr/>
          <p:nvPr/>
        </p:nvSpPr>
        <p:spPr>
          <a:xfrm>
            <a:off x="7726679" y="1691640"/>
            <a:ext cx="391363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6"/>
          <p:cNvSpPr txBox="1"/>
          <p:nvPr/>
        </p:nvSpPr>
        <p:spPr>
          <a:xfrm>
            <a:off x="7818119" y="1691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6"/>
          <p:cNvSpPr txBox="1"/>
          <p:nvPr/>
        </p:nvSpPr>
        <p:spPr>
          <a:xfrm>
            <a:off x="9829800" y="16916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10698480" y="1783080"/>
            <a:ext cx="822960" cy="228600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6"/>
          <p:cNvSpPr/>
          <p:nvPr/>
        </p:nvSpPr>
        <p:spPr>
          <a:xfrm>
            <a:off x="7726679" y="2103120"/>
            <a:ext cx="3913632" cy="411480"/>
          </a:xfrm>
          <a:prstGeom prst="rect">
            <a:avLst/>
          </a:prstGeom>
          <a:solidFill>
            <a:srgbClr val="F0AE19">
              <a:alpha val="3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6"/>
          <p:cNvSpPr txBox="1"/>
          <p:nvPr/>
        </p:nvSpPr>
        <p:spPr>
          <a:xfrm>
            <a:off x="7818119" y="21031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Impresora Multifuncional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6"/>
          <p:cNvSpPr txBox="1"/>
          <p:nvPr/>
        </p:nvSpPr>
        <p:spPr>
          <a:xfrm>
            <a:off x="9829800" y="21031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249.90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6"/>
          <p:cNvSpPr/>
          <p:nvPr/>
        </p:nvSpPr>
        <p:spPr>
          <a:xfrm>
            <a:off x="10698480" y="2194560"/>
            <a:ext cx="822960" cy="228600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6"/>
          <p:cNvSpPr/>
          <p:nvPr/>
        </p:nvSpPr>
        <p:spPr>
          <a:xfrm>
            <a:off x="7726679" y="2514600"/>
            <a:ext cx="391363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6"/>
          <p:cNvSpPr txBox="1"/>
          <p:nvPr/>
        </p:nvSpPr>
        <p:spPr>
          <a:xfrm>
            <a:off x="7818119" y="25146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Lápiz HB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6"/>
          <p:cNvSpPr txBox="1"/>
          <p:nvPr/>
        </p:nvSpPr>
        <p:spPr>
          <a:xfrm>
            <a:off x="9829800" y="25146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6"/>
          <p:cNvSpPr/>
          <p:nvPr/>
        </p:nvSpPr>
        <p:spPr>
          <a:xfrm>
            <a:off x="10698480" y="2606040"/>
            <a:ext cx="822960" cy="228600"/>
          </a:xfrm>
          <a:prstGeom prst="roundRect">
            <a:avLst>
              <a:gd fmla="val 50000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 txBox="1"/>
          <p:nvPr/>
        </p:nvSpPr>
        <p:spPr>
          <a:xfrm>
            <a:off x="7726679" y="3063240"/>
            <a:ext cx="391363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Cualquier atributo HTML puede recibir una expresión C#: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disabled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atributos booleanos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disabled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checked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), si el valor es false, Blazor omite el atributo.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enlace es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unidireccional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si el estado cambia, el atributo se actualiza en el siguiente render.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5: responder a eventos con @onclick</a:t>
            </a:r>
            <a:endParaRPr/>
          </a:p>
        </p:txBody>
      </p:sp>
      <p:sp>
        <p:nvSpPr>
          <p:cNvPr id="1072" name="Google Shape;1072;p3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3" name="Google Shape;1073;p3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7"/>
          <p:cNvSpPr/>
          <p:nvPr/>
        </p:nvSpPr>
        <p:spPr>
          <a:xfrm>
            <a:off x="548640" y="1371600"/>
            <a:ext cx="63093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7"/>
          <p:cNvSpPr/>
          <p:nvPr/>
        </p:nvSpPr>
        <p:spPr>
          <a:xfrm>
            <a:off x="548640" y="1371600"/>
            <a:ext cx="63093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7"/>
          <p:cNvSpPr/>
          <p:nvPr/>
        </p:nvSpPr>
        <p:spPr>
          <a:xfrm>
            <a:off x="559612" y="1664208"/>
            <a:ext cx="62874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7"/>
          <p:cNvSpPr txBox="1"/>
          <p:nvPr/>
        </p:nvSpPr>
        <p:spPr>
          <a:xfrm>
            <a:off x="685800" y="1389888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7"/>
          <p:cNvSpPr txBox="1"/>
          <p:nvPr/>
        </p:nvSpPr>
        <p:spPr>
          <a:xfrm>
            <a:off x="694944" y="1773936"/>
            <a:ext cx="60167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btn-secondary mb-3"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"Recargar"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Recargar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btn-danger btn-sm"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EliminarProducto(producto.Id)"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Eliminar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Recargar()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Productos = ProductoBL.FindAll();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EliminarProducto(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id)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ProductoBL.Delete(id);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Productos = ProductoBL.FindAll();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3" name="Google Shape;1083;p37"/>
          <p:cNvGraphicFramePr/>
          <p:nvPr/>
        </p:nvGraphicFramePr>
        <p:xfrm>
          <a:off x="71323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463050"/>
                <a:gridCol w="30449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dispara cuando...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@onclick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usuario hace clic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@onchange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valor cambia y el control pierde el foco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@oninput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usuario escribe cada carácter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@onsubmit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envía un formulario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@onkeydown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presiona una tecla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4" name="Google Shape;1084;p37"/>
          <p:cNvSpPr txBox="1"/>
          <p:nvPr/>
        </p:nvSpPr>
        <p:spPr>
          <a:xfrm>
            <a:off x="7132320" y="3703320"/>
            <a:ext cx="450799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Sin argumentos: se pasa el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nombre del método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(sin paréntesis).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argumentos: se usa una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() =&gt; Metodo(valor)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 terminar el manejador, Blazor vuelve a renderizar el componente automáticamente.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6: navegar con NavigationManager</a:t>
            </a:r>
            <a:endParaRPr/>
          </a:p>
        </p:txBody>
      </p:sp>
      <p:sp>
        <p:nvSpPr>
          <p:cNvPr id="1090" name="Google Shape;1090;p3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1" name="Google Shape;1091;p3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8"/>
          <p:cNvSpPr/>
          <p:nvPr/>
        </p:nvSpPr>
        <p:spPr>
          <a:xfrm>
            <a:off x="548640" y="1371600"/>
            <a:ext cx="58521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8"/>
          <p:cNvSpPr/>
          <p:nvPr/>
        </p:nvSpPr>
        <p:spPr>
          <a:xfrm>
            <a:off x="548640" y="1371600"/>
            <a:ext cx="58521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8"/>
          <p:cNvSpPr/>
          <p:nvPr/>
        </p:nvSpPr>
        <p:spPr>
          <a:xfrm>
            <a:off x="559612" y="1664208"/>
            <a:ext cx="58302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8"/>
          <p:cNvSpPr txBox="1"/>
          <p:nvPr/>
        </p:nvSpPr>
        <p:spPr>
          <a:xfrm>
            <a:off x="685800" y="1389888"/>
            <a:ext cx="5577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8"/>
          <p:cNvSpPr txBox="1"/>
          <p:nvPr/>
        </p:nvSpPr>
        <p:spPr>
          <a:xfrm>
            <a:off x="694944" y="1773936"/>
            <a:ext cx="55595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"d-flex justify-content-between mb-3"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btn-success"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NuevoProducto()"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Nuevo producto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btn-sm"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EditarProducto(producto.Id)"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Editar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NuevoProducto()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Nav.NavigateTo(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"/productos/nuevo"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EditarProducto(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Nav.NavigateTo(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$"/productos/editar/{id}"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2" name="Google Shape;1102;p38"/>
          <p:cNvGraphicFramePr/>
          <p:nvPr/>
        </p:nvGraphicFramePr>
        <p:xfrm>
          <a:off x="66294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971800"/>
                <a:gridCol w="20391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Miembro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i="0" lang="en-US" spc="0" sz="95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NavigateTo(url)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Navega dentro de la aplicación sin recargar la página.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i="0" lang="en-US" spc="0" sz="95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NavigateTo(url, forceLoad: true)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Fuerza una solicitud HTTP completa (se crea un circuito nuevo).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i="0" lang="en-US" spc="0" sz="95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NavigateTo(url, replace: true)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Reemplaza la entrada actual del historial del navegador.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i="0" lang="en-US" spc="0" sz="95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Uri  /  BaseUri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actual y URL base (https://localhost:7220/).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i="0" lang="en-US" spc="0" sz="95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GetUriWithQueryParameter("cliente", 4)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Construye una URL con query string.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Cuándo usar NavLink, &lt;a&gt; o NavigationManager</a:t>
            </a:r>
            <a:endParaRPr/>
          </a:p>
        </p:txBody>
      </p:sp>
      <p:sp>
        <p:nvSpPr>
          <p:cNvPr id="1108" name="Google Shape;1108;p3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9" name="Google Shape;1109;p3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9"/>
          <p:cNvSpPr/>
          <p:nvPr/>
        </p:nvSpPr>
        <p:spPr>
          <a:xfrm>
            <a:off x="548640" y="1325880"/>
            <a:ext cx="3557016" cy="4206240"/>
          </a:xfrm>
          <a:prstGeom prst="roundRect">
            <a:avLst>
              <a:gd fmla="val 257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9"/>
          <p:cNvSpPr/>
          <p:nvPr/>
        </p:nvSpPr>
        <p:spPr>
          <a:xfrm>
            <a:off x="731520" y="1463040"/>
            <a:ext cx="3191256" cy="347472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NavLink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9"/>
          <p:cNvSpPr/>
          <p:nvPr/>
        </p:nvSpPr>
        <p:spPr>
          <a:xfrm>
            <a:off x="685800" y="1901952"/>
            <a:ext cx="3282696" cy="109728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9"/>
          <p:cNvSpPr txBox="1"/>
          <p:nvPr/>
        </p:nvSpPr>
        <p:spPr>
          <a:xfrm>
            <a:off x="832104" y="1993392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&lt;NavLink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"nav-link"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href=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Productos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&lt;/NavLink&gt;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9"/>
          <p:cNvSpPr txBox="1"/>
          <p:nvPr/>
        </p:nvSpPr>
        <p:spPr>
          <a:xfrm>
            <a:off x="731520" y="3090672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Qué genera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&lt;a&gt;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que recibe la clase </a:t>
            </a:r>
            <a:r>
              <a:rPr b="1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active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cuando la URL coincide.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9"/>
          <p:cNvSpPr txBox="1"/>
          <p:nvPr/>
        </p:nvSpPr>
        <p:spPr>
          <a:xfrm>
            <a:off x="731520" y="3694176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¿Recarga?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No: Blazor intercepta el clic y cambia solo @Body.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9"/>
          <p:cNvSpPr txBox="1"/>
          <p:nvPr/>
        </p:nvSpPr>
        <p:spPr>
          <a:xfrm>
            <a:off x="731520" y="4297680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Cuándo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Menús de navegación.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9"/>
          <p:cNvSpPr txBox="1"/>
          <p:nvPr/>
        </p:nvSpPr>
        <p:spPr>
          <a:xfrm>
            <a:off x="731520" y="4901184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En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MainLayout: Productos, Clientes, Empleados, Áreas, Cuentas, Órdenes.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9"/>
          <p:cNvSpPr/>
          <p:nvPr/>
        </p:nvSpPr>
        <p:spPr>
          <a:xfrm>
            <a:off x="4315968" y="1325880"/>
            <a:ext cx="3557016" cy="4206240"/>
          </a:xfrm>
          <a:prstGeom prst="roundRect">
            <a:avLst>
              <a:gd fmla="val 257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9"/>
          <p:cNvSpPr/>
          <p:nvPr/>
        </p:nvSpPr>
        <p:spPr>
          <a:xfrm>
            <a:off x="4498848" y="1463040"/>
            <a:ext cx="3191256" cy="347472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href&gt;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9"/>
          <p:cNvSpPr/>
          <p:nvPr/>
        </p:nvSpPr>
        <p:spPr>
          <a:xfrm>
            <a:off x="4453128" y="1901952"/>
            <a:ext cx="3282696" cy="109728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9"/>
          <p:cNvSpPr txBox="1"/>
          <p:nvPr/>
        </p:nvSpPr>
        <p:spPr>
          <a:xfrm>
            <a:off x="4599432" y="1993392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btn-outline-secondary"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href=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Cancelar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9"/>
          <p:cNvSpPr txBox="1"/>
          <p:nvPr/>
        </p:nvSpPr>
        <p:spPr>
          <a:xfrm>
            <a:off x="4498848" y="3090672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Qué genera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enlace HTML estándar, sin lógica adicional.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9"/>
          <p:cNvSpPr txBox="1"/>
          <p:nvPr/>
        </p:nvSpPr>
        <p:spPr>
          <a:xfrm>
            <a:off x="4498848" y="3694176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¿Recarga?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No, si la URL es de la aplicación: Blazor intercepta el clic.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9"/>
          <p:cNvSpPr txBox="1"/>
          <p:nvPr/>
        </p:nvSpPr>
        <p:spPr>
          <a:xfrm>
            <a:off x="4498848" y="4297680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Cuándo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Enlaces fijos dentro del contenido.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9"/>
          <p:cNvSpPr txBox="1"/>
          <p:nvPr/>
        </p:nvSpPr>
        <p:spPr>
          <a:xfrm>
            <a:off x="4498848" y="4901184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En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Botón «Cancelar» del formulario de productos.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9"/>
          <p:cNvSpPr/>
          <p:nvPr/>
        </p:nvSpPr>
        <p:spPr>
          <a:xfrm>
            <a:off x="8083296" y="1325880"/>
            <a:ext cx="3557016" cy="4206240"/>
          </a:xfrm>
          <a:prstGeom prst="roundRect">
            <a:avLst>
              <a:gd fmla="val 257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9"/>
          <p:cNvSpPr/>
          <p:nvPr/>
        </p:nvSpPr>
        <p:spPr>
          <a:xfrm>
            <a:off x="8266175" y="1463040"/>
            <a:ext cx="3191256" cy="347472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NavigationManager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9"/>
          <p:cNvSpPr/>
          <p:nvPr/>
        </p:nvSpPr>
        <p:spPr>
          <a:xfrm>
            <a:off x="8220456" y="1901952"/>
            <a:ext cx="3282696" cy="109728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9"/>
          <p:cNvSpPr txBox="1"/>
          <p:nvPr/>
        </p:nvSpPr>
        <p:spPr>
          <a:xfrm>
            <a:off x="8366760" y="1993392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Guardar()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ProductoBL.Insert(...);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Nav.NavigateTo(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9"/>
          <p:cNvSpPr txBox="1"/>
          <p:nvPr/>
        </p:nvSpPr>
        <p:spPr>
          <a:xfrm>
            <a:off x="8266175" y="3090672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Qué genera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Nada en el marcado: se navega desde código C#.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9"/>
          <p:cNvSpPr txBox="1"/>
          <p:nvPr/>
        </p:nvSpPr>
        <p:spPr>
          <a:xfrm>
            <a:off x="8266175" y="3694176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¿Recarga?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No, salvo que se use </a:t>
            </a:r>
            <a:r>
              <a:rPr b="1" i="0" lang="en-US" spc="0" sz="10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forceLoad: true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9"/>
          <p:cNvSpPr txBox="1"/>
          <p:nvPr/>
        </p:nvSpPr>
        <p:spPr>
          <a:xfrm>
            <a:off x="8266175" y="4297680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Cuándo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Cuando la navegación depende de lógica: guardar o validar.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9"/>
          <p:cNvSpPr txBox="1"/>
          <p:nvPr/>
        </p:nvSpPr>
        <p:spPr>
          <a:xfrm>
            <a:off x="8266175" y="4901184"/>
            <a:ext cx="31912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«Nuevo producto», «Editar» y «Guardar».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Flujo de navegación del mantenimiento de productos</a:t>
            </a:r>
            <a:endParaRPr/>
          </a:p>
        </p:txBody>
      </p:sp>
      <p:sp>
        <p:nvSpPr>
          <p:cNvPr id="1139" name="Google Shape;1139;p4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0" name="Google Shape;1140;p4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40"/>
          <p:cNvSpPr/>
          <p:nvPr/>
        </p:nvSpPr>
        <p:spPr>
          <a:xfrm>
            <a:off x="548640" y="1371600"/>
            <a:ext cx="2743200" cy="685800"/>
          </a:xfrm>
          <a:prstGeom prst="roundRect">
            <a:avLst>
              <a:gd fmla="val 10666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Menú (MainLayout)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NavLink «Productos»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2" name="Google Shape;1142;p40"/>
          <p:cNvCxnSpPr/>
          <p:nvPr/>
        </p:nvCxnSpPr>
        <p:spPr>
          <a:xfrm>
            <a:off x="1920240" y="2084831"/>
            <a:ext cx="0" cy="265177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3" name="Google Shape;1143;p40"/>
          <p:cNvSpPr/>
          <p:nvPr/>
        </p:nvSpPr>
        <p:spPr>
          <a:xfrm>
            <a:off x="548640" y="2377440"/>
            <a:ext cx="2743200" cy="1645920"/>
          </a:xfrm>
          <a:prstGeom prst="roundRect">
            <a:avLst>
              <a:gd fmla="val 4444" name="adj"/>
            </a:avLst>
          </a:prstGeom>
          <a:solidFill>
            <a:srgbClr val="0A7BC2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0"/>
          <p:cNvSpPr/>
          <p:nvPr/>
        </p:nvSpPr>
        <p:spPr>
          <a:xfrm>
            <a:off x="7863840" y="2377440"/>
            <a:ext cx="3776472" cy="731520"/>
          </a:xfrm>
          <a:prstGeom prst="roundRect">
            <a:avLst>
              <a:gd fmla="val 10000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Formulario · modo creación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/productos/nuevo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40"/>
          <p:cNvSpPr/>
          <p:nvPr/>
        </p:nvSpPr>
        <p:spPr>
          <a:xfrm>
            <a:off x="7863840" y="3291840"/>
            <a:ext cx="3776472" cy="731520"/>
          </a:xfrm>
          <a:prstGeom prst="roundRect">
            <a:avLst>
              <a:gd fmla="val 10000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Formulario · modo edición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/productos/editar/3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6" name="Google Shape;1146;p40"/>
          <p:cNvCxnSpPr/>
          <p:nvPr/>
        </p:nvCxnSpPr>
        <p:spPr>
          <a:xfrm>
            <a:off x="3337560" y="2743200"/>
            <a:ext cx="4480560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7" name="Google Shape;1147;p40"/>
          <p:cNvSpPr txBox="1"/>
          <p:nvPr/>
        </p:nvSpPr>
        <p:spPr>
          <a:xfrm>
            <a:off x="3520440" y="23957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«Nuevo producto» → Nav.NavigateTo("/productos/nuevo")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8" name="Google Shape;1148;p40"/>
          <p:cNvCxnSpPr/>
          <p:nvPr/>
        </p:nvCxnSpPr>
        <p:spPr>
          <a:xfrm>
            <a:off x="3337560" y="3657600"/>
            <a:ext cx="4480560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9" name="Google Shape;1149;p40"/>
          <p:cNvSpPr txBox="1"/>
          <p:nvPr/>
        </p:nvSpPr>
        <p:spPr>
          <a:xfrm>
            <a:off x="3520440" y="33101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«Editar» → Nav.NavigateTo($"/productos/editar/{id}")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0" name="Google Shape;1150;p40"/>
          <p:cNvCxnSpPr/>
          <p:nvPr/>
        </p:nvCxnSpPr>
        <p:spPr>
          <a:xfrm>
            <a:off x="9747504" y="4050791"/>
            <a:ext cx="0" cy="566929"/>
          </a:xfrm>
          <a:prstGeom prst="straightConnector1">
            <a:avLst/>
          </a:prstGeom>
          <a:noFill/>
          <a:ln cap="flat" cmpd="sng" w="31750">
            <a:solidFill>
              <a:srgbClr val="F0AE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p40"/>
          <p:cNvCxnSpPr/>
          <p:nvPr/>
        </p:nvCxnSpPr>
        <p:spPr>
          <a:xfrm rot="10800000">
            <a:off x="1920240" y="4617720"/>
            <a:ext cx="7827264" cy="0"/>
          </a:xfrm>
          <a:prstGeom prst="straightConnector1">
            <a:avLst/>
          </a:prstGeom>
          <a:noFill/>
          <a:ln cap="flat" cmpd="sng" w="31750">
            <a:solidFill>
              <a:srgbClr val="F0AE1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p40"/>
          <p:cNvCxnSpPr/>
          <p:nvPr/>
        </p:nvCxnSpPr>
        <p:spPr>
          <a:xfrm rot="10800000">
            <a:off x="1920240" y="4069080"/>
            <a:ext cx="0" cy="548640"/>
          </a:xfrm>
          <a:prstGeom prst="straightConnector1">
            <a:avLst/>
          </a:prstGeom>
          <a:noFill/>
          <a:ln cap="flat" cmpd="sng" w="31750">
            <a:solidFill>
              <a:srgbClr val="F0AE1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3" name="Google Shape;1153;p40"/>
          <p:cNvSpPr txBox="1"/>
          <p:nvPr/>
        </p:nvSpPr>
        <p:spPr>
          <a:xfrm>
            <a:off x="2103120" y="466344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«Guardar» exitoso → Nav.NavigateTo("/productos")    ·    «Cancelar» → &lt;a href="productos"&gt;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0"/>
          <p:cNvSpPr/>
          <p:nvPr/>
        </p:nvSpPr>
        <p:spPr>
          <a:xfrm>
            <a:off x="7863840" y="1371600"/>
            <a:ext cx="3776472" cy="822960"/>
          </a:xfrm>
          <a:prstGeom prst="roundRect">
            <a:avLst>
              <a:gd fmla="val 8888" name="adj"/>
            </a:avLst>
          </a:prstGeom>
          <a:solidFill>
            <a:srgbClr val="C3094A">
              <a:alpha val="12157"/>
            </a:srgbClr>
          </a:solidFill>
          <a:ln cap="flat" cmpd="sng" w="952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Si Guardar lanza BLException, no se navega: el formulario muestra el mensaje en un alert-danger.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0"/>
          <p:cNvSpPr/>
          <p:nvPr/>
        </p:nvSpPr>
        <p:spPr>
          <a:xfrm>
            <a:off x="548640" y="5074920"/>
            <a:ext cx="11094415" cy="429768"/>
          </a:xfrm>
          <a:prstGeom prst="roundRect">
            <a:avLst>
              <a:gd fmla="val 17021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40"/>
          <p:cNvSpPr txBox="1"/>
          <p:nvPr/>
        </p:nvSpPr>
        <p:spPr>
          <a:xfrm>
            <a:off x="731520" y="5074920"/>
            <a:ext cx="10728655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 ningún caso se recarga la página: Blazor solo cambia el componente que se muestra en @Body y actualiza la URL.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4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7: filtrar por nombre con botones</a:t>
            </a:r>
            <a:endParaRPr/>
          </a:p>
        </p:txBody>
      </p:sp>
      <p:sp>
        <p:nvSpPr>
          <p:cNvPr id="1162" name="Google Shape;1162;p4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3" name="Google Shape;1163;p4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 · CONSTRUCCIÓN DE UN LISTADO PASO A PASO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41"/>
          <p:cNvSpPr/>
          <p:nvPr/>
        </p:nvSpPr>
        <p:spPr>
          <a:xfrm>
            <a:off x="548640" y="1371600"/>
            <a:ext cx="68580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41"/>
          <p:cNvSpPr/>
          <p:nvPr/>
        </p:nvSpPr>
        <p:spPr>
          <a:xfrm>
            <a:off x="548640" y="1371600"/>
            <a:ext cx="6858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1"/>
          <p:cNvSpPr/>
          <p:nvPr/>
        </p:nvSpPr>
        <p:spPr>
          <a:xfrm>
            <a:off x="559612" y="1664208"/>
            <a:ext cx="6836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1"/>
          <p:cNvSpPr txBox="1"/>
          <p:nvPr/>
        </p:nvSpPr>
        <p:spPr>
          <a:xfrm>
            <a:off x="685800" y="1389888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1"/>
          <p:cNvSpPr txBox="1"/>
          <p:nvPr/>
        </p:nvSpPr>
        <p:spPr>
          <a:xfrm>
            <a:off x="694944" y="1773936"/>
            <a:ext cx="65653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"d-flex align-items-center gap-2 mb-3"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"text-nowrap"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Nombre: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placeholder=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"Ingrese el nombre..."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"Filtro"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FiltrarProductos()"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Filtrar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btn-secondary"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LimpiarFiltro()"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Limpiar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Filtro {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.Empty;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FiltrarProductos()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Productos = ProductoBL.FilterByName(Filtro);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LimpiarFiltro()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Filtro =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.Empty;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Productos = ProductoBL.FindAll();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1"/>
          <p:cNvSpPr/>
          <p:nvPr/>
        </p:nvSpPr>
        <p:spPr>
          <a:xfrm>
            <a:off x="7680960" y="1371600"/>
            <a:ext cx="3959352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1"/>
          <p:cNvSpPr/>
          <p:nvPr/>
        </p:nvSpPr>
        <p:spPr>
          <a:xfrm>
            <a:off x="7680960" y="1371600"/>
            <a:ext cx="395935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1"/>
          <p:cNvSpPr/>
          <p:nvPr/>
        </p:nvSpPr>
        <p:spPr>
          <a:xfrm>
            <a:off x="7690104" y="1645920"/>
            <a:ext cx="394106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1"/>
          <p:cNvSpPr/>
          <p:nvPr/>
        </p:nvSpPr>
        <p:spPr>
          <a:xfrm>
            <a:off x="780897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1"/>
          <p:cNvSpPr/>
          <p:nvPr/>
        </p:nvSpPr>
        <p:spPr>
          <a:xfrm>
            <a:off x="796442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1"/>
          <p:cNvSpPr/>
          <p:nvPr/>
        </p:nvSpPr>
        <p:spPr>
          <a:xfrm>
            <a:off x="811987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1"/>
          <p:cNvSpPr/>
          <p:nvPr/>
        </p:nvSpPr>
        <p:spPr>
          <a:xfrm>
            <a:off x="8321040" y="1444752"/>
            <a:ext cx="318211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1"/>
          <p:cNvSpPr/>
          <p:nvPr/>
        </p:nvSpPr>
        <p:spPr>
          <a:xfrm>
            <a:off x="8595360" y="1892807"/>
            <a:ext cx="1216152" cy="347472"/>
          </a:xfrm>
          <a:prstGeom prst="roundRect">
            <a:avLst>
              <a:gd fmla="val 13157" name="adj"/>
            </a:avLst>
          </a:prstGeom>
          <a:solidFill>
            <a:srgbClr val="FFFFFF"/>
          </a:solidFill>
          <a:ln cap="flat" cmpd="sng" w="15875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1"/>
          <p:cNvSpPr/>
          <p:nvPr/>
        </p:nvSpPr>
        <p:spPr>
          <a:xfrm>
            <a:off x="9884664" y="1892807"/>
            <a:ext cx="749808" cy="347472"/>
          </a:xfrm>
          <a:prstGeom prst="roundRect">
            <a:avLst>
              <a:gd fmla="val 13157" name="adj"/>
            </a:avLst>
          </a:prstGeom>
          <a:solidFill>
            <a:srgbClr val="0A7BC2"/>
          </a:solidFill>
          <a:ln cap="flat" cmpd="sng" w="15875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Filtrar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1"/>
          <p:cNvSpPr/>
          <p:nvPr/>
        </p:nvSpPr>
        <p:spPr>
          <a:xfrm>
            <a:off x="10707624" y="1892807"/>
            <a:ext cx="749808" cy="347472"/>
          </a:xfrm>
          <a:prstGeom prst="roundRect">
            <a:avLst>
              <a:gd fmla="val 13157" name="adj"/>
            </a:avLst>
          </a:prstGeom>
          <a:solidFill>
            <a:srgbClr val="648585"/>
          </a:solidFill>
          <a:ln cap="flat" cmpd="sng" w="15875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Limpiar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1"/>
          <p:cNvSpPr txBox="1"/>
          <p:nvPr/>
        </p:nvSpPr>
        <p:spPr>
          <a:xfrm>
            <a:off x="7863840" y="1892807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Nombre: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1"/>
          <p:cNvSpPr/>
          <p:nvPr/>
        </p:nvSpPr>
        <p:spPr>
          <a:xfrm>
            <a:off x="7863840" y="2377440"/>
            <a:ext cx="3593592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1"/>
          <p:cNvSpPr/>
          <p:nvPr/>
        </p:nvSpPr>
        <p:spPr>
          <a:xfrm>
            <a:off x="7680960" y="3657600"/>
            <a:ext cx="960120" cy="548640"/>
          </a:xfrm>
          <a:prstGeom prst="roundRect">
            <a:avLst>
              <a:gd fmla="val 13333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1"/>
          <p:cNvSpPr/>
          <p:nvPr/>
        </p:nvSpPr>
        <p:spPr>
          <a:xfrm>
            <a:off x="9020556" y="3657600"/>
            <a:ext cx="960120" cy="548640"/>
          </a:xfrm>
          <a:prstGeom prst="roundRect">
            <a:avLst>
              <a:gd fmla="val 13333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Filtro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6" name="Google Shape;1186;p41"/>
          <p:cNvCxnSpPr/>
          <p:nvPr/>
        </p:nvCxnSpPr>
        <p:spPr>
          <a:xfrm rot="10800000">
            <a:off x="8686800" y="3767328"/>
            <a:ext cx="288036" cy="0"/>
          </a:xfrm>
          <a:prstGeom prst="straightConnector1">
            <a:avLst/>
          </a:prstGeom>
          <a:noFill/>
          <a:ln cap="flat" cmpd="sng" w="2540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7" name="Google Shape;1187;p41"/>
          <p:cNvCxnSpPr/>
          <p:nvPr/>
        </p:nvCxnSpPr>
        <p:spPr>
          <a:xfrm>
            <a:off x="8686800" y="4096512"/>
            <a:ext cx="288036" cy="0"/>
          </a:xfrm>
          <a:prstGeom prst="straightConnector1">
            <a:avLst/>
          </a:prstGeom>
          <a:noFill/>
          <a:ln cap="flat" cmpd="sng" w="254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8" name="Google Shape;1188;p41"/>
          <p:cNvSpPr/>
          <p:nvPr/>
        </p:nvSpPr>
        <p:spPr>
          <a:xfrm>
            <a:off x="10360152" y="3657600"/>
            <a:ext cx="1280160" cy="548640"/>
          </a:xfrm>
          <a:prstGeom prst="roundRect">
            <a:avLst>
              <a:gd fmla="val 13333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ProductoBL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9" name="Google Shape;1189;p41"/>
          <p:cNvCxnSpPr/>
          <p:nvPr/>
        </p:nvCxnSpPr>
        <p:spPr>
          <a:xfrm>
            <a:off x="10026396" y="3931920"/>
            <a:ext cx="288036" cy="0"/>
          </a:xfrm>
          <a:prstGeom prst="straightConnector1">
            <a:avLst/>
          </a:prstGeom>
          <a:noFill/>
          <a:ln cap="flat" cmpd="sng" w="254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0" name="Google Shape;1190;p41"/>
          <p:cNvSpPr txBox="1"/>
          <p:nvPr/>
        </p:nvSpPr>
        <p:spPr>
          <a:xfrm>
            <a:off x="7680960" y="4343400"/>
            <a:ext cx="39593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= value + evento onchange: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Filtro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actualiza al salir del campo, antes del clic.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Filtrar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llama 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ProductoBL.FilterByName(Filtro)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Limpiar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vacía el filtro y recarga todo.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formularios: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Input*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4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QuickGrid</a:t>
            </a:r>
            <a:endParaRPr sz="3200"/>
          </a:p>
        </p:txBody>
      </p:sp>
      <p:sp>
        <p:nvSpPr>
          <p:cNvPr id="1196" name="Google Shape;1196;p4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Ordenación, plantillas, formato y paginación</a:t>
            </a:r>
            <a:endParaRPr/>
          </a:p>
        </p:txBody>
      </p:sp>
      <p:sp>
        <p:nvSpPr>
          <p:cNvPr id="1197" name="Google Shape;1197;p42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Instalación de QuickGrid</a:t>
            </a:r>
            <a:endParaRPr/>
          </a:p>
        </p:txBody>
      </p:sp>
      <p:sp>
        <p:nvSpPr>
          <p:cNvPr id="1203" name="Google Shape;1203;p4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4" name="Google Shape;1204;p4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43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43"/>
          <p:cNvSpPr txBox="1"/>
          <p:nvPr/>
        </p:nvSpPr>
        <p:spPr>
          <a:xfrm>
            <a:off x="1143000" y="135331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Agregar el paquete NuGet (CLI, o en Rider: Tools → NuGet → Manage NuGet Packages).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3"/>
          <p:cNvSpPr/>
          <p:nvPr/>
        </p:nvSpPr>
        <p:spPr>
          <a:xfrm>
            <a:off x="1143000" y="1874519"/>
            <a:ext cx="635508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43"/>
          <p:cNvSpPr txBox="1"/>
          <p:nvPr/>
        </p:nvSpPr>
        <p:spPr>
          <a:xfrm>
            <a:off x="1289304" y="1965960"/>
            <a:ext cx="6062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dotnet add package Microsoft.AspNetCore.Components.QuickGrid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43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3"/>
          <p:cNvSpPr txBox="1"/>
          <p:nvPr/>
        </p:nvSpPr>
        <p:spPr>
          <a:xfrm>
            <a:off x="1143000" y="267919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Verificar la referencia en SoftProg.Web.csproj.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3"/>
          <p:cNvSpPr/>
          <p:nvPr/>
        </p:nvSpPr>
        <p:spPr>
          <a:xfrm>
            <a:off x="1143000" y="3200400"/>
            <a:ext cx="6355080" cy="777240"/>
          </a:xfrm>
          <a:prstGeom prst="roundRect">
            <a:avLst>
              <a:gd fmla="val 941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3"/>
          <p:cNvSpPr txBox="1"/>
          <p:nvPr/>
        </p:nvSpPr>
        <p:spPr>
          <a:xfrm>
            <a:off x="1289304" y="3291840"/>
            <a:ext cx="60624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&lt;PackageReference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Include=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"Microsoft.AspNetCore.Components.QuickGrid"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Version=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"10.0.12"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3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3"/>
          <p:cNvSpPr txBox="1"/>
          <p:nvPr/>
        </p:nvSpPr>
        <p:spPr>
          <a:xfrm>
            <a:off x="1143000" y="427939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Importar el espacio de nombres en la página (o en _Imports.razor).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43"/>
          <p:cNvSpPr/>
          <p:nvPr/>
        </p:nvSpPr>
        <p:spPr>
          <a:xfrm>
            <a:off x="1143000" y="4800600"/>
            <a:ext cx="635508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3"/>
          <p:cNvSpPr txBox="1"/>
          <p:nvPr/>
        </p:nvSpPr>
        <p:spPr>
          <a:xfrm>
            <a:off x="1289304" y="4892040"/>
            <a:ext cx="6062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Microsoft.AspNetCore.Components.QuickGrid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43"/>
          <p:cNvSpPr/>
          <p:nvPr/>
        </p:nvSpPr>
        <p:spPr>
          <a:xfrm>
            <a:off x="7818120" y="1371600"/>
            <a:ext cx="3822191" cy="4114800"/>
          </a:xfrm>
          <a:prstGeom prst="roundRect">
            <a:avLst>
              <a:gd fmla="val 2392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3"/>
          <p:cNvSpPr/>
          <p:nvPr/>
        </p:nvSpPr>
        <p:spPr>
          <a:xfrm>
            <a:off x="8001000" y="150876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able_FFFFFF.png" id="1219" name="Google Shape;121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1700" y="162946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43"/>
          <p:cNvSpPr txBox="1"/>
          <p:nvPr/>
        </p:nvSpPr>
        <p:spPr>
          <a:xfrm>
            <a:off x="8641080" y="15087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aporta QuickGrid?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3"/>
          <p:cNvSpPr txBox="1"/>
          <p:nvPr/>
        </p:nvSpPr>
        <p:spPr>
          <a:xfrm>
            <a:off x="8001000" y="214884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Ordenación al hacer clic en el encabezado.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Paginación con el componente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Paginator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Columnas con plantillas para botones o casillas.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Formato de números y fechas por columna.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3"/>
          <p:cNvSpPr txBox="1"/>
          <p:nvPr/>
        </p:nvSpPr>
        <p:spPr>
          <a:xfrm>
            <a:off x="8001000" y="3931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3"/>
          <p:cNvSpPr txBox="1"/>
          <p:nvPr/>
        </p:nvSpPr>
        <p:spPr>
          <a:xfrm>
            <a:off x="8001000" y="42519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094A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edita en línea ni filtra por columna.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3094A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filtro se implementa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(paso 7).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4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8: reemplazar la tabla por QuickGrid</a:t>
            </a:r>
            <a:endParaRPr/>
          </a:p>
        </p:txBody>
      </p:sp>
      <p:sp>
        <p:nvSpPr>
          <p:cNvPr id="1229" name="Google Shape;1229;p4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0" name="Google Shape;1230;p4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4"/>
          <p:cNvSpPr/>
          <p:nvPr/>
        </p:nvSpPr>
        <p:spPr>
          <a:xfrm>
            <a:off x="548640" y="1371600"/>
            <a:ext cx="7498079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4"/>
          <p:cNvSpPr/>
          <p:nvPr/>
        </p:nvSpPr>
        <p:spPr>
          <a:xfrm>
            <a:off x="548640" y="1371600"/>
            <a:ext cx="7498079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4"/>
          <p:cNvSpPr/>
          <p:nvPr/>
        </p:nvSpPr>
        <p:spPr>
          <a:xfrm>
            <a:off x="559612" y="1664208"/>
            <a:ext cx="74761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4"/>
          <p:cNvSpPr txBox="1"/>
          <p:nvPr/>
        </p:nvSpPr>
        <p:spPr>
          <a:xfrm>
            <a:off x="685800" y="1389888"/>
            <a:ext cx="72237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4"/>
          <p:cNvSpPr txBox="1"/>
          <p:nvPr/>
        </p:nvSpPr>
        <p:spPr>
          <a:xfrm>
            <a:off x="694944" y="1773936"/>
            <a:ext cx="720547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IProductoBL ProductoBL;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Microsoft.AspNetCore.Components.QuickGrid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&lt;QuickGrid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Items=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Pagination=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p.Id"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 =&gt; p.Nombre"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"Unidad"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p.UnidadMedida"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"Precio (S/)"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p.Precio"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Format=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Sortable=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"Align.Right"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&lt;/QuickGrid&gt;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&lt;Paginator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State=</a:t>
            </a:r>
            <a:r>
              <a:rPr b="0" i="0" lang="en-US" spc="0" sz="10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10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&gt;&lt;/Paginator&gt;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IQueryable&lt;Producto&gt; Productos {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Enumerable.Empty&lt;Producto&gt;().AsQueryable();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PaginationState Paginacion {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10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() { ItemsPerPage = 5 };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OnInitialized()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Productos = ProductoBL.FindAll().AsQueryable();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4"/>
          <p:cNvSpPr/>
          <p:nvPr/>
        </p:nvSpPr>
        <p:spPr>
          <a:xfrm>
            <a:off x="8275320" y="137160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4"/>
          <p:cNvSpPr txBox="1"/>
          <p:nvPr/>
        </p:nvSpPr>
        <p:spPr>
          <a:xfrm>
            <a:off x="8275320" y="1691640"/>
            <a:ext cx="3364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Recibe un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IQueryable&lt;Producto&gt;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la lista del BL se convierte con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AsQueryable()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4"/>
          <p:cNvSpPr/>
          <p:nvPr/>
        </p:nvSpPr>
        <p:spPr>
          <a:xfrm>
            <a:off x="8275320" y="219456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PropertyColumn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4"/>
          <p:cNvSpPr txBox="1"/>
          <p:nvPr/>
        </p:nvSpPr>
        <p:spPr>
          <a:xfrm>
            <a:off x="8275320" y="2514600"/>
            <a:ext cx="3364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Columna a partir de una propiedad (expresión lambda).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4"/>
          <p:cNvSpPr/>
          <p:nvPr/>
        </p:nvSpPr>
        <p:spPr>
          <a:xfrm>
            <a:off x="8275320" y="301752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Sortable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4"/>
          <p:cNvSpPr txBox="1"/>
          <p:nvPr/>
        </p:nvSpPr>
        <p:spPr>
          <a:xfrm>
            <a:off x="8275320" y="3337560"/>
            <a:ext cx="3364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Habilita ordenar al hacer clic en el encabezado.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44"/>
          <p:cNvSpPr/>
          <p:nvPr/>
        </p:nvSpPr>
        <p:spPr>
          <a:xfrm>
            <a:off x="8275320" y="384048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Format · Align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4"/>
          <p:cNvSpPr txBox="1"/>
          <p:nvPr/>
        </p:nvSpPr>
        <p:spPr>
          <a:xfrm>
            <a:off x="8275320" y="4160520"/>
            <a:ext cx="3364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Formato numérico "N2" y alineación a la derecha del precio.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44"/>
          <p:cNvSpPr/>
          <p:nvPr/>
        </p:nvSpPr>
        <p:spPr>
          <a:xfrm>
            <a:off x="8275320" y="4663440"/>
            <a:ext cx="17830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PaginationState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44"/>
          <p:cNvSpPr txBox="1"/>
          <p:nvPr/>
        </p:nvSpPr>
        <p:spPr>
          <a:xfrm>
            <a:off x="8275320" y="4983479"/>
            <a:ext cx="3364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Registros por página;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Paginator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 los controles.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4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Columnas con plantilla: TemplateColumn</a:t>
            </a:r>
            <a:endParaRPr/>
          </a:p>
        </p:txBody>
      </p:sp>
      <p:sp>
        <p:nvSpPr>
          <p:cNvPr id="1256" name="Google Shape;1256;p4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7" name="Google Shape;1257;p4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5"/>
          <p:cNvSpPr/>
          <p:nvPr/>
        </p:nvSpPr>
        <p:spPr>
          <a:xfrm>
            <a:off x="548640" y="1371600"/>
            <a:ext cx="67665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5"/>
          <p:cNvSpPr/>
          <p:nvPr/>
        </p:nvSpPr>
        <p:spPr>
          <a:xfrm>
            <a:off x="548640" y="1371600"/>
            <a:ext cx="67665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5"/>
          <p:cNvSpPr/>
          <p:nvPr/>
        </p:nvSpPr>
        <p:spPr>
          <a:xfrm>
            <a:off x="559612" y="1664208"/>
            <a:ext cx="67446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5"/>
          <p:cNvSpPr txBox="1"/>
          <p:nvPr/>
        </p:nvSpPr>
        <p:spPr>
          <a:xfrm>
            <a:off x="685800" y="1389888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5"/>
          <p:cNvSpPr txBox="1"/>
          <p:nvPr/>
        </p:nvSpPr>
        <p:spPr>
          <a:xfrm>
            <a:off x="694944" y="1773936"/>
            <a:ext cx="64739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&lt;QuickGrid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Items=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Pagination=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... columnas Id, Nombre, Unidad y Precio del paso 8 ... *@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&lt;TemplateColumn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"Activo"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"Align.Center"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checked=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"@context.IsActivo"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disabled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&lt;/TemplateColumn&gt;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&lt;TemplateColumn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"Acciones"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btn-primary btn-sm"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EditarProducto(context.Id)"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Editar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btn-danger btn-sm"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EliminarProducto(context.Id)"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Eliminar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&lt;/TemplateColumn&gt;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&lt;/QuickGrid&gt;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&lt;Paginator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State=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&gt;&lt;/Paginator&gt;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5"/>
          <p:cNvSpPr/>
          <p:nvPr/>
        </p:nvSpPr>
        <p:spPr>
          <a:xfrm>
            <a:off x="7543800" y="1371600"/>
            <a:ext cx="4096512" cy="2423160"/>
          </a:xfrm>
          <a:prstGeom prst="roundRect">
            <a:avLst>
              <a:gd fmla="val 3018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5"/>
          <p:cNvSpPr/>
          <p:nvPr/>
        </p:nvSpPr>
        <p:spPr>
          <a:xfrm>
            <a:off x="7543800" y="1371600"/>
            <a:ext cx="409651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5"/>
          <p:cNvSpPr/>
          <p:nvPr/>
        </p:nvSpPr>
        <p:spPr>
          <a:xfrm>
            <a:off x="7552944" y="1645920"/>
            <a:ext cx="407822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45"/>
          <p:cNvSpPr/>
          <p:nvPr/>
        </p:nvSpPr>
        <p:spPr>
          <a:xfrm>
            <a:off x="767181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5"/>
          <p:cNvSpPr/>
          <p:nvPr/>
        </p:nvSpPr>
        <p:spPr>
          <a:xfrm>
            <a:off x="782726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45"/>
          <p:cNvSpPr/>
          <p:nvPr/>
        </p:nvSpPr>
        <p:spPr>
          <a:xfrm>
            <a:off x="798271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45"/>
          <p:cNvSpPr/>
          <p:nvPr/>
        </p:nvSpPr>
        <p:spPr>
          <a:xfrm>
            <a:off x="8183879" y="1444752"/>
            <a:ext cx="331927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45"/>
          <p:cNvSpPr/>
          <p:nvPr/>
        </p:nvSpPr>
        <p:spPr>
          <a:xfrm>
            <a:off x="7653527" y="1892807"/>
            <a:ext cx="3703320" cy="310896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5"/>
          <p:cNvSpPr txBox="1"/>
          <p:nvPr/>
        </p:nvSpPr>
        <p:spPr>
          <a:xfrm>
            <a:off x="7708392" y="1892807"/>
            <a:ext cx="1161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5"/>
          <p:cNvSpPr txBox="1"/>
          <p:nvPr/>
        </p:nvSpPr>
        <p:spPr>
          <a:xfrm>
            <a:off x="8942832" y="1892807"/>
            <a:ext cx="4754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5"/>
          <p:cNvSpPr txBox="1"/>
          <p:nvPr/>
        </p:nvSpPr>
        <p:spPr>
          <a:xfrm>
            <a:off x="9491472" y="1892807"/>
            <a:ext cx="429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5"/>
          <p:cNvSpPr txBox="1"/>
          <p:nvPr/>
        </p:nvSpPr>
        <p:spPr>
          <a:xfrm>
            <a:off x="9994392" y="1892807"/>
            <a:ext cx="1344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5"/>
          <p:cNvSpPr/>
          <p:nvPr/>
        </p:nvSpPr>
        <p:spPr>
          <a:xfrm>
            <a:off x="7653527" y="2203703"/>
            <a:ext cx="3703320" cy="310896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5"/>
          <p:cNvSpPr txBox="1"/>
          <p:nvPr/>
        </p:nvSpPr>
        <p:spPr>
          <a:xfrm>
            <a:off x="7708392" y="2203703"/>
            <a:ext cx="1161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5"/>
          <p:cNvSpPr txBox="1"/>
          <p:nvPr/>
        </p:nvSpPr>
        <p:spPr>
          <a:xfrm>
            <a:off x="8942832" y="2203703"/>
            <a:ext cx="4754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5"/>
          <p:cNvSpPr/>
          <p:nvPr/>
        </p:nvSpPr>
        <p:spPr>
          <a:xfrm>
            <a:off x="9546335" y="2285999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5"/>
          <p:cNvSpPr/>
          <p:nvPr/>
        </p:nvSpPr>
        <p:spPr>
          <a:xfrm>
            <a:off x="9976103" y="2258568"/>
            <a:ext cx="54864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5"/>
          <p:cNvSpPr/>
          <p:nvPr/>
        </p:nvSpPr>
        <p:spPr>
          <a:xfrm>
            <a:off x="10579607" y="2258568"/>
            <a:ext cx="68580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5"/>
          <p:cNvSpPr/>
          <p:nvPr/>
        </p:nvSpPr>
        <p:spPr>
          <a:xfrm>
            <a:off x="7653527" y="2514600"/>
            <a:ext cx="3703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5"/>
          <p:cNvSpPr txBox="1"/>
          <p:nvPr/>
        </p:nvSpPr>
        <p:spPr>
          <a:xfrm>
            <a:off x="7708392" y="2514600"/>
            <a:ext cx="1161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Lápiz HB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5"/>
          <p:cNvSpPr txBox="1"/>
          <p:nvPr/>
        </p:nvSpPr>
        <p:spPr>
          <a:xfrm>
            <a:off x="8942832" y="2514600"/>
            <a:ext cx="4754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5"/>
          <p:cNvSpPr/>
          <p:nvPr/>
        </p:nvSpPr>
        <p:spPr>
          <a:xfrm>
            <a:off x="9546335" y="2596896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5"/>
          <p:cNvSpPr/>
          <p:nvPr/>
        </p:nvSpPr>
        <p:spPr>
          <a:xfrm>
            <a:off x="9976103" y="2569464"/>
            <a:ext cx="54864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5"/>
          <p:cNvSpPr/>
          <p:nvPr/>
        </p:nvSpPr>
        <p:spPr>
          <a:xfrm>
            <a:off x="10579607" y="2569464"/>
            <a:ext cx="68580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5"/>
          <p:cNvSpPr/>
          <p:nvPr/>
        </p:nvSpPr>
        <p:spPr>
          <a:xfrm>
            <a:off x="7653527" y="2825496"/>
            <a:ext cx="3703320" cy="310896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5"/>
          <p:cNvSpPr txBox="1"/>
          <p:nvPr/>
        </p:nvSpPr>
        <p:spPr>
          <a:xfrm>
            <a:off x="7708392" y="2825496"/>
            <a:ext cx="1161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Mochila Ejecutiva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5"/>
          <p:cNvSpPr txBox="1"/>
          <p:nvPr/>
        </p:nvSpPr>
        <p:spPr>
          <a:xfrm>
            <a:off x="8942832" y="2825496"/>
            <a:ext cx="4754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45.00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5"/>
          <p:cNvSpPr/>
          <p:nvPr/>
        </p:nvSpPr>
        <p:spPr>
          <a:xfrm>
            <a:off x="9546335" y="2907791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5"/>
          <p:cNvSpPr/>
          <p:nvPr/>
        </p:nvSpPr>
        <p:spPr>
          <a:xfrm>
            <a:off x="9976103" y="2880360"/>
            <a:ext cx="54864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5"/>
          <p:cNvSpPr/>
          <p:nvPr/>
        </p:nvSpPr>
        <p:spPr>
          <a:xfrm>
            <a:off x="10579607" y="2880360"/>
            <a:ext cx="68580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5"/>
          <p:cNvSpPr/>
          <p:nvPr/>
        </p:nvSpPr>
        <p:spPr>
          <a:xfrm>
            <a:off x="7653527" y="3136391"/>
            <a:ext cx="3703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5"/>
          <p:cNvSpPr txBox="1"/>
          <p:nvPr/>
        </p:nvSpPr>
        <p:spPr>
          <a:xfrm>
            <a:off x="7708392" y="3136391"/>
            <a:ext cx="1161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Mouse Inalámbrico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5"/>
          <p:cNvSpPr txBox="1"/>
          <p:nvPr/>
        </p:nvSpPr>
        <p:spPr>
          <a:xfrm>
            <a:off x="8942832" y="3136391"/>
            <a:ext cx="4754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34.80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5"/>
          <p:cNvSpPr/>
          <p:nvPr/>
        </p:nvSpPr>
        <p:spPr>
          <a:xfrm>
            <a:off x="9546335" y="3218687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45"/>
          <p:cNvSpPr/>
          <p:nvPr/>
        </p:nvSpPr>
        <p:spPr>
          <a:xfrm>
            <a:off x="9976103" y="3191256"/>
            <a:ext cx="548640" cy="201168"/>
          </a:xfrm>
          <a:prstGeom prst="roundRect">
            <a:avLst>
              <a:gd fmla="val 22727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5"/>
          <p:cNvSpPr/>
          <p:nvPr/>
        </p:nvSpPr>
        <p:spPr>
          <a:xfrm>
            <a:off x="10579607" y="3191256"/>
            <a:ext cx="685800" cy="201168"/>
          </a:xfrm>
          <a:prstGeom prst="roundRect">
            <a:avLst>
              <a:gd fmla="val 22727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45"/>
          <p:cNvCxnSpPr/>
          <p:nvPr/>
        </p:nvCxnSpPr>
        <p:spPr>
          <a:xfrm>
            <a:off x="7653527" y="3447288"/>
            <a:ext cx="3703320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4" name="Google Shape;1304;p45"/>
          <p:cNvSpPr txBox="1"/>
          <p:nvPr/>
        </p:nvSpPr>
        <p:spPr>
          <a:xfrm>
            <a:off x="7653527" y="35387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‹  Página 1 de 2  ›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45"/>
          <p:cNvSpPr txBox="1"/>
          <p:nvPr/>
        </p:nvSpPr>
        <p:spPr>
          <a:xfrm>
            <a:off x="7543800" y="3931920"/>
            <a:ext cx="409651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TemplateColumn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admite cualquier marcado por celda.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la fila actual: un objeto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Align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también se aplica a una columna de plantilla: centra la casilla.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mismo patrón en empleados: propiedades anidadas y formato</a:t>
            </a:r>
            <a:endParaRPr/>
          </a:p>
        </p:txBody>
      </p:sp>
      <p:sp>
        <p:nvSpPr>
          <p:cNvPr id="1311" name="Google Shape;1311;p4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2" name="Google Shape;1312;p4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6"/>
          <p:cNvSpPr/>
          <p:nvPr/>
        </p:nvSpPr>
        <p:spPr>
          <a:xfrm>
            <a:off x="548640" y="1371600"/>
            <a:ext cx="11094415" cy="237744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6"/>
          <p:cNvSpPr/>
          <p:nvPr/>
        </p:nvSpPr>
        <p:spPr>
          <a:xfrm>
            <a:off x="548640" y="1371600"/>
            <a:ext cx="11094415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6"/>
          <p:cNvSpPr/>
          <p:nvPr/>
        </p:nvSpPr>
        <p:spPr>
          <a:xfrm>
            <a:off x="559612" y="1664208"/>
            <a:ext cx="11072469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46"/>
          <p:cNvSpPr txBox="1"/>
          <p:nvPr/>
        </p:nvSpPr>
        <p:spPr>
          <a:xfrm>
            <a:off x="685800" y="1389888"/>
            <a:ext cx="108200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Components/Pages/RRHH/ListarEmpleadosPage.razor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6"/>
          <p:cNvSpPr txBox="1"/>
          <p:nvPr/>
        </p:nvSpPr>
        <p:spPr>
          <a:xfrm>
            <a:off x="694944" y="1773936"/>
            <a:ext cx="10801807" cy="192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&lt;QuickGrid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Items=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"Empleados"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Pagination=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Class=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 =&gt; e.Id"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"DNI"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 =&gt; e.Dni"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"@(e =&gt; e.Nombre + 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 + e.ApellidoPaterno)"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"Área"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 =&gt; e.Area.Nombre"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"Cargo"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 =&gt; TextoCargo(e.Cargo)"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"Sueldo (S/)"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 =&gt; e.Sueldo"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Format=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Sortable=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"Align.Right"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12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... columnas Activo y Acciones, como en productos ... *@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&lt;/QuickGrid&gt;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1" name="Google Shape;1321;p46"/>
          <p:cNvGraphicFramePr/>
          <p:nvPr/>
        </p:nvGraphicFramePr>
        <p:xfrm>
          <a:off x="54864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659000"/>
                <a:gridCol w="4584475"/>
                <a:gridCol w="3850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Propiedad anidada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lambda puede navegar a otro objeto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 =&gt; e.Area.Nombre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Expresión con @( 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Necesaria cuando la lambda tiene comillas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e.Nombre + " " + ...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Método en la lambda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Convierte el valor antes de mostrarlo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 =&gt; TextoCargo(e.Cargo)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Format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Formato .NET para números y fechas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"N2"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Align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Alineación del contenido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pc="0" sz="10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Align.Right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Listado de productos completo: marcado</a:t>
            </a:r>
            <a:endParaRPr/>
          </a:p>
        </p:txBody>
      </p:sp>
      <p:sp>
        <p:nvSpPr>
          <p:cNvPr id="1327" name="Google Shape;1327;p4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8" name="Google Shape;1328;p4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47"/>
          <p:cNvSpPr/>
          <p:nvPr/>
        </p:nvSpPr>
        <p:spPr>
          <a:xfrm>
            <a:off x="548640" y="1371600"/>
            <a:ext cx="544068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7"/>
          <p:cNvSpPr/>
          <p:nvPr/>
        </p:nvSpPr>
        <p:spPr>
          <a:xfrm>
            <a:off x="548640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7"/>
          <p:cNvSpPr/>
          <p:nvPr/>
        </p:nvSpPr>
        <p:spPr>
          <a:xfrm>
            <a:off x="559612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7"/>
          <p:cNvSpPr txBox="1"/>
          <p:nvPr/>
        </p:nvSpPr>
        <p:spPr>
          <a:xfrm>
            <a:off x="685800" y="1389888"/>
            <a:ext cx="51663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 (encabezado y filtro)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7"/>
          <p:cNvSpPr txBox="1"/>
          <p:nvPr/>
        </p:nvSpPr>
        <p:spPr>
          <a:xfrm>
            <a:off x="694950" y="1691650"/>
            <a:ext cx="5147940" cy="3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@attribute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[Authorize(Policy =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IProductoBL ProductoBL;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IJSRuntime JS;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Microsoft.AspNetCore.Components.QuickGrid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&lt;PageTitle&gt;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&lt;/PageTitle&gt;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"d-flex justify-content-between mb-3"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btn-success"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NuevoProducto()"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Nuevo producto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"d-flex align-items-center gap-2 mb-3"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"text-nowrap"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Nombre: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placeholder=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"Ingrese el nombre..."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"Filtro"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FiltrarProductos()"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Filtrar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btn-secondary"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LimpiarFiltro()"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Limpiar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7"/>
          <p:cNvSpPr/>
          <p:nvPr/>
        </p:nvSpPr>
        <p:spPr>
          <a:xfrm>
            <a:off x="6199632" y="1371600"/>
            <a:ext cx="544068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7"/>
          <p:cNvSpPr/>
          <p:nvPr/>
        </p:nvSpPr>
        <p:spPr>
          <a:xfrm>
            <a:off x="6199632" y="1371600"/>
            <a:ext cx="5440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7"/>
          <p:cNvSpPr/>
          <p:nvPr/>
        </p:nvSpPr>
        <p:spPr>
          <a:xfrm>
            <a:off x="6210604" y="1664208"/>
            <a:ext cx="5418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7"/>
          <p:cNvSpPr txBox="1"/>
          <p:nvPr/>
        </p:nvSpPr>
        <p:spPr>
          <a:xfrm>
            <a:off x="6336792" y="1389888"/>
            <a:ext cx="516635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 (listado)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47"/>
          <p:cNvSpPr txBox="1"/>
          <p:nvPr/>
        </p:nvSpPr>
        <p:spPr>
          <a:xfrm>
            <a:off x="6345942" y="1691650"/>
            <a:ext cx="5147940" cy="3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(!Productos.Any())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alert-info"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 hay productos registrados.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&lt;QuickGrid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Items=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Pagination=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Class=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p.Id"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p.Nombre"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"Unidad"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Property=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 =&gt; TextoUnidadMedida(p.UnidadMedida)"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"Precio (S/)"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 =&gt; p.Precio"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Format=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"Align.Right"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&lt;TemplateColumn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"Activo"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"Align.Center"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checked=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"@context.IsActivo"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disabled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&lt;/TemplateColumn&gt;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&lt;TemplateColumn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"Acciones"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btn-sm"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EditarProducto(context.Id)"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Editar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btn-danger btn-sm"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EliminarProducto(context.Id)"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Eliminar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&lt;/TemplateColumn&gt;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&lt;/QuickGrid&gt;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&lt;Paginator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&gt;&lt;/Paginator&gt;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Listado de productos completo: bloque @code</a:t>
            </a:r>
            <a:endParaRPr/>
          </a:p>
        </p:txBody>
      </p:sp>
      <p:sp>
        <p:nvSpPr>
          <p:cNvPr id="1355" name="Google Shape;1355;p4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6" name="Google Shape;1356;p4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8"/>
          <p:cNvSpPr/>
          <p:nvPr/>
        </p:nvSpPr>
        <p:spPr>
          <a:xfrm>
            <a:off x="548640" y="1371600"/>
            <a:ext cx="658368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8"/>
          <p:cNvSpPr/>
          <p:nvPr/>
        </p:nvSpPr>
        <p:spPr>
          <a:xfrm>
            <a:off x="548640" y="1371600"/>
            <a:ext cx="65836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8"/>
          <p:cNvSpPr/>
          <p:nvPr/>
        </p:nvSpPr>
        <p:spPr>
          <a:xfrm>
            <a:off x="559612" y="1664208"/>
            <a:ext cx="65617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8"/>
          <p:cNvSpPr txBox="1"/>
          <p:nvPr/>
        </p:nvSpPr>
        <p:spPr>
          <a:xfrm>
            <a:off x="685800" y="1389888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Estado, carga, unidad de medida y filtro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8"/>
          <p:cNvSpPr txBox="1"/>
          <p:nvPr/>
        </p:nvSpPr>
        <p:spPr>
          <a:xfrm>
            <a:off x="694944" y="1773936"/>
            <a:ext cx="629107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IQueryable&lt;Producto&gt; Productos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Enumerable.Empty&lt;Producto&gt;().AsQueryable();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Filtro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.Empty;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PaginationState Paginacion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() { ItemsPerPage = 5 };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OnInitialized()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Productos = ProductoBL.FindAll().AsQueryable();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TextoUnidadMedida(UnidadMedida unidad)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unidad switch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UnidadMedida.UND =&gt;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"Unidad"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UnidadMedida.KG =&gt;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"Kilogramo"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UnidadMedida.LITRO =&gt;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"Litro"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_ =&gt;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"Unidad"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FiltrarProductos()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Productos = ProductoBL.FilterByName(Filtro).AsQueryable();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LimpiarFiltro()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Filtro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.Empty;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Productos = ProductoBL.FindAll().AsQueryable();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8"/>
          <p:cNvSpPr/>
          <p:nvPr/>
        </p:nvSpPr>
        <p:spPr>
          <a:xfrm>
            <a:off x="7296912" y="1371600"/>
            <a:ext cx="4343400" cy="338328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8"/>
          <p:cNvSpPr/>
          <p:nvPr/>
        </p:nvSpPr>
        <p:spPr>
          <a:xfrm>
            <a:off x="7296912" y="1371600"/>
            <a:ext cx="43434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8"/>
          <p:cNvSpPr/>
          <p:nvPr/>
        </p:nvSpPr>
        <p:spPr>
          <a:xfrm>
            <a:off x="7307884" y="1664208"/>
            <a:ext cx="43214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48"/>
          <p:cNvSpPr txBox="1"/>
          <p:nvPr/>
        </p:nvSpPr>
        <p:spPr>
          <a:xfrm>
            <a:off x="7434072" y="138988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Navegación y eliminación (confirmación: sección 8)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8"/>
          <p:cNvSpPr txBox="1"/>
          <p:nvPr/>
        </p:nvSpPr>
        <p:spPr>
          <a:xfrm>
            <a:off x="7443216" y="1773936"/>
            <a:ext cx="4050791" cy="2935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NuevoProducto()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Nav.NavigateTo(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"/productos/nuevo"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EditarProducto(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Nav.NavigateTo(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$"/productos/editar/{id}"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async Task EliminarProducto(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confirmado = await JS.InvokeAsync&lt;bool&gt;(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"confirmarEliminacion"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"¿Está seguro de eliminar el producto?"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(!confirmado)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ProductoBL.Delete(id);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Productos = ProductoBL.FindAll().AsQueryable();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48"/>
          <p:cNvSpPr/>
          <p:nvPr/>
        </p:nvSpPr>
        <p:spPr>
          <a:xfrm>
            <a:off x="7296912" y="4910328"/>
            <a:ext cx="4343400" cy="594360"/>
          </a:xfrm>
          <a:prstGeom prst="roundRect">
            <a:avLst>
              <a:gd fmla="val 8695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48"/>
          <p:cNvSpPr txBox="1"/>
          <p:nvPr/>
        </p:nvSpPr>
        <p:spPr>
          <a:xfrm>
            <a:off x="7406640" y="491032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es lo que recibe QuickGrid;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FilterByName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del BL devuelve la lista ya filtrada.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4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Errores frecuentes al usar QuickGrid</a:t>
            </a:r>
            <a:endParaRPr/>
          </a:p>
        </p:txBody>
      </p:sp>
      <p:sp>
        <p:nvSpPr>
          <p:cNvPr id="1377" name="Google Shape;1377;p4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8" name="Google Shape;1378;p4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9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9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1381" name="Google Shape;13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538" y="169849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49"/>
          <p:cNvSpPr txBox="1"/>
          <p:nvPr/>
        </p:nvSpPr>
        <p:spPr>
          <a:xfrm>
            <a:off x="1417319" y="157276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TemplateColumn no tiene Property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9"/>
          <p:cNvSpPr txBox="1"/>
          <p:nvPr/>
        </p:nvSpPr>
        <p:spPr>
          <a:xfrm>
            <a:off x="777240" y="224028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Para ordenar una columna de plantilla se usa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SortBy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GridSort&lt;T&gt;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solo existe en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PropertyColumn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9"/>
          <p:cNvSpPr/>
          <p:nvPr/>
        </p:nvSpPr>
        <p:spPr>
          <a:xfrm>
            <a:off x="6199631" y="1371600"/>
            <a:ext cx="5440680" cy="192024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9"/>
          <p:cNvSpPr/>
          <p:nvPr/>
        </p:nvSpPr>
        <p:spPr>
          <a:xfrm>
            <a:off x="6400799" y="1572768"/>
            <a:ext cx="502920" cy="5029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1386" name="Google Shape;138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6529" y="169849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49"/>
          <p:cNvSpPr txBox="1"/>
          <p:nvPr/>
        </p:nvSpPr>
        <p:spPr>
          <a:xfrm>
            <a:off x="7068312" y="157276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Items debe ser IQueryable&lt;T&gt;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9"/>
          <p:cNvSpPr txBox="1"/>
          <p:nvPr/>
        </p:nvSpPr>
        <p:spPr>
          <a:xfrm>
            <a:off x="6428231" y="224028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lista del BL se convierte con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AsQueryable()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una sola vez, al cargar o filtrar los datos, no dentro del marcado.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9"/>
          <p:cNvSpPr/>
          <p:nvPr/>
        </p:nvSpPr>
        <p:spPr>
          <a:xfrm>
            <a:off x="548640" y="3474720"/>
            <a:ext cx="5440680" cy="192024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9"/>
          <p:cNvSpPr/>
          <p:nvPr/>
        </p:nvSpPr>
        <p:spPr>
          <a:xfrm>
            <a:off x="749808" y="3675887"/>
            <a:ext cx="502920" cy="5029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1391" name="Google Shape;13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538" y="380161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49"/>
          <p:cNvSpPr txBox="1"/>
          <p:nvPr/>
        </p:nvSpPr>
        <p:spPr>
          <a:xfrm>
            <a:off x="1417319" y="3675887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Propiedades anidadas nulas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9"/>
          <p:cNvSpPr txBox="1"/>
          <p:nvPr/>
        </p:nvSpPr>
        <p:spPr>
          <a:xfrm>
            <a:off x="777240" y="43434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e =&gt; e.Area.Nombre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u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 =&gt; o.Cliente!.Nombre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fallan si el objeto relacionado es null. El DAO debe cargarlo.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9"/>
          <p:cNvSpPr/>
          <p:nvPr/>
        </p:nvSpPr>
        <p:spPr>
          <a:xfrm>
            <a:off x="6199631" y="3474720"/>
            <a:ext cx="5440680" cy="192024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9"/>
          <p:cNvSpPr/>
          <p:nvPr/>
        </p:nvSpPr>
        <p:spPr>
          <a:xfrm>
            <a:off x="6400799" y="3675887"/>
            <a:ext cx="502920" cy="5029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1396" name="Google Shape;139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6529" y="380161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49"/>
          <p:cNvSpPr txBox="1"/>
          <p:nvPr/>
        </p:nvSpPr>
        <p:spPr>
          <a:xfrm>
            <a:off x="7068312" y="3675887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Recargar después de modificar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9"/>
          <p:cNvSpPr txBox="1"/>
          <p:nvPr/>
        </p:nvSpPr>
        <p:spPr>
          <a:xfrm>
            <a:off x="6428231" y="43434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Tras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vuelve a asignar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 los datos del BL para mostrar los cambios.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5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Directivas Razor utilizadas hasta ahora</a:t>
            </a:r>
            <a:endParaRPr/>
          </a:p>
        </p:txBody>
      </p:sp>
      <p:sp>
        <p:nvSpPr>
          <p:cNvPr id="1404" name="Google Shape;1404;p5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5" name="Google Shape;1405;p5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5 ·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6" name="Google Shape;1406;p5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659000"/>
                <a:gridCol w="4217700"/>
                <a:gridCol w="42177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Directiva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Propósito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en SoftProg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la ruta (URL) del 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@page "/productos"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@inject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Inyecta un servicio registrado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@inject IProductoBL ProductoBL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@using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Importa un espacio de nombres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@using SoftProg.Modelo.Almacen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@code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Bloque con los miembros C# del 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@code { ... }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@if / @foreach / @switch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Estructuras de control en el marcado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@foreach (Producto p in ...)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@onclick / @bind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Eventos y enlace de datos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@bind="Filtro"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@layout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Cambia el layout de una página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@layout MainLayout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@attribute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Agrega un atributo .NET a la clase (sección 9)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@attribute [Authorize]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@inherits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 la clase base del 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@inherits LayoutComponentBase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Formularios, validación y ViewModels</a:t>
            </a:r>
            <a:endParaRPr sz="3200"/>
          </a:p>
        </p:txBody>
      </p:sp>
      <p:sp>
        <p:nvSpPr>
          <p:cNvPr id="1412" name="Google Shape;1412;p5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Formulario de productos paso a paso; clientes y empleados</a:t>
            </a:r>
            <a:endParaRPr/>
          </a:p>
        </p:txBody>
      </p:sp>
      <p:sp>
        <p:nvSpPr>
          <p:cNvPr id="1413" name="Google Shape;1413;p51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5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1: rutas con parámetros para crear y editar</a:t>
            </a:r>
            <a:endParaRPr/>
          </a:p>
        </p:txBody>
      </p:sp>
      <p:sp>
        <p:nvSpPr>
          <p:cNvPr id="1419" name="Google Shape;1419;p5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0" name="Google Shape;1420;p5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52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52"/>
          <p:cNvSpPr/>
          <p:nvPr/>
        </p:nvSpPr>
        <p:spPr>
          <a:xfrm>
            <a:off x="548640" y="1371600"/>
            <a:ext cx="58521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52"/>
          <p:cNvSpPr/>
          <p:nvPr/>
        </p:nvSpPr>
        <p:spPr>
          <a:xfrm>
            <a:off x="559612" y="1664208"/>
            <a:ext cx="58302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52"/>
          <p:cNvSpPr txBox="1"/>
          <p:nvPr/>
        </p:nvSpPr>
        <p:spPr>
          <a:xfrm>
            <a:off x="685800" y="1389888"/>
            <a:ext cx="5577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Components/Pages/Almacen/GestionarProductosPage.razor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52"/>
          <p:cNvSpPr txBox="1"/>
          <p:nvPr/>
        </p:nvSpPr>
        <p:spPr>
          <a:xfrm>
            <a:off x="694944" y="1773936"/>
            <a:ext cx="5559552" cy="256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"/productos/nuevo"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"/productos/editar/{Id:int}"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@attribute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[Authorize(Policy = 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IProductoBL ProductoBL;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&lt;PageTitle&gt;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Productos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&lt;/PageTitle&gt;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Id ==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? 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"Nuevo producto"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: 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"Editar producto"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[Parameter]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? Id {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52"/>
          <p:cNvSpPr txBox="1"/>
          <p:nvPr/>
        </p:nvSpPr>
        <p:spPr>
          <a:xfrm>
            <a:off x="548640" y="457200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segmento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{Id}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asigna a la propiedad pública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marcada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[Parameter]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misma página atiende la creación y la edición: tiene dos directivas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0" name="Google Shape;1430;p52"/>
          <p:cNvGraphicFramePr/>
          <p:nvPr/>
        </p:nvGraphicFramePr>
        <p:xfrm>
          <a:off x="66294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331725"/>
                <a:gridCol w="2679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solicitada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/productos/nuevo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= null → modo creación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/productos/editar/3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= 3 → modo edición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/productos/editar/abc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cumple :int → NotFound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1" name="Google Shape;1431;p52"/>
          <p:cNvSpPr txBox="1"/>
          <p:nvPr/>
        </p:nvSpPr>
        <p:spPr>
          <a:xfrm>
            <a:off x="6629400" y="3154680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Restricciones de tipo frecuentes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52"/>
          <p:cNvSpPr/>
          <p:nvPr/>
        </p:nvSpPr>
        <p:spPr>
          <a:xfrm>
            <a:off x="6629400" y="3493008"/>
            <a:ext cx="2459736" cy="329184"/>
          </a:xfrm>
          <a:prstGeom prst="roundRect">
            <a:avLst>
              <a:gd fmla="val 5000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{Id:int}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52"/>
          <p:cNvSpPr/>
          <p:nvPr/>
        </p:nvSpPr>
        <p:spPr>
          <a:xfrm>
            <a:off x="9180576" y="3493008"/>
            <a:ext cx="2459736" cy="329184"/>
          </a:xfrm>
          <a:prstGeom prst="roundRect">
            <a:avLst>
              <a:gd fmla="val 5000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{Fecha:datetime}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52"/>
          <p:cNvSpPr/>
          <p:nvPr/>
        </p:nvSpPr>
        <p:spPr>
          <a:xfrm>
            <a:off x="6629400" y="3904487"/>
            <a:ext cx="2459736" cy="329184"/>
          </a:xfrm>
          <a:prstGeom prst="roundRect">
            <a:avLst>
              <a:gd fmla="val 5000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{Activo:bool}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52"/>
          <p:cNvSpPr/>
          <p:nvPr/>
        </p:nvSpPr>
        <p:spPr>
          <a:xfrm>
            <a:off x="9180576" y="3904487"/>
            <a:ext cx="2459736" cy="329184"/>
          </a:xfrm>
          <a:prstGeom prst="roundRect">
            <a:avLst>
              <a:gd fmla="val 50000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{Id:int?}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52"/>
          <p:cNvSpPr/>
          <p:nvPr/>
        </p:nvSpPr>
        <p:spPr>
          <a:xfrm>
            <a:off x="6629400" y="4434840"/>
            <a:ext cx="5010912" cy="1069848"/>
          </a:xfrm>
          <a:prstGeom prst="roundRect">
            <a:avLst>
              <a:gd fmla="val 8547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52"/>
          <p:cNvSpPr txBox="1"/>
          <p:nvPr/>
        </p:nvSpPr>
        <p:spPr>
          <a:xfrm>
            <a:off x="6766560" y="4453128"/>
            <a:ext cx="4754880" cy="1033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Query string para filtros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/empleados/nuevo?cuenta=5 se lee con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[SupplyParameterFromQuery(Name = "cuenta")]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2: ¿por qué no enlazar el formulario directamente a Producto?</a:t>
            </a:r>
            <a:endParaRPr/>
          </a:p>
        </p:txBody>
      </p:sp>
      <p:sp>
        <p:nvSpPr>
          <p:cNvPr id="1443" name="Google Shape;1443;p5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4" name="Google Shape;1444;p5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53"/>
          <p:cNvSpPr/>
          <p:nvPr/>
        </p:nvSpPr>
        <p:spPr>
          <a:xfrm>
            <a:off x="548640" y="1371600"/>
            <a:ext cx="5486400" cy="3520440"/>
          </a:xfrm>
          <a:prstGeom prst="roundRect">
            <a:avLst>
              <a:gd fmla="val 20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53"/>
          <p:cNvSpPr/>
          <p:nvPr/>
        </p:nvSpPr>
        <p:spPr>
          <a:xfrm>
            <a:off x="548640" y="1371600"/>
            <a:ext cx="54864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53"/>
          <p:cNvSpPr/>
          <p:nvPr/>
        </p:nvSpPr>
        <p:spPr>
          <a:xfrm>
            <a:off x="559612" y="1664208"/>
            <a:ext cx="54644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53"/>
          <p:cNvSpPr txBox="1"/>
          <p:nvPr/>
        </p:nvSpPr>
        <p:spPr>
          <a:xfrm>
            <a:off x="685800" y="138988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SoftProg.Modelo/Almacen/Producto.cs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53"/>
          <p:cNvSpPr txBox="1"/>
          <p:nvPr/>
        </p:nvSpPr>
        <p:spPr>
          <a:xfrm>
            <a:off x="694944" y="1773936"/>
            <a:ext cx="5193792" cy="3072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 : Registro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Nombre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ArgumentException.ThrowIfNullOrEmpty(value);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= value;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Precio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ArgumentOutOfRangeException.ThrowIfLessThan(value, 0);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= value;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53"/>
          <p:cNvSpPr/>
          <p:nvPr/>
        </p:nvSpPr>
        <p:spPr>
          <a:xfrm>
            <a:off x="6355080" y="1417320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53"/>
          <p:cNvSpPr txBox="1"/>
          <p:nvPr/>
        </p:nvSpPr>
        <p:spPr>
          <a:xfrm>
            <a:off x="6949440" y="1307592"/>
            <a:ext cx="46908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usuario borra el nombre o escribe un precio negativo.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4" name="Google Shape;1454;p53"/>
          <p:cNvCxnSpPr/>
          <p:nvPr/>
        </p:nvCxnSpPr>
        <p:spPr>
          <a:xfrm>
            <a:off x="6574536" y="1874519"/>
            <a:ext cx="0" cy="365761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5" name="Google Shape;1455;p53"/>
          <p:cNvSpPr/>
          <p:nvPr/>
        </p:nvSpPr>
        <p:spPr>
          <a:xfrm>
            <a:off x="6355080" y="2258568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53"/>
          <p:cNvSpPr txBox="1"/>
          <p:nvPr/>
        </p:nvSpPr>
        <p:spPr>
          <a:xfrm>
            <a:off x="6949440" y="2148840"/>
            <a:ext cx="46908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asigna el valor directamente a 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p53"/>
          <p:cNvCxnSpPr/>
          <p:nvPr/>
        </p:nvCxnSpPr>
        <p:spPr>
          <a:xfrm>
            <a:off x="6574536" y="2715768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8" name="Google Shape;1458;p53"/>
          <p:cNvSpPr/>
          <p:nvPr/>
        </p:nvSpPr>
        <p:spPr>
          <a:xfrm>
            <a:off x="6355080" y="3099816"/>
            <a:ext cx="438912" cy="438912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53"/>
          <p:cNvSpPr txBox="1"/>
          <p:nvPr/>
        </p:nvSpPr>
        <p:spPr>
          <a:xfrm>
            <a:off x="6949440" y="2990088"/>
            <a:ext cx="46908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setter lanza una excepción.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0" name="Google Shape;1460;p53"/>
          <p:cNvCxnSpPr/>
          <p:nvPr/>
        </p:nvCxnSpPr>
        <p:spPr>
          <a:xfrm>
            <a:off x="6574536" y="3557016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1" name="Google Shape;1461;p53"/>
          <p:cNvSpPr/>
          <p:nvPr/>
        </p:nvSpPr>
        <p:spPr>
          <a:xfrm>
            <a:off x="6355080" y="3941064"/>
            <a:ext cx="438912" cy="438912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53"/>
          <p:cNvSpPr txBox="1"/>
          <p:nvPr/>
        </p:nvSpPr>
        <p:spPr>
          <a:xfrm>
            <a:off x="6949440" y="3831336"/>
            <a:ext cx="46908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Error no controlado en el circuito: la página deja de responder.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53"/>
          <p:cNvSpPr/>
          <p:nvPr/>
        </p:nvSpPr>
        <p:spPr>
          <a:xfrm>
            <a:off x="548640" y="5029200"/>
            <a:ext cx="11094415" cy="484632"/>
          </a:xfrm>
          <a:prstGeom prst="roundRect">
            <a:avLst>
              <a:gd fmla="val 18867" name="adj"/>
            </a:avLst>
          </a:prstGeom>
          <a:solidFill>
            <a:srgbClr val="16C78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ightbulb_042354.png" id="1464" name="Google Shape;146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0840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53"/>
          <p:cNvSpPr txBox="1"/>
          <p:nvPr/>
        </p:nvSpPr>
        <p:spPr>
          <a:xfrm>
            <a:off x="1280160" y="5029200"/>
            <a:ext cx="10180015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modelo protege sus reglas; el formulario necesita un objeto que acepte valores temporales y muestre mensajes: el </a:t>
            </a: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ViewModel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5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ViewModel: el modelo de la vista</a:t>
            </a:r>
            <a:endParaRPr/>
          </a:p>
        </p:txBody>
      </p:sp>
      <p:sp>
        <p:nvSpPr>
          <p:cNvPr id="1471" name="Google Shape;1471;p5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2" name="Google Shape;1472;p5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54"/>
          <p:cNvSpPr/>
          <p:nvPr/>
        </p:nvSpPr>
        <p:spPr>
          <a:xfrm>
            <a:off x="548640" y="1463040"/>
            <a:ext cx="3136392" cy="1234440"/>
          </a:xfrm>
          <a:prstGeom prst="roundRect">
            <a:avLst>
              <a:gd fmla="val 5925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SoftProg.Modelo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 del dominio · usado por BL y DAO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54"/>
          <p:cNvSpPr/>
          <p:nvPr/>
        </p:nvSpPr>
        <p:spPr>
          <a:xfrm>
            <a:off x="4526280" y="1463040"/>
            <a:ext cx="3136392" cy="1234440"/>
          </a:xfrm>
          <a:prstGeom prst="roundRect">
            <a:avLst>
              <a:gd fmla="val 5925" name="adj"/>
            </a:avLst>
          </a:prstGeom>
          <a:solidFill>
            <a:srgbClr val="0A7BC2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ProductoViewModel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SoftProg.Web/ViewModels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campos del formulario · DataAnnotations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54"/>
          <p:cNvSpPr/>
          <p:nvPr/>
        </p:nvSpPr>
        <p:spPr>
          <a:xfrm>
            <a:off x="8503920" y="1463040"/>
            <a:ext cx="3136392" cy="1234440"/>
          </a:xfrm>
          <a:prstGeom prst="roundRect">
            <a:avLst>
              <a:gd fmla="val 5925" name="adj"/>
            </a:avLst>
          </a:prstGeom>
          <a:solidFill>
            <a:srgbClr val="16C78E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EditForm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GestionarProductosPage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ve y edita el 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6" name="Google Shape;1476;p54"/>
          <p:cNvCxnSpPr/>
          <p:nvPr/>
        </p:nvCxnSpPr>
        <p:spPr>
          <a:xfrm>
            <a:off x="3712463" y="1874519"/>
            <a:ext cx="786385" cy="0"/>
          </a:xfrm>
          <a:prstGeom prst="straightConnector1">
            <a:avLst/>
          </a:prstGeom>
          <a:noFill/>
          <a:ln cap="flat" cmpd="sng" w="2540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7" name="Google Shape;1477;p54"/>
          <p:cNvCxnSpPr/>
          <p:nvPr/>
        </p:nvCxnSpPr>
        <p:spPr>
          <a:xfrm rot="10800000">
            <a:off x="3712463" y="2331720"/>
            <a:ext cx="786385" cy="0"/>
          </a:xfrm>
          <a:prstGeom prst="straightConnector1">
            <a:avLst/>
          </a:prstGeom>
          <a:noFill/>
          <a:ln cap="flat" cmpd="sng" w="2540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8" name="Google Shape;1478;p54"/>
          <p:cNvSpPr txBox="1"/>
          <p:nvPr/>
        </p:nvSpPr>
        <p:spPr>
          <a:xfrm>
            <a:off x="3429000" y="1188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54"/>
          <p:cNvSpPr txBox="1"/>
          <p:nvPr/>
        </p:nvSpPr>
        <p:spPr>
          <a:xfrm>
            <a:off x="3429000" y="27249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ToModelo()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54"/>
          <p:cNvCxnSpPr/>
          <p:nvPr/>
        </p:nvCxnSpPr>
        <p:spPr>
          <a:xfrm>
            <a:off x="7690104" y="1874519"/>
            <a:ext cx="786384" cy="0"/>
          </a:xfrm>
          <a:prstGeom prst="straightConnector1">
            <a:avLst/>
          </a:prstGeom>
          <a:noFill/>
          <a:ln cap="flat" cmpd="sng" w="254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1" name="Google Shape;1481;p54"/>
          <p:cNvCxnSpPr/>
          <p:nvPr/>
        </p:nvCxnSpPr>
        <p:spPr>
          <a:xfrm rot="10800000">
            <a:off x="7690104" y="2331720"/>
            <a:ext cx="786384" cy="0"/>
          </a:xfrm>
          <a:prstGeom prst="straightConnector1">
            <a:avLst/>
          </a:prstGeom>
          <a:noFill/>
          <a:ln cap="flat" cmpd="sng" w="254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2" name="Google Shape;1482;p54"/>
          <p:cNvSpPr txBox="1"/>
          <p:nvPr/>
        </p:nvSpPr>
        <p:spPr>
          <a:xfrm>
            <a:off x="7406640" y="1188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54"/>
          <p:cNvSpPr txBox="1"/>
          <p:nvPr/>
        </p:nvSpPr>
        <p:spPr>
          <a:xfrm>
            <a:off x="548640" y="3017520"/>
            <a:ext cx="56692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Contiene </a:t>
            </a:r>
            <a:r>
              <a:rPr b="1" lang="en-US">
                <a:solidFill>
                  <a:srgbClr val="191919"/>
                </a:solidFill>
              </a:rPr>
              <a:t>sólo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los datos que la pantalla necesita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Acepta valores vacíos o inválidos mientras el usuario edita.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Declara las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reglas de presentación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 atributos y mensajes en español.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es una capa nueva: es una clase más del proyecto web.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4" name="Google Shape;1484;p54"/>
          <p:cNvGraphicFramePr/>
          <p:nvPr/>
        </p:nvGraphicFramePr>
        <p:xfrm>
          <a:off x="6492240" y="301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2560325"/>
                <a:gridCol w="25877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Pantalla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Objeto que se enlaza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Listados (solo lectura)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Producto, Cliente, Empleado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Formulario de productos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ProductoViewModel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Formulario de clientes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ClienteViewModel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Formulario de empleados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EmpleadoViewModel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  <p:sp>
        <p:nvSpPr>
          <p:cNvPr id="1485" name="Google Shape;1485;p54"/>
          <p:cNvSpPr txBox="1"/>
          <p:nvPr/>
        </p:nvSpPr>
        <p:spPr>
          <a:xfrm>
            <a:off x="6492240" y="5120640"/>
            <a:ext cx="51480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Si solo se muestra, el modelo basta; si se edita y valida, se usa un ViewModel.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5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3: ProductoViewModel con DataAnnotations</a:t>
            </a:r>
            <a:endParaRPr/>
          </a:p>
        </p:txBody>
      </p:sp>
      <p:sp>
        <p:nvSpPr>
          <p:cNvPr id="1491" name="Google Shape;1491;p5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2" name="Google Shape;1492;p5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55"/>
          <p:cNvSpPr/>
          <p:nvPr/>
        </p:nvSpPr>
        <p:spPr>
          <a:xfrm>
            <a:off x="548640" y="1371600"/>
            <a:ext cx="576072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55"/>
          <p:cNvSpPr/>
          <p:nvPr/>
        </p:nvSpPr>
        <p:spPr>
          <a:xfrm>
            <a:off x="548640" y="1371600"/>
            <a:ext cx="57607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55"/>
          <p:cNvSpPr/>
          <p:nvPr/>
        </p:nvSpPr>
        <p:spPr>
          <a:xfrm>
            <a:off x="559612" y="1664208"/>
            <a:ext cx="57387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5"/>
          <p:cNvSpPr txBox="1"/>
          <p:nvPr/>
        </p:nvSpPr>
        <p:spPr>
          <a:xfrm>
            <a:off x="685800" y="138988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ViewModels/ProductoViewModel.cs (propiedades)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55"/>
          <p:cNvSpPr txBox="1"/>
          <p:nvPr/>
        </p:nvSpPr>
        <p:spPr>
          <a:xfrm>
            <a:off x="694944" y="1773936"/>
            <a:ext cx="5468112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ProductoViewModel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Id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[Required(ErrorMessage =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"El nombre es obligatorio"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[StringLength(100, ErrorMessage =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"Máximo 100 caracteres"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Nombre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UnidadMedida UnidadMedida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[Range(0.01, 99999, ErrorMessage = 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"Debe ser mayor a 0"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Precio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IsActivo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55"/>
          <p:cNvSpPr/>
          <p:nvPr/>
        </p:nvSpPr>
        <p:spPr>
          <a:xfrm>
            <a:off x="6492240" y="1371600"/>
            <a:ext cx="5148072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55"/>
          <p:cNvSpPr/>
          <p:nvPr/>
        </p:nvSpPr>
        <p:spPr>
          <a:xfrm>
            <a:off x="6492240" y="1371600"/>
            <a:ext cx="514807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55"/>
          <p:cNvSpPr/>
          <p:nvPr/>
        </p:nvSpPr>
        <p:spPr>
          <a:xfrm>
            <a:off x="6503212" y="1664208"/>
            <a:ext cx="512612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55"/>
          <p:cNvSpPr txBox="1"/>
          <p:nvPr/>
        </p:nvSpPr>
        <p:spPr>
          <a:xfrm>
            <a:off x="6629400" y="1389888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Conversión desde y hacia el modelo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55"/>
          <p:cNvSpPr txBox="1"/>
          <p:nvPr/>
        </p:nvSpPr>
        <p:spPr>
          <a:xfrm>
            <a:off x="6638544" y="1773936"/>
            <a:ext cx="4855464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ProductoViewModel() {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ProductoViewModel(Producto producto)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Id = producto.Id;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Nombre = producto.Nombre;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UnidadMedida = producto.UnidadMedida;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Precio = producto.Precio;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IsActivo = producto.IsActivo;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Producto ToModelo()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Id = Id,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Nombre = Nombre,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UnidadMedida = UnidadMedida,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Precio = Precio,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IsActivo = IsActivo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55"/>
          <p:cNvSpPr txBox="1"/>
          <p:nvPr/>
        </p:nvSpPr>
        <p:spPr>
          <a:xfrm>
            <a:off x="548640" y="4572000"/>
            <a:ext cx="5760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[StringLength(100)]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coincide con la columna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 la tabla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constructor de copia sigue el patrón del modelo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new Producto(producto)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4: conectar el ViewModel con el formulario</a:t>
            </a:r>
            <a:endParaRPr/>
          </a:p>
        </p:txBody>
      </p:sp>
      <p:sp>
        <p:nvSpPr>
          <p:cNvPr id="1514" name="Google Shape;1514;p5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5" name="Google Shape;1515;p5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56"/>
          <p:cNvSpPr/>
          <p:nvPr/>
        </p:nvSpPr>
        <p:spPr>
          <a:xfrm>
            <a:off x="548640" y="1325880"/>
            <a:ext cx="576072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56"/>
          <p:cNvSpPr/>
          <p:nvPr/>
        </p:nvSpPr>
        <p:spPr>
          <a:xfrm>
            <a:off x="548640" y="1325880"/>
            <a:ext cx="57607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56"/>
          <p:cNvSpPr/>
          <p:nvPr/>
        </p:nvSpPr>
        <p:spPr>
          <a:xfrm>
            <a:off x="559612" y="1618488"/>
            <a:ext cx="57387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56"/>
          <p:cNvSpPr txBox="1"/>
          <p:nvPr/>
        </p:nvSpPr>
        <p:spPr>
          <a:xfrm>
            <a:off x="685800" y="134416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GestionarProductosPage.razor · bloque @code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6"/>
          <p:cNvSpPr txBox="1"/>
          <p:nvPr/>
        </p:nvSpPr>
        <p:spPr>
          <a:xfrm>
            <a:off x="694944" y="1728216"/>
            <a:ext cx="5468112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pc="0" sz="11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1. El componente crea y guarda la instancia del ViewModel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ProductoViewModel ViewModel {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56"/>
          <p:cNvSpPr/>
          <p:nvPr/>
        </p:nvSpPr>
        <p:spPr>
          <a:xfrm>
            <a:off x="548640" y="2926080"/>
            <a:ext cx="576072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56"/>
          <p:cNvSpPr/>
          <p:nvPr/>
        </p:nvSpPr>
        <p:spPr>
          <a:xfrm>
            <a:off x="548640" y="2926080"/>
            <a:ext cx="57607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56"/>
          <p:cNvSpPr/>
          <p:nvPr/>
        </p:nvSpPr>
        <p:spPr>
          <a:xfrm>
            <a:off x="559612" y="3218688"/>
            <a:ext cx="57387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56"/>
          <p:cNvSpPr txBox="1"/>
          <p:nvPr/>
        </p:nvSpPr>
        <p:spPr>
          <a:xfrm>
            <a:off x="685800" y="294436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GestionarProductosPage.razor · marcado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56"/>
          <p:cNvSpPr txBox="1"/>
          <p:nvPr/>
        </p:nvSpPr>
        <p:spPr>
          <a:xfrm>
            <a:off x="694944" y="3328416"/>
            <a:ext cx="5468112" cy="2157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pc="0" sz="9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2. La instancia se entrega al formulario en Model *@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&lt;EditForm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Model=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OnValidSubmit=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"Guardar"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&lt;DataAnnotationsValidator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pc="0" sz="9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3. Cada campo se enlaza a una propiedad *@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&lt;InputText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"ViewModel.Nombre"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&lt;InputSelect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"ViewModel.UnidadMedida"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...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&lt;/InputSelect&gt;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&lt;InputNumber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"ViewModel.Precio"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&lt;InputCheckbox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"ViewModel.IsActivo"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&lt;/EditForm&gt;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56"/>
          <p:cNvSpPr/>
          <p:nvPr/>
        </p:nvSpPr>
        <p:spPr>
          <a:xfrm>
            <a:off x="6583680" y="1325880"/>
            <a:ext cx="2606040" cy="2788920"/>
          </a:xfrm>
          <a:prstGeom prst="roundRect">
            <a:avLst>
              <a:gd fmla="val 3508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56"/>
          <p:cNvSpPr txBox="1"/>
          <p:nvPr/>
        </p:nvSpPr>
        <p:spPr>
          <a:xfrm>
            <a:off x="6720840" y="138988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ViewModel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objeto ProductoViewModel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56"/>
          <p:cNvSpPr/>
          <p:nvPr/>
        </p:nvSpPr>
        <p:spPr>
          <a:xfrm>
            <a:off x="6720840" y="1965960"/>
            <a:ext cx="2331720" cy="338328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Id = 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56"/>
          <p:cNvSpPr/>
          <p:nvPr/>
        </p:nvSpPr>
        <p:spPr>
          <a:xfrm>
            <a:off x="6720840" y="2377440"/>
            <a:ext cx="2331720" cy="338328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Nombre = ""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56"/>
          <p:cNvSpPr/>
          <p:nvPr/>
        </p:nvSpPr>
        <p:spPr>
          <a:xfrm>
            <a:off x="6720840" y="2788920"/>
            <a:ext cx="2331720" cy="338328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UnidadMedida = 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56"/>
          <p:cNvSpPr/>
          <p:nvPr/>
        </p:nvSpPr>
        <p:spPr>
          <a:xfrm>
            <a:off x="6720840" y="3200400"/>
            <a:ext cx="2331720" cy="338328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Precio = 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56"/>
          <p:cNvSpPr/>
          <p:nvPr/>
        </p:nvSpPr>
        <p:spPr>
          <a:xfrm>
            <a:off x="6720840" y="3611880"/>
            <a:ext cx="2331720" cy="338328"/>
          </a:xfrm>
          <a:prstGeom prst="roundRect">
            <a:avLst>
              <a:gd fmla="val 10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IsActivo = true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56"/>
          <p:cNvSpPr/>
          <p:nvPr/>
        </p:nvSpPr>
        <p:spPr>
          <a:xfrm>
            <a:off x="9720072" y="1325880"/>
            <a:ext cx="2029967" cy="2788920"/>
          </a:xfrm>
          <a:prstGeom prst="roundRect">
            <a:avLst>
              <a:gd fmla="val 4504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56"/>
          <p:cNvSpPr txBox="1"/>
          <p:nvPr/>
        </p:nvSpPr>
        <p:spPr>
          <a:xfrm>
            <a:off x="9829800" y="1389888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enlazado con @bind-Value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56"/>
          <p:cNvSpPr/>
          <p:nvPr/>
        </p:nvSpPr>
        <p:spPr>
          <a:xfrm>
            <a:off x="9829800" y="2395728"/>
            <a:ext cx="1810512" cy="301752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2" name="Google Shape;1542;p56"/>
          <p:cNvCxnSpPr/>
          <p:nvPr/>
        </p:nvCxnSpPr>
        <p:spPr>
          <a:xfrm>
            <a:off x="9079992" y="2542032"/>
            <a:ext cx="70408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3" name="Google Shape;1543;p56"/>
          <p:cNvSpPr/>
          <p:nvPr/>
        </p:nvSpPr>
        <p:spPr>
          <a:xfrm>
            <a:off x="9829800" y="2807208"/>
            <a:ext cx="1810512" cy="301752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Unidad de medida 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4" name="Google Shape;1544;p56"/>
          <p:cNvCxnSpPr/>
          <p:nvPr/>
        </p:nvCxnSpPr>
        <p:spPr>
          <a:xfrm>
            <a:off x="9079992" y="2953512"/>
            <a:ext cx="70408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5" name="Google Shape;1545;p56"/>
          <p:cNvSpPr/>
          <p:nvPr/>
        </p:nvSpPr>
        <p:spPr>
          <a:xfrm>
            <a:off x="9829800" y="3218688"/>
            <a:ext cx="1810512" cy="301752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Precio (S/)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6" name="Google Shape;1546;p56"/>
          <p:cNvCxnSpPr/>
          <p:nvPr/>
        </p:nvCxnSpPr>
        <p:spPr>
          <a:xfrm>
            <a:off x="9079992" y="3364992"/>
            <a:ext cx="70408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7" name="Google Shape;1547;p56"/>
          <p:cNvSpPr/>
          <p:nvPr/>
        </p:nvSpPr>
        <p:spPr>
          <a:xfrm>
            <a:off x="9829800" y="3707892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56"/>
          <p:cNvSpPr txBox="1"/>
          <p:nvPr/>
        </p:nvSpPr>
        <p:spPr>
          <a:xfrm>
            <a:off x="10085832" y="3611880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9" name="Google Shape;1549;p56"/>
          <p:cNvCxnSpPr/>
          <p:nvPr/>
        </p:nvCxnSpPr>
        <p:spPr>
          <a:xfrm>
            <a:off x="9079992" y="3776472"/>
            <a:ext cx="704088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0" name="Google Shape;1550;p56"/>
          <p:cNvSpPr txBox="1"/>
          <p:nvPr/>
        </p:nvSpPr>
        <p:spPr>
          <a:xfrm>
            <a:off x="6583680" y="4251960"/>
            <a:ext cx="505663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4. Al presionar Guardar,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DataAnnotationsValidator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revisa el objeto con sus atributos;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OnValidSubmit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se ejecuta solo si todo es válido.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modo edición el objeto se crea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new ProductoViewModel(producto)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los campos aparecen con los datos del producto (paso 6).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5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5: EditForm, validadores y mensajes de error</a:t>
            </a:r>
            <a:endParaRPr/>
          </a:p>
        </p:txBody>
      </p:sp>
      <p:sp>
        <p:nvSpPr>
          <p:cNvPr id="1556" name="Google Shape;1556;p5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7" name="Google Shape;1557;p5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57"/>
          <p:cNvSpPr/>
          <p:nvPr/>
        </p:nvSpPr>
        <p:spPr>
          <a:xfrm>
            <a:off x="548640" y="1371600"/>
            <a:ext cx="68580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57"/>
          <p:cNvSpPr/>
          <p:nvPr/>
        </p:nvSpPr>
        <p:spPr>
          <a:xfrm>
            <a:off x="548640" y="1371600"/>
            <a:ext cx="6858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57"/>
          <p:cNvSpPr/>
          <p:nvPr/>
        </p:nvSpPr>
        <p:spPr>
          <a:xfrm>
            <a:off x="559612" y="1664208"/>
            <a:ext cx="6836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7"/>
          <p:cNvSpPr txBox="1"/>
          <p:nvPr/>
        </p:nvSpPr>
        <p:spPr>
          <a:xfrm>
            <a:off x="685800" y="1389888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GestionarProductosPage.razor (marcado)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57"/>
          <p:cNvSpPr txBox="1"/>
          <p:nvPr/>
        </p:nvSpPr>
        <p:spPr>
          <a:xfrm>
            <a:off x="694944" y="1773936"/>
            <a:ext cx="65653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11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Id ==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"Nuevo producto"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"Editar producto"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pc="0" sz="11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(MensajeError !=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alert-danger"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11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@MensajeError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&lt;EditForm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Model=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"ViewModel"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OnValidSubmit=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"Guardar"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&lt;DataAnnotationsValidator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&lt;ValidationSummary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&lt;InputText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pc="0" sz="11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"ViewModel.Nombre"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&lt;ValidationMessage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For=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ViewModel.Nombre"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pc="0" sz="11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... demás campos (siguiente diapositiva) ... *@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type=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Guardar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btn-outline-secondary"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href=</a:t>
            </a:r>
            <a:r>
              <a:rPr b="0" i="0" lang="en-US" spc="0" sz="11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Cancelar</a:t>
            </a: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&lt;/EditForm&gt;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7"/>
          <p:cNvSpPr/>
          <p:nvPr/>
        </p:nvSpPr>
        <p:spPr>
          <a:xfrm>
            <a:off x="7635240" y="1371600"/>
            <a:ext cx="4005072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7"/>
          <p:cNvSpPr/>
          <p:nvPr/>
        </p:nvSpPr>
        <p:spPr>
          <a:xfrm>
            <a:off x="7635240" y="1371600"/>
            <a:ext cx="400507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57"/>
          <p:cNvSpPr/>
          <p:nvPr/>
        </p:nvSpPr>
        <p:spPr>
          <a:xfrm>
            <a:off x="7644383" y="1645920"/>
            <a:ext cx="398678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57"/>
          <p:cNvSpPr/>
          <p:nvPr/>
        </p:nvSpPr>
        <p:spPr>
          <a:xfrm>
            <a:off x="776325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7"/>
          <p:cNvSpPr/>
          <p:nvPr/>
        </p:nvSpPr>
        <p:spPr>
          <a:xfrm>
            <a:off x="791870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57"/>
          <p:cNvSpPr/>
          <p:nvPr/>
        </p:nvSpPr>
        <p:spPr>
          <a:xfrm>
            <a:off x="807415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57"/>
          <p:cNvSpPr/>
          <p:nvPr/>
        </p:nvSpPr>
        <p:spPr>
          <a:xfrm>
            <a:off x="8275319" y="1444752"/>
            <a:ext cx="322783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localhost:7220/productos/nuevo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57"/>
          <p:cNvSpPr txBox="1"/>
          <p:nvPr/>
        </p:nvSpPr>
        <p:spPr>
          <a:xfrm>
            <a:off x="7863840" y="18013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Nuevo producto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7"/>
          <p:cNvSpPr txBox="1"/>
          <p:nvPr/>
        </p:nvSpPr>
        <p:spPr>
          <a:xfrm>
            <a:off x="7863840" y="2103120"/>
            <a:ext cx="3547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094A"/>
              </a:buClr>
              <a:buSzPts val="800"/>
              <a:buFont typeface="Arial"/>
              <a:buChar char="•"/>
            </a:pPr>
            <a:r>
              <a:rPr b="0" i="0" lang="en-US" spc="0" sz="8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El nombre es obligatorio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094A"/>
              </a:buClr>
              <a:buSzPts val="800"/>
              <a:buFont typeface="Arial"/>
              <a:buChar char="•"/>
            </a:pPr>
            <a:r>
              <a:rPr b="0" i="0" lang="en-US" spc="0" sz="8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Debe ser mayor a 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7"/>
          <p:cNvSpPr txBox="1"/>
          <p:nvPr/>
        </p:nvSpPr>
        <p:spPr>
          <a:xfrm>
            <a:off x="7863840" y="248716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57"/>
          <p:cNvSpPr/>
          <p:nvPr/>
        </p:nvSpPr>
        <p:spPr>
          <a:xfrm>
            <a:off x="7863840" y="2688336"/>
            <a:ext cx="3547872" cy="246888"/>
          </a:xfrm>
          <a:prstGeom prst="roundRect">
            <a:avLst>
              <a:gd fmla="val 14814" name="adj"/>
            </a:avLst>
          </a:prstGeom>
          <a:solidFill>
            <a:srgbClr val="FFFFFF"/>
          </a:solidFill>
          <a:ln cap="flat" cmpd="sng" w="1587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57"/>
          <p:cNvSpPr txBox="1"/>
          <p:nvPr/>
        </p:nvSpPr>
        <p:spPr>
          <a:xfrm>
            <a:off x="7863840" y="2944368"/>
            <a:ext cx="3547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El nombre es obligatorio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57"/>
          <p:cNvSpPr txBox="1"/>
          <p:nvPr/>
        </p:nvSpPr>
        <p:spPr>
          <a:xfrm>
            <a:off x="7863840" y="314553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Unidad de medida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57"/>
          <p:cNvSpPr/>
          <p:nvPr/>
        </p:nvSpPr>
        <p:spPr>
          <a:xfrm>
            <a:off x="7863840" y="3346704"/>
            <a:ext cx="3547872" cy="246888"/>
          </a:xfrm>
          <a:prstGeom prst="roundRect">
            <a:avLst>
              <a:gd fmla="val 14814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57"/>
          <p:cNvSpPr txBox="1"/>
          <p:nvPr/>
        </p:nvSpPr>
        <p:spPr>
          <a:xfrm>
            <a:off x="7863840" y="36393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Precio (S/)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57"/>
          <p:cNvSpPr/>
          <p:nvPr/>
        </p:nvSpPr>
        <p:spPr>
          <a:xfrm>
            <a:off x="7863840" y="3840479"/>
            <a:ext cx="3547872" cy="246888"/>
          </a:xfrm>
          <a:prstGeom prst="roundRect">
            <a:avLst>
              <a:gd fmla="val 14814" name="adj"/>
            </a:avLst>
          </a:prstGeom>
          <a:solidFill>
            <a:srgbClr val="FFFFFF"/>
          </a:solidFill>
          <a:ln cap="flat" cmpd="sng" w="1587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57"/>
          <p:cNvSpPr txBox="1"/>
          <p:nvPr/>
        </p:nvSpPr>
        <p:spPr>
          <a:xfrm>
            <a:off x="7863840" y="4096512"/>
            <a:ext cx="35478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Debe ser mayor a 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57"/>
          <p:cNvSpPr/>
          <p:nvPr/>
        </p:nvSpPr>
        <p:spPr>
          <a:xfrm>
            <a:off x="7863840" y="4357116"/>
            <a:ext cx="118872" cy="118872"/>
          </a:xfrm>
          <a:prstGeom prst="roundRect">
            <a:avLst>
              <a:gd fmla="val 23076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57"/>
          <p:cNvSpPr txBox="1"/>
          <p:nvPr/>
        </p:nvSpPr>
        <p:spPr>
          <a:xfrm>
            <a:off x="8119871" y="4297679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57"/>
          <p:cNvSpPr/>
          <p:nvPr/>
        </p:nvSpPr>
        <p:spPr>
          <a:xfrm>
            <a:off x="7863840" y="4590288"/>
            <a:ext cx="777240" cy="219456"/>
          </a:xfrm>
          <a:prstGeom prst="roundRect">
            <a:avLst>
              <a:gd fmla="val 20833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7"/>
          <p:cNvSpPr/>
          <p:nvPr/>
        </p:nvSpPr>
        <p:spPr>
          <a:xfrm>
            <a:off x="8732519" y="4590288"/>
            <a:ext cx="822960" cy="219456"/>
          </a:xfrm>
          <a:prstGeom prst="roundRect">
            <a:avLst>
              <a:gd fmla="val 20833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7"/>
          <p:cNvSpPr txBox="1"/>
          <p:nvPr/>
        </p:nvSpPr>
        <p:spPr>
          <a:xfrm>
            <a:off x="7635240" y="4892040"/>
            <a:ext cx="4005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000"/>
              <a:buFont typeface="Arial"/>
              <a:buChar char="•"/>
            </a:pPr>
            <a:r>
              <a:rPr b="1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DataAnnotationsValidator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aplica los atributos; </a:t>
            </a:r>
            <a:r>
              <a:rPr b="1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ValidationSummary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0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ValidationMessage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muestran los errores.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5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5 (cont.): listas, números y casillas</a:t>
            </a:r>
            <a:endParaRPr/>
          </a:p>
        </p:txBody>
      </p:sp>
      <p:sp>
        <p:nvSpPr>
          <p:cNvPr id="1595" name="Google Shape;1595;p5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6" name="Google Shape;1596;p5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58"/>
          <p:cNvSpPr/>
          <p:nvPr/>
        </p:nvSpPr>
        <p:spPr>
          <a:xfrm>
            <a:off x="548640" y="1371600"/>
            <a:ext cx="69494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58"/>
          <p:cNvSpPr/>
          <p:nvPr/>
        </p:nvSpPr>
        <p:spPr>
          <a:xfrm>
            <a:off x="548640" y="1371600"/>
            <a:ext cx="69494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58"/>
          <p:cNvSpPr/>
          <p:nvPr/>
        </p:nvSpPr>
        <p:spPr>
          <a:xfrm>
            <a:off x="559612" y="1664208"/>
            <a:ext cx="69274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58"/>
          <p:cNvSpPr txBox="1"/>
          <p:nvPr/>
        </p:nvSpPr>
        <p:spPr>
          <a:xfrm>
            <a:off x="685800" y="138988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GestionarProductosPage.razor (campos)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58"/>
          <p:cNvSpPr txBox="1"/>
          <p:nvPr/>
        </p:nvSpPr>
        <p:spPr>
          <a:xfrm>
            <a:off x="694944" y="1773936"/>
            <a:ext cx="66568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Unidad de medida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&lt;InputSelect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"form-select"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"ViewModel.UnidadMedida"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(UnidadMedida unidad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Unidades)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&lt;option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value=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"@unidad"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@unidad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&lt;/option&gt;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&lt;/InputSelect&gt;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Precio (S/)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&lt;InputNumber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"ViewModel.Precio"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&lt;ValidationMessage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For=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"() =&gt; ViewModel.Precio"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"form-check mb-3"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&lt;InputCheckbox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"form-check-input"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"ViewModel.IsActivo"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"form-check-label"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Activo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UnidadMedida[] Unidades {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 = Enum.GetValues&lt;UnidadMedida&gt;();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58"/>
          <p:cNvSpPr/>
          <p:nvPr/>
        </p:nvSpPr>
        <p:spPr>
          <a:xfrm>
            <a:off x="7726679" y="1371600"/>
            <a:ext cx="3913632" cy="27432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58"/>
          <p:cNvSpPr/>
          <p:nvPr/>
        </p:nvSpPr>
        <p:spPr>
          <a:xfrm>
            <a:off x="7726679" y="1371600"/>
            <a:ext cx="391363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58"/>
          <p:cNvSpPr/>
          <p:nvPr/>
        </p:nvSpPr>
        <p:spPr>
          <a:xfrm>
            <a:off x="7735823" y="1645920"/>
            <a:ext cx="389534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58"/>
          <p:cNvSpPr/>
          <p:nvPr/>
        </p:nvSpPr>
        <p:spPr>
          <a:xfrm>
            <a:off x="7854696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58"/>
          <p:cNvSpPr/>
          <p:nvPr/>
        </p:nvSpPr>
        <p:spPr>
          <a:xfrm>
            <a:off x="8010144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58"/>
          <p:cNvSpPr/>
          <p:nvPr/>
        </p:nvSpPr>
        <p:spPr>
          <a:xfrm>
            <a:off x="8165592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58"/>
          <p:cNvSpPr/>
          <p:nvPr/>
        </p:nvSpPr>
        <p:spPr>
          <a:xfrm>
            <a:off x="8366759" y="1444752"/>
            <a:ext cx="313639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localhost:7220/productos/editar/3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58"/>
          <p:cNvSpPr txBox="1"/>
          <p:nvPr/>
        </p:nvSpPr>
        <p:spPr>
          <a:xfrm>
            <a:off x="7955279" y="182880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Unidad de medida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58"/>
          <p:cNvSpPr/>
          <p:nvPr/>
        </p:nvSpPr>
        <p:spPr>
          <a:xfrm>
            <a:off x="7955279" y="2066543"/>
            <a:ext cx="3456432" cy="292608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UND                                     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58"/>
          <p:cNvSpPr txBox="1"/>
          <p:nvPr/>
        </p:nvSpPr>
        <p:spPr>
          <a:xfrm>
            <a:off x="7955279" y="24414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Precio (S/)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58"/>
          <p:cNvSpPr/>
          <p:nvPr/>
        </p:nvSpPr>
        <p:spPr>
          <a:xfrm>
            <a:off x="7955279" y="2679191"/>
            <a:ext cx="3456432" cy="292608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249.90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58"/>
          <p:cNvSpPr/>
          <p:nvPr/>
        </p:nvSpPr>
        <p:spPr>
          <a:xfrm>
            <a:off x="7955279" y="3136391"/>
            <a:ext cx="146304" cy="146304"/>
          </a:xfrm>
          <a:prstGeom prst="roundRect">
            <a:avLst>
              <a:gd fmla="val 18750" name="adj"/>
            </a:avLst>
          </a:prstGeom>
          <a:solidFill>
            <a:srgbClr val="0A7BC2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58"/>
          <p:cNvSpPr txBox="1"/>
          <p:nvPr/>
        </p:nvSpPr>
        <p:spPr>
          <a:xfrm>
            <a:off x="8211311" y="3063239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58"/>
          <p:cNvSpPr/>
          <p:nvPr/>
        </p:nvSpPr>
        <p:spPr>
          <a:xfrm>
            <a:off x="7955279" y="3493008"/>
            <a:ext cx="868680" cy="310896"/>
          </a:xfrm>
          <a:prstGeom prst="roundRect">
            <a:avLst>
              <a:gd fmla="val 14705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58"/>
          <p:cNvSpPr/>
          <p:nvPr/>
        </p:nvSpPr>
        <p:spPr>
          <a:xfrm>
            <a:off x="8915400" y="3493008"/>
            <a:ext cx="960120" cy="310896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58"/>
          <p:cNvSpPr txBox="1"/>
          <p:nvPr/>
        </p:nvSpPr>
        <p:spPr>
          <a:xfrm>
            <a:off x="7726679" y="4251960"/>
            <a:ext cx="391363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InputSelect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 un enum: las opciones salen de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Enum.GetValues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InputNumber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convierte el texto al tipo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Clases Bootstrap: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form-select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form-check-input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6: cargar el ViewModel y guardar con el objeto BL</a:t>
            </a:r>
            <a:endParaRPr/>
          </a:p>
        </p:txBody>
      </p:sp>
      <p:sp>
        <p:nvSpPr>
          <p:cNvPr id="1627" name="Google Shape;1627;p5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8" name="Google Shape;1628;p5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59"/>
          <p:cNvSpPr/>
          <p:nvPr/>
        </p:nvSpPr>
        <p:spPr>
          <a:xfrm>
            <a:off x="548640" y="1371600"/>
            <a:ext cx="566928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59"/>
          <p:cNvSpPr/>
          <p:nvPr/>
        </p:nvSpPr>
        <p:spPr>
          <a:xfrm>
            <a:off x="548640" y="1371600"/>
            <a:ext cx="56692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59"/>
          <p:cNvSpPr/>
          <p:nvPr/>
        </p:nvSpPr>
        <p:spPr>
          <a:xfrm>
            <a:off x="559612" y="1664208"/>
            <a:ext cx="56473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59"/>
          <p:cNvSpPr txBox="1"/>
          <p:nvPr/>
        </p:nvSpPr>
        <p:spPr>
          <a:xfrm>
            <a:off x="685800" y="1389888"/>
            <a:ext cx="5394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Carga del ViewModel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59"/>
          <p:cNvSpPr txBox="1"/>
          <p:nvPr/>
        </p:nvSpPr>
        <p:spPr>
          <a:xfrm>
            <a:off x="694944" y="1773936"/>
            <a:ext cx="537667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[Parameter]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? Id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ProductoViewModel ViewModel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? MensajeError {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OnParametersSet()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(Id ==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ViewModel =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ProductoViewModel();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Producto? producto = ProductoBL.FindById(Id.Value);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(producto ==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Nav.NavigateTo(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ViewModel =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ProductoViewModel(producto);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59"/>
          <p:cNvSpPr/>
          <p:nvPr/>
        </p:nvSpPr>
        <p:spPr>
          <a:xfrm>
            <a:off x="6428232" y="1371600"/>
            <a:ext cx="5212080" cy="2788920"/>
          </a:xfrm>
          <a:prstGeom prst="roundRect">
            <a:avLst>
              <a:gd fmla="val 2622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59"/>
          <p:cNvSpPr/>
          <p:nvPr/>
        </p:nvSpPr>
        <p:spPr>
          <a:xfrm>
            <a:off x="6428232" y="1371600"/>
            <a:ext cx="52120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59"/>
          <p:cNvSpPr/>
          <p:nvPr/>
        </p:nvSpPr>
        <p:spPr>
          <a:xfrm>
            <a:off x="6439204" y="1664208"/>
            <a:ext cx="51901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59"/>
          <p:cNvSpPr txBox="1"/>
          <p:nvPr/>
        </p:nvSpPr>
        <p:spPr>
          <a:xfrm>
            <a:off x="6565392" y="138988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Guardar: Insert o Update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59"/>
          <p:cNvSpPr txBox="1"/>
          <p:nvPr/>
        </p:nvSpPr>
        <p:spPr>
          <a:xfrm>
            <a:off x="6574536" y="1773936"/>
            <a:ext cx="4919472" cy="2340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Guardar()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(Id ==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ProductoBL.Insert(ViewModel.ToModelo());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</a:t>
            </a:r>
            <a:r>
              <a:rPr b="0" i="0" lang="en-US" spc="0" sz="11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ProductoBL.Update(ViewModel.ToModelo());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Nav.NavigateTo(</a:t>
            </a:r>
            <a:r>
              <a:rPr b="0" i="0" lang="en-US" spc="0" sz="11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} </a:t>
            </a:r>
            <a:r>
              <a:rPr b="0" i="0" lang="en-US" spc="0" sz="11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b="0" i="0" lang="en-US" spc="0" sz="11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(BLException ex) {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MensajeError = ex.Message;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11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59"/>
          <p:cNvSpPr/>
          <p:nvPr/>
        </p:nvSpPr>
        <p:spPr>
          <a:xfrm>
            <a:off x="6428232" y="4315968"/>
            <a:ext cx="5212080" cy="1188720"/>
          </a:xfrm>
          <a:prstGeom prst="roundRect">
            <a:avLst>
              <a:gd fmla="val 7692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59"/>
          <p:cNvSpPr txBox="1"/>
          <p:nvPr/>
        </p:nvSpPr>
        <p:spPr>
          <a:xfrm>
            <a:off x="6583680" y="4343400"/>
            <a:ext cx="4937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OnParametersSet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se ejecuta cada vez que cambia el parámetro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de la ruta.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OnValidSubmit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llama 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Guardar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solo si se cumplen todas las DataAnnotations; los errores del BL se muestran en el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alert-danger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Dos niveles de validación</a:t>
            </a:r>
            <a:endParaRPr/>
          </a:p>
        </p:txBody>
      </p:sp>
      <p:sp>
        <p:nvSpPr>
          <p:cNvPr id="1652" name="Google Shape;1652;p6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3" name="Google Shape;1653;p6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60"/>
          <p:cNvSpPr/>
          <p:nvPr/>
        </p:nvSpPr>
        <p:spPr>
          <a:xfrm>
            <a:off x="548640" y="1463040"/>
            <a:ext cx="2423160" cy="1143000"/>
          </a:xfrm>
          <a:prstGeom prst="roundRect">
            <a:avLst>
              <a:gd fmla="val 6400" name="adj"/>
            </a:avLst>
          </a:prstGeom>
          <a:solidFill>
            <a:srgbClr val="648585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 envía el formulario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 en Guardar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5" name="Google Shape;1655;p60"/>
          <p:cNvCxnSpPr/>
          <p:nvPr/>
        </p:nvCxnSpPr>
        <p:spPr>
          <a:xfrm>
            <a:off x="3008376" y="2029968"/>
            <a:ext cx="384048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6" name="Google Shape;1656;p60"/>
          <p:cNvSpPr/>
          <p:nvPr/>
        </p:nvSpPr>
        <p:spPr>
          <a:xfrm>
            <a:off x="3429000" y="1463040"/>
            <a:ext cx="2423160" cy="1143000"/>
          </a:xfrm>
          <a:prstGeom prst="roundRect">
            <a:avLst>
              <a:gd fmla="val 6400" name="adj"/>
            </a:avLst>
          </a:prstGeom>
          <a:solidFill>
            <a:srgbClr val="0A7BC2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 1 · DataAnnotations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ProductoViewModel: obligatorio, longitud, rango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7" name="Google Shape;1657;p60"/>
          <p:cNvCxnSpPr/>
          <p:nvPr/>
        </p:nvCxnSpPr>
        <p:spPr>
          <a:xfrm>
            <a:off x="5888736" y="2029968"/>
            <a:ext cx="384048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8" name="Google Shape;1658;p60"/>
          <p:cNvSpPr/>
          <p:nvPr/>
        </p:nvSpPr>
        <p:spPr>
          <a:xfrm>
            <a:off x="6309359" y="1463040"/>
            <a:ext cx="2423160" cy="1143000"/>
          </a:xfrm>
          <a:prstGeom prst="roundRect">
            <a:avLst>
              <a:gd fmla="val 6400" name="adj"/>
            </a:avLst>
          </a:prstGeom>
          <a:solidFill>
            <a:srgbClr val="042354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 2 · Reglas de negocio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ProductoBLImpl: nombre único, precio mayor a 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9" name="Google Shape;1659;p60"/>
          <p:cNvCxnSpPr/>
          <p:nvPr/>
        </p:nvCxnSpPr>
        <p:spPr>
          <a:xfrm>
            <a:off x="8769095" y="2029968"/>
            <a:ext cx="384049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0" name="Google Shape;1660;p60"/>
          <p:cNvSpPr/>
          <p:nvPr/>
        </p:nvSpPr>
        <p:spPr>
          <a:xfrm>
            <a:off x="9189719" y="1463040"/>
            <a:ext cx="2423160" cy="1143000"/>
          </a:xfrm>
          <a:prstGeom prst="roundRect">
            <a:avLst>
              <a:gd fmla="val 6400" name="adj"/>
            </a:avLst>
          </a:prstGeom>
          <a:solidFill>
            <a:srgbClr val="16C78E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 guardado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Nav.NavigateTo("/productos")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1" name="Google Shape;1661;p60"/>
          <p:cNvCxnSpPr/>
          <p:nvPr/>
        </p:nvCxnSpPr>
        <p:spPr>
          <a:xfrm>
            <a:off x="4640580" y="26334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2" name="Google Shape;1662;p60"/>
          <p:cNvSpPr/>
          <p:nvPr/>
        </p:nvSpPr>
        <p:spPr>
          <a:xfrm>
            <a:off x="3291840" y="3127248"/>
            <a:ext cx="2697479" cy="914400"/>
          </a:xfrm>
          <a:prstGeom prst="roundRect">
            <a:avLst>
              <a:gd fmla="val 8000" name="adj"/>
            </a:avLst>
          </a:prstGeom>
          <a:solidFill>
            <a:srgbClr val="C3094A">
              <a:alpha val="14118"/>
            </a:srgbClr>
          </a:solidFill>
          <a:ln cap="flat" cmpd="sng" w="952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Falla → ValidationMessage y ValidationSummary (no se llama a Guardar)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3" name="Google Shape;1663;p60"/>
          <p:cNvCxnSpPr/>
          <p:nvPr/>
        </p:nvCxnSpPr>
        <p:spPr>
          <a:xfrm>
            <a:off x="7520940" y="26334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4" name="Google Shape;1664;p60"/>
          <p:cNvSpPr/>
          <p:nvPr/>
        </p:nvSpPr>
        <p:spPr>
          <a:xfrm>
            <a:off x="6172199" y="3127248"/>
            <a:ext cx="2697479" cy="914400"/>
          </a:xfrm>
          <a:prstGeom prst="roundRect">
            <a:avLst>
              <a:gd fmla="val 8000" name="adj"/>
            </a:avLst>
          </a:prstGeom>
          <a:solidFill>
            <a:srgbClr val="C3094A">
              <a:alpha val="14118"/>
            </a:srgbClr>
          </a:solidFill>
          <a:ln cap="flat" cmpd="sng" w="952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Falla → BLException: «Ya existe un producto con el nombre 'Lapiz HB'»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5" name="Google Shape;1665;p60"/>
          <p:cNvGraphicFramePr/>
          <p:nvPr/>
        </p:nvGraphicFramePr>
        <p:xfrm>
          <a:off x="548640" y="4206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650400"/>
                <a:gridCol w="4217700"/>
                <a:gridCol w="52263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Módulo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Nivel 1: ViewModel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Nivel 2: objeto BL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[Required], [Range(0.01, 99999)]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único, precio mayor a 0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[RegularExpression] para el DNI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DNI único, edad mínima, tope de línea de crédito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Empleados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[Range] para el área seleccionada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Sueldo mínimo, edad mínima, DNI único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6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Atributos de validación y componentes de entrada</a:t>
            </a:r>
            <a:endParaRPr/>
          </a:p>
        </p:txBody>
      </p:sp>
      <p:sp>
        <p:nvSpPr>
          <p:cNvPr id="1671" name="Google Shape;1671;p6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2" name="Google Shape;1672;p6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61"/>
          <p:cNvSpPr txBox="1"/>
          <p:nvPr/>
        </p:nvSpPr>
        <p:spPr>
          <a:xfrm>
            <a:off x="548640" y="13258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DataAnnotations (en el ViewModel)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4" name="Google Shape;1674;p61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3017525"/>
                <a:gridCol w="24231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en SoftProg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[Required]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de Producto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[StringLength(100)]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(máx. 100)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[Range(0.01, 99999)]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Precio de Producto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[EmailAddress]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 de CuentaUsuario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[RegularExpression(@"^\d{8}$")]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DNI de Cliente y Empleado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[Compare(nameof(Password))]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Confirmar contraseña (registro)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  <p:sp>
        <p:nvSpPr>
          <p:cNvPr id="1675" name="Google Shape;1675;p61"/>
          <p:cNvSpPr txBox="1"/>
          <p:nvPr/>
        </p:nvSpPr>
        <p:spPr>
          <a:xfrm>
            <a:off x="6199632" y="13258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Componentes de entrada (en el EditForm)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6" name="Google Shape;1676;p61"/>
          <p:cNvGraphicFramePr/>
          <p:nvPr/>
        </p:nvGraphicFramePr>
        <p:xfrm>
          <a:off x="6199632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874525"/>
                <a:gridCol w="1280150"/>
                <a:gridCol w="2286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InputText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Cliente.Nombre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InputNumber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int, double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Producto.Precio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InputDate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Cliente.FechaNacimiento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InputSelect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enum, int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Genero, Categoria, IdArea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InputRadioGroup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enum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Alternativa a InputSelect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InputCheckbox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pc="0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Producto.IsActivo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  <p:sp>
        <p:nvSpPr>
          <p:cNvPr id="1677" name="Google Shape;1677;p61"/>
          <p:cNvSpPr/>
          <p:nvPr/>
        </p:nvSpPr>
        <p:spPr>
          <a:xfrm>
            <a:off x="548640" y="4956048"/>
            <a:ext cx="11094415" cy="548640"/>
          </a:xfrm>
          <a:prstGeom prst="roundRect">
            <a:avLst>
              <a:gd fmla="val 13333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61"/>
          <p:cNvSpPr txBox="1"/>
          <p:nvPr/>
        </p:nvSpPr>
        <p:spPr>
          <a:xfrm>
            <a:off x="731520" y="4956048"/>
            <a:ext cx="107286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Los componentes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Input*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se usan dentro de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EditForm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y se enlazan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; aplican las clases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valid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invalid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según el resultado.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6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mismo patrón en clientes: más tipos de datos y reglas</a:t>
            </a:r>
            <a:endParaRPr/>
          </a:p>
        </p:txBody>
      </p:sp>
      <p:sp>
        <p:nvSpPr>
          <p:cNvPr id="1684" name="Google Shape;1684;p6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5" name="Google Shape;1685;p6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62"/>
          <p:cNvSpPr/>
          <p:nvPr/>
        </p:nvSpPr>
        <p:spPr>
          <a:xfrm>
            <a:off x="548640" y="1371600"/>
            <a:ext cx="667512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62"/>
          <p:cNvSpPr/>
          <p:nvPr/>
        </p:nvSpPr>
        <p:spPr>
          <a:xfrm>
            <a:off x="548640" y="1371600"/>
            <a:ext cx="66751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62"/>
          <p:cNvSpPr/>
          <p:nvPr/>
        </p:nvSpPr>
        <p:spPr>
          <a:xfrm>
            <a:off x="559612" y="1664208"/>
            <a:ext cx="66531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62"/>
          <p:cNvSpPr txBox="1"/>
          <p:nvPr/>
        </p:nvSpPr>
        <p:spPr>
          <a:xfrm>
            <a:off x="685800" y="138988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ViewModels/ClienteViewModel.cs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62"/>
          <p:cNvSpPr txBox="1"/>
          <p:nvPr/>
        </p:nvSpPr>
        <p:spPr>
          <a:xfrm>
            <a:off x="694944" y="1773936"/>
            <a:ext cx="638251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ClienteViewModel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readonly Dictionary&lt;CategoriaCliente,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LineaCreditoInicialPorCategoria =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[CategoriaCliente.ORO] = 10_000.0,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[CategoriaCliente.PLATA] = 5_000.0,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[CategoriaCliente.BRONCE] = 1_500.0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[Required(ErrorMessage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"El DNI es obligatorio"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[RegularExpression(@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"^\d{8}$"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, ErrorMessage =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"El DNI tiene 8 dígitos"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Dni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 Nombre y ApellidoPaterno: [Required] + [StringLength(50)]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Genero Genero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[Required(ErrorMessage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"La fecha de nacimiento es obligatoria"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DateTime? FechaNacimiento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CategoriaCliente Categoria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CategoriaCliente.BRONCE;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[Range(0, 20000, ErrorMessage =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"Entre 0 y 20 000"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LineaCredito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 Id, IsActivo, IdCuentaUsuario, constructores y ToModelo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AsignarLineaCreditoInicial()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LineaCredito = LineaCreditoInicialPorCategoria[Categoria];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6" name="Google Shape;1696;p62"/>
          <p:cNvGraphicFramePr/>
          <p:nvPr/>
        </p:nvGraphicFramePr>
        <p:xfrm>
          <a:off x="745236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325875"/>
                <a:gridCol w="1280150"/>
                <a:gridCol w="15819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Regla del BL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Dni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InputText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pc="0" sz="10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DNI único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Genero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InputSelect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pc="0" sz="10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FechaNacimiento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InputDate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pc="0" sz="10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 menos 18 años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Categoria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InputSelect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pc="0" sz="10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Fija la línea inicial y el tope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LineaCredito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pc="0" sz="9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InputNumber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pc="0" sz="10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Tope: ORO 20 000 · PLATA 10 000 · BRONCE 3 000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97" name="Google Shape;1697;p62"/>
          <p:cNvSpPr txBox="1"/>
          <p:nvPr/>
        </p:nvSpPr>
        <p:spPr>
          <a:xfrm>
            <a:off x="7452360" y="4846320"/>
            <a:ext cx="41879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pc="0" sz="11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Al crear un cliente, el BL vuelve a asignar la línea inicial según la categoría y valida el tope; el ViewModel solo la muestra.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6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InputSelect con datos de otro objeto BL: áreas de un empleado</a:t>
            </a:r>
            <a:endParaRPr/>
          </a:p>
        </p:txBody>
      </p:sp>
      <p:sp>
        <p:nvSpPr>
          <p:cNvPr id="1703" name="Google Shape;1703;p6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4" name="Google Shape;1704;p6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6 · FORMULARIOS, VALIDACIÓN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63"/>
          <p:cNvSpPr/>
          <p:nvPr/>
        </p:nvSpPr>
        <p:spPr>
          <a:xfrm>
            <a:off x="548640" y="1371600"/>
            <a:ext cx="63093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63"/>
          <p:cNvSpPr/>
          <p:nvPr/>
        </p:nvSpPr>
        <p:spPr>
          <a:xfrm>
            <a:off x="548640" y="1371600"/>
            <a:ext cx="63093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63"/>
          <p:cNvSpPr/>
          <p:nvPr/>
        </p:nvSpPr>
        <p:spPr>
          <a:xfrm>
            <a:off x="559612" y="1664208"/>
            <a:ext cx="62874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63"/>
          <p:cNvSpPr txBox="1"/>
          <p:nvPr/>
        </p:nvSpPr>
        <p:spPr>
          <a:xfrm>
            <a:off x="685800" y="1389888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GestionarEmpleadosPage.razor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63"/>
          <p:cNvSpPr txBox="1"/>
          <p:nvPr/>
        </p:nvSpPr>
        <p:spPr>
          <a:xfrm>
            <a:off x="694944" y="1773936"/>
            <a:ext cx="60167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IEmpleadoBL EmpleadoBL;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IAreaBL AreaBL;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ICuentaUsuarioBL CuentaUsuarioBL;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Área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&lt;InputSelect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"form-select"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@bind-Value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"ViewModel.IdArea"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&lt;option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value=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"0"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Seleccione un área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&lt;/option&gt;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(Area area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Areas)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&lt;option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value=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"@area.Id"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@area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&lt;/option&gt;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&lt;/InputSelect&gt;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&lt;ValidationMessage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For=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"() =&gt; ViewModel.IdArea"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List&lt;Area&gt; Areas {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[];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List&lt;CuentaUsuario&gt; CuentasUsuario {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[];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OnInitialized()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Areas = AreaBL.FindAll();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CuentasUsuario = CuentaUsuarioBL.FindAll();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63"/>
          <p:cNvSpPr/>
          <p:nvPr/>
        </p:nvSpPr>
        <p:spPr>
          <a:xfrm>
            <a:off x="7086600" y="1371600"/>
            <a:ext cx="4553712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63"/>
          <p:cNvSpPr/>
          <p:nvPr/>
        </p:nvSpPr>
        <p:spPr>
          <a:xfrm>
            <a:off x="7086600" y="1371600"/>
            <a:ext cx="455371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63"/>
          <p:cNvSpPr/>
          <p:nvPr/>
        </p:nvSpPr>
        <p:spPr>
          <a:xfrm>
            <a:off x="7097572" y="1664208"/>
            <a:ext cx="453176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63"/>
          <p:cNvSpPr txBox="1"/>
          <p:nvPr/>
        </p:nvSpPr>
        <p:spPr>
          <a:xfrm>
            <a:off x="7223760" y="1389888"/>
            <a:ext cx="4279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EmpleadoViewModel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63"/>
          <p:cNvSpPr txBox="1"/>
          <p:nvPr/>
        </p:nvSpPr>
        <p:spPr>
          <a:xfrm>
            <a:off x="7232904" y="1773936"/>
            <a:ext cx="4261104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[Range(1,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.MaxValue,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ErrorMessage = </a:t>
            </a:r>
            <a:r>
              <a:rPr b="0" i="0" lang="en-US" spc="0" sz="13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"Seleccione un área"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IdArea {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3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63"/>
          <p:cNvSpPr txBox="1"/>
          <p:nvPr/>
        </p:nvSpPr>
        <p:spPr>
          <a:xfrm>
            <a:off x="7086600" y="2971800"/>
            <a:ext cx="455371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página inyecta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tres objetos BL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el del empleado y los de las listas de áreas y de cuentas de usuario.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opción con valor 0 obliga a elegir: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[Range(1, ...)]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la rechaza.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 guardar, el área completa se obtiene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AreaBL.FindById(ViewModel.IdArea)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cargo (enum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Cargo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 se carga igual que la unidad de medida de un producto.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6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Componentes: maestro-detalle</a:t>
            </a:r>
            <a:endParaRPr sz="3200"/>
          </a:p>
        </p:txBody>
      </p:sp>
      <p:sp>
        <p:nvSpPr>
          <p:cNvPr id="1725" name="Google Shape;1725;p6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Órdenes de venta con componentes padre e hijo</a:t>
            </a:r>
            <a:endParaRPr/>
          </a:p>
        </p:txBody>
      </p:sp>
      <p:sp>
        <p:nvSpPr>
          <p:cNvPr id="1726" name="Google Shape;1726;p64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6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Componentes reutilizables: requerimiento maestro-detalle</a:t>
            </a:r>
            <a:endParaRPr/>
          </a:p>
        </p:txBody>
      </p:sp>
      <p:sp>
        <p:nvSpPr>
          <p:cNvPr id="1732" name="Google Shape;1732;p6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3" name="Google Shape;1733;p6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65"/>
          <p:cNvSpPr txBox="1"/>
          <p:nvPr/>
        </p:nvSpPr>
        <p:spPr>
          <a:xfrm>
            <a:off x="548640" y="1371600"/>
            <a:ext cx="47548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.razor reutilizable que recibe datos mediante parámetros y los muestra.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 con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se accede a ella por una URL.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Componente padre e hijo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padre usa al hijo como una etiqueta en su marcado: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&lt;DetalleOrdenVenta Orden="..." /&gt;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Requerimiento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Listar las órdenes de venta y, al seleccionar una, mostrar su cliente, su vendedor y sus líneas.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65"/>
          <p:cNvSpPr/>
          <p:nvPr/>
        </p:nvSpPr>
        <p:spPr>
          <a:xfrm>
            <a:off x="5577840" y="1371600"/>
            <a:ext cx="6062472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65"/>
          <p:cNvSpPr/>
          <p:nvPr/>
        </p:nvSpPr>
        <p:spPr>
          <a:xfrm>
            <a:off x="5577840" y="1371600"/>
            <a:ext cx="606247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65"/>
          <p:cNvSpPr/>
          <p:nvPr/>
        </p:nvSpPr>
        <p:spPr>
          <a:xfrm>
            <a:off x="5586983" y="1645920"/>
            <a:ext cx="604418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65"/>
          <p:cNvSpPr/>
          <p:nvPr/>
        </p:nvSpPr>
        <p:spPr>
          <a:xfrm>
            <a:off x="5705855" y="1508760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65"/>
          <p:cNvSpPr/>
          <p:nvPr/>
        </p:nvSpPr>
        <p:spPr>
          <a:xfrm>
            <a:off x="5861303" y="1508760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65"/>
          <p:cNvSpPr/>
          <p:nvPr/>
        </p:nvSpPr>
        <p:spPr>
          <a:xfrm>
            <a:off x="6016751" y="1508760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65"/>
          <p:cNvSpPr/>
          <p:nvPr/>
        </p:nvSpPr>
        <p:spPr>
          <a:xfrm>
            <a:off x="6217920" y="1444752"/>
            <a:ext cx="528523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localhost:7220/ordenes-venta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65"/>
          <p:cNvSpPr/>
          <p:nvPr/>
        </p:nvSpPr>
        <p:spPr>
          <a:xfrm>
            <a:off x="5577840" y="1755648"/>
            <a:ext cx="6062472" cy="329184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65"/>
          <p:cNvSpPr txBox="1"/>
          <p:nvPr/>
        </p:nvSpPr>
        <p:spPr>
          <a:xfrm>
            <a:off x="5715000" y="1755648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65"/>
          <p:cNvSpPr txBox="1"/>
          <p:nvPr/>
        </p:nvSpPr>
        <p:spPr>
          <a:xfrm>
            <a:off x="6812279" y="1755648"/>
            <a:ext cx="10104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65"/>
          <p:cNvSpPr txBox="1"/>
          <p:nvPr/>
        </p:nvSpPr>
        <p:spPr>
          <a:xfrm>
            <a:off x="7822692" y="1755648"/>
            <a:ext cx="923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65"/>
          <p:cNvSpPr txBox="1"/>
          <p:nvPr/>
        </p:nvSpPr>
        <p:spPr>
          <a:xfrm>
            <a:off x="8746236" y="1755648"/>
            <a:ext cx="1618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65"/>
          <p:cNvSpPr txBox="1"/>
          <p:nvPr/>
        </p:nvSpPr>
        <p:spPr>
          <a:xfrm>
            <a:off x="5760720" y="2167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65"/>
          <p:cNvSpPr/>
          <p:nvPr/>
        </p:nvSpPr>
        <p:spPr>
          <a:xfrm>
            <a:off x="5760720" y="2578608"/>
            <a:ext cx="2286000" cy="274320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65"/>
          <p:cNvSpPr txBox="1"/>
          <p:nvPr/>
        </p:nvSpPr>
        <p:spPr>
          <a:xfrm>
            <a:off x="5815583" y="2578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N.°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65"/>
          <p:cNvSpPr txBox="1"/>
          <p:nvPr/>
        </p:nvSpPr>
        <p:spPr>
          <a:xfrm>
            <a:off x="6181344" y="2578608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65"/>
          <p:cNvSpPr txBox="1"/>
          <p:nvPr/>
        </p:nvSpPr>
        <p:spPr>
          <a:xfrm>
            <a:off x="7050024" y="25786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65"/>
          <p:cNvSpPr txBox="1"/>
          <p:nvPr/>
        </p:nvSpPr>
        <p:spPr>
          <a:xfrm>
            <a:off x="7644384" y="25786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65"/>
          <p:cNvSpPr/>
          <p:nvPr/>
        </p:nvSpPr>
        <p:spPr>
          <a:xfrm>
            <a:off x="5760720" y="2852927"/>
            <a:ext cx="2286000" cy="274320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65"/>
          <p:cNvSpPr txBox="1"/>
          <p:nvPr/>
        </p:nvSpPr>
        <p:spPr>
          <a:xfrm>
            <a:off x="5815583" y="2852927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65"/>
          <p:cNvSpPr txBox="1"/>
          <p:nvPr/>
        </p:nvSpPr>
        <p:spPr>
          <a:xfrm>
            <a:off x="6181344" y="2852927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Medina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65"/>
          <p:cNvSpPr txBox="1"/>
          <p:nvPr/>
        </p:nvSpPr>
        <p:spPr>
          <a:xfrm>
            <a:off x="7050024" y="2852927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215.50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65"/>
          <p:cNvSpPr/>
          <p:nvPr/>
        </p:nvSpPr>
        <p:spPr>
          <a:xfrm>
            <a:off x="7616952" y="2898647"/>
            <a:ext cx="384048" cy="182879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65"/>
          <p:cNvSpPr/>
          <p:nvPr/>
        </p:nvSpPr>
        <p:spPr>
          <a:xfrm>
            <a:off x="5760720" y="3127248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65"/>
          <p:cNvSpPr txBox="1"/>
          <p:nvPr/>
        </p:nvSpPr>
        <p:spPr>
          <a:xfrm>
            <a:off x="5815583" y="312724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65"/>
          <p:cNvSpPr txBox="1"/>
          <p:nvPr/>
        </p:nvSpPr>
        <p:spPr>
          <a:xfrm>
            <a:off x="6181344" y="3127248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Rojas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65"/>
          <p:cNvSpPr txBox="1"/>
          <p:nvPr/>
        </p:nvSpPr>
        <p:spPr>
          <a:xfrm>
            <a:off x="7050024" y="312724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134.00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65"/>
          <p:cNvSpPr/>
          <p:nvPr/>
        </p:nvSpPr>
        <p:spPr>
          <a:xfrm>
            <a:off x="7616952" y="3172968"/>
            <a:ext cx="384048" cy="182879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65"/>
          <p:cNvSpPr/>
          <p:nvPr/>
        </p:nvSpPr>
        <p:spPr>
          <a:xfrm>
            <a:off x="5760720" y="3401568"/>
            <a:ext cx="2286000" cy="274320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65"/>
          <p:cNvSpPr txBox="1"/>
          <p:nvPr/>
        </p:nvSpPr>
        <p:spPr>
          <a:xfrm>
            <a:off x="5815583" y="340156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p65"/>
          <p:cNvSpPr txBox="1"/>
          <p:nvPr/>
        </p:nvSpPr>
        <p:spPr>
          <a:xfrm>
            <a:off x="6181344" y="3401568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Castillo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65"/>
          <p:cNvSpPr txBox="1"/>
          <p:nvPr/>
        </p:nvSpPr>
        <p:spPr>
          <a:xfrm>
            <a:off x="7050024" y="340156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400.02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65"/>
          <p:cNvSpPr/>
          <p:nvPr/>
        </p:nvSpPr>
        <p:spPr>
          <a:xfrm>
            <a:off x="7616952" y="3447287"/>
            <a:ext cx="384048" cy="182879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65"/>
          <p:cNvSpPr/>
          <p:nvPr/>
        </p:nvSpPr>
        <p:spPr>
          <a:xfrm>
            <a:off x="5760720" y="3675887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65"/>
          <p:cNvSpPr txBox="1"/>
          <p:nvPr/>
        </p:nvSpPr>
        <p:spPr>
          <a:xfrm>
            <a:off x="5815583" y="3675887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65"/>
          <p:cNvSpPr txBox="1"/>
          <p:nvPr/>
        </p:nvSpPr>
        <p:spPr>
          <a:xfrm>
            <a:off x="6181344" y="3675887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Ramirez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65"/>
          <p:cNvSpPr txBox="1"/>
          <p:nvPr/>
        </p:nvSpPr>
        <p:spPr>
          <a:xfrm>
            <a:off x="7050024" y="3675887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76.00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65"/>
          <p:cNvSpPr/>
          <p:nvPr/>
        </p:nvSpPr>
        <p:spPr>
          <a:xfrm>
            <a:off x="7616952" y="3721607"/>
            <a:ext cx="384048" cy="182879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65"/>
          <p:cNvSpPr/>
          <p:nvPr/>
        </p:nvSpPr>
        <p:spPr>
          <a:xfrm>
            <a:off x="5760720" y="3950208"/>
            <a:ext cx="2286000" cy="274320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65"/>
          <p:cNvSpPr txBox="1"/>
          <p:nvPr/>
        </p:nvSpPr>
        <p:spPr>
          <a:xfrm>
            <a:off x="5815583" y="39502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65"/>
          <p:cNvSpPr txBox="1"/>
          <p:nvPr/>
        </p:nvSpPr>
        <p:spPr>
          <a:xfrm>
            <a:off x="6181344" y="3950208"/>
            <a:ext cx="795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Nunez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65"/>
          <p:cNvSpPr txBox="1"/>
          <p:nvPr/>
        </p:nvSpPr>
        <p:spPr>
          <a:xfrm>
            <a:off x="7050024" y="3950208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119.50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65"/>
          <p:cNvSpPr/>
          <p:nvPr/>
        </p:nvSpPr>
        <p:spPr>
          <a:xfrm>
            <a:off x="7616952" y="3995928"/>
            <a:ext cx="384048" cy="182879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8" name="Google Shape;1778;p65"/>
          <p:cNvCxnSpPr/>
          <p:nvPr/>
        </p:nvCxnSpPr>
        <p:spPr>
          <a:xfrm>
            <a:off x="5760720" y="4224527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9" name="Google Shape;1779;p65"/>
          <p:cNvSpPr/>
          <p:nvPr/>
        </p:nvSpPr>
        <p:spPr>
          <a:xfrm>
            <a:off x="5760720" y="3401568"/>
            <a:ext cx="2286000" cy="274320"/>
          </a:xfrm>
          <a:prstGeom prst="rect">
            <a:avLst/>
          </a:prstGeom>
          <a:noFill/>
          <a:ln cap="flat" cmpd="sng" w="25400">
            <a:solidFill>
              <a:srgbClr val="F0A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65"/>
          <p:cNvSpPr/>
          <p:nvPr/>
        </p:nvSpPr>
        <p:spPr>
          <a:xfrm>
            <a:off x="8275320" y="2578608"/>
            <a:ext cx="3182112" cy="2103120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65"/>
          <p:cNvSpPr/>
          <p:nvPr/>
        </p:nvSpPr>
        <p:spPr>
          <a:xfrm>
            <a:off x="8275320" y="2578608"/>
            <a:ext cx="3182112" cy="29260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65"/>
          <p:cNvSpPr txBox="1"/>
          <p:nvPr/>
        </p:nvSpPr>
        <p:spPr>
          <a:xfrm>
            <a:off x="8348472" y="2578608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Orden N.° 3 · Elena Castillo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65"/>
          <p:cNvSpPr/>
          <p:nvPr/>
        </p:nvSpPr>
        <p:spPr>
          <a:xfrm>
            <a:off x="8330184" y="2926080"/>
            <a:ext cx="3054827" cy="246888"/>
          </a:xfrm>
          <a:prstGeom prst="rect">
            <a:avLst/>
          </a:prstGeom>
          <a:solidFill>
            <a:srgbClr val="6485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65"/>
          <p:cNvSpPr txBox="1"/>
          <p:nvPr/>
        </p:nvSpPr>
        <p:spPr>
          <a:xfrm>
            <a:off x="8385048" y="2926080"/>
            <a:ext cx="167700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65"/>
          <p:cNvSpPr txBox="1"/>
          <p:nvPr/>
        </p:nvSpPr>
        <p:spPr>
          <a:xfrm>
            <a:off x="10135209" y="2926080"/>
            <a:ext cx="4678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65"/>
          <p:cNvSpPr txBox="1"/>
          <p:nvPr/>
        </p:nvSpPr>
        <p:spPr>
          <a:xfrm>
            <a:off x="10676168" y="2926080"/>
            <a:ext cx="69055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pc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Subtotal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65"/>
          <p:cNvSpPr/>
          <p:nvPr/>
        </p:nvSpPr>
        <p:spPr>
          <a:xfrm>
            <a:off x="8330184" y="3172968"/>
            <a:ext cx="3054827" cy="24688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65"/>
          <p:cNvSpPr txBox="1"/>
          <p:nvPr/>
        </p:nvSpPr>
        <p:spPr>
          <a:xfrm>
            <a:off x="8385048" y="3172968"/>
            <a:ext cx="167700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Impresora Multif.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65"/>
          <p:cNvSpPr txBox="1"/>
          <p:nvPr/>
        </p:nvSpPr>
        <p:spPr>
          <a:xfrm>
            <a:off x="10135209" y="3172968"/>
            <a:ext cx="4678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65"/>
          <p:cNvSpPr txBox="1"/>
          <p:nvPr/>
        </p:nvSpPr>
        <p:spPr>
          <a:xfrm>
            <a:off x="10676168" y="3172968"/>
            <a:ext cx="69055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249.90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65"/>
          <p:cNvSpPr/>
          <p:nvPr/>
        </p:nvSpPr>
        <p:spPr>
          <a:xfrm>
            <a:off x="8330184" y="3419856"/>
            <a:ext cx="3054827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65"/>
          <p:cNvSpPr txBox="1"/>
          <p:nvPr/>
        </p:nvSpPr>
        <p:spPr>
          <a:xfrm>
            <a:off x="8385048" y="3419856"/>
            <a:ext cx="167700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Mouse Inalámbrico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65"/>
          <p:cNvSpPr txBox="1"/>
          <p:nvPr/>
        </p:nvSpPr>
        <p:spPr>
          <a:xfrm>
            <a:off x="10135209" y="3419856"/>
            <a:ext cx="4678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65"/>
          <p:cNvSpPr txBox="1"/>
          <p:nvPr/>
        </p:nvSpPr>
        <p:spPr>
          <a:xfrm>
            <a:off x="10676168" y="3419856"/>
            <a:ext cx="69055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69.60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65"/>
          <p:cNvSpPr/>
          <p:nvPr/>
        </p:nvSpPr>
        <p:spPr>
          <a:xfrm>
            <a:off x="8330184" y="3666744"/>
            <a:ext cx="3054827" cy="24688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65"/>
          <p:cNvSpPr txBox="1"/>
          <p:nvPr/>
        </p:nvSpPr>
        <p:spPr>
          <a:xfrm>
            <a:off x="8385048" y="3666744"/>
            <a:ext cx="167700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Cuaderno A4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65"/>
          <p:cNvSpPr txBox="1"/>
          <p:nvPr/>
        </p:nvSpPr>
        <p:spPr>
          <a:xfrm>
            <a:off x="10135209" y="3666744"/>
            <a:ext cx="4678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65"/>
          <p:cNvSpPr txBox="1"/>
          <p:nvPr/>
        </p:nvSpPr>
        <p:spPr>
          <a:xfrm>
            <a:off x="10676168" y="3666744"/>
            <a:ext cx="69055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12.50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65"/>
          <p:cNvSpPr/>
          <p:nvPr/>
        </p:nvSpPr>
        <p:spPr>
          <a:xfrm>
            <a:off x="8330184" y="3913632"/>
            <a:ext cx="3054827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65"/>
          <p:cNvSpPr txBox="1"/>
          <p:nvPr/>
        </p:nvSpPr>
        <p:spPr>
          <a:xfrm>
            <a:off x="8385048" y="3913632"/>
            <a:ext cx="1677009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Lápiz HB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65"/>
          <p:cNvSpPr txBox="1"/>
          <p:nvPr/>
        </p:nvSpPr>
        <p:spPr>
          <a:xfrm>
            <a:off x="10135209" y="3913632"/>
            <a:ext cx="4678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65"/>
          <p:cNvSpPr txBox="1"/>
          <p:nvPr/>
        </p:nvSpPr>
        <p:spPr>
          <a:xfrm>
            <a:off x="10676168" y="3913632"/>
            <a:ext cx="69055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7.00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3" name="Google Shape;1803;p65"/>
          <p:cNvCxnSpPr/>
          <p:nvPr/>
        </p:nvCxnSpPr>
        <p:spPr>
          <a:xfrm>
            <a:off x="8330184" y="4160520"/>
            <a:ext cx="3054827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4" name="Google Shape;1804;p65"/>
          <p:cNvSpPr txBox="1"/>
          <p:nvPr/>
        </p:nvSpPr>
        <p:spPr>
          <a:xfrm>
            <a:off x="8330184" y="4224528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Subtotal 339.00 · IGV 61.02 · Total S/ 400.02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65"/>
          <p:cNvSpPr/>
          <p:nvPr/>
        </p:nvSpPr>
        <p:spPr>
          <a:xfrm>
            <a:off x="5650992" y="2139696"/>
            <a:ext cx="5916168" cy="3273552"/>
          </a:xfrm>
          <a:prstGeom prst="rect">
            <a:avLst/>
          </a:prstGeom>
          <a:noFill/>
          <a:ln cap="flat" cmpd="sng" w="25400">
            <a:solidFill>
              <a:srgbClr val="16C78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65"/>
          <p:cNvSpPr/>
          <p:nvPr/>
        </p:nvSpPr>
        <p:spPr>
          <a:xfrm>
            <a:off x="8220456" y="2523744"/>
            <a:ext cx="3291840" cy="2212848"/>
          </a:xfrm>
          <a:prstGeom prst="rect">
            <a:avLst/>
          </a:prstGeom>
          <a:noFill/>
          <a:ln cap="flat" cmpd="sng" w="25400">
            <a:solidFill>
              <a:srgbClr val="F0AE1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65"/>
          <p:cNvSpPr/>
          <p:nvPr/>
        </p:nvSpPr>
        <p:spPr>
          <a:xfrm>
            <a:off x="9262872" y="5102352"/>
            <a:ext cx="2240280" cy="274320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OrdenesVentaPage (padre)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65"/>
          <p:cNvSpPr/>
          <p:nvPr/>
        </p:nvSpPr>
        <p:spPr>
          <a:xfrm>
            <a:off x="8275320" y="4818888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DetalleOrdenVenta (hijo)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6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¿Por qué dividir una página en componentes?</a:t>
            </a:r>
            <a:endParaRPr/>
          </a:p>
        </p:txBody>
      </p:sp>
      <p:sp>
        <p:nvSpPr>
          <p:cNvPr id="1816" name="Google Shape;1816;p6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7" name="Google Shape;1817;p6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66"/>
          <p:cNvSpPr/>
          <p:nvPr/>
        </p:nvSpPr>
        <p:spPr>
          <a:xfrm>
            <a:off x="548640" y="1371600"/>
            <a:ext cx="5349240" cy="25146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6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Todo en una sola página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66"/>
          <p:cNvSpPr/>
          <p:nvPr/>
        </p:nvSpPr>
        <p:spPr>
          <a:xfrm>
            <a:off x="731520" y="1874519"/>
            <a:ext cx="1920240" cy="1828800"/>
          </a:xfrm>
          <a:prstGeom prst="roundRect">
            <a:avLst>
              <a:gd fmla="val 4000" name="adj"/>
            </a:avLst>
          </a:prstGeom>
          <a:solidFill>
            <a:srgbClr val="648585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OrdenesVentaPage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de órdenes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detalle y líneas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estado y acciones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≈ 120 líneas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66"/>
          <p:cNvSpPr txBox="1"/>
          <p:nvPr/>
        </p:nvSpPr>
        <p:spPr>
          <a:xfrm>
            <a:off x="2834640" y="1874519"/>
            <a:ext cx="2926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094A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archivo largo con varias responsabilidades.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094A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detalle no se puede reutilizar en otra página.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094A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cambio en la tabla obliga a revisar todo el archivo.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66"/>
          <p:cNvSpPr/>
          <p:nvPr/>
        </p:nvSpPr>
        <p:spPr>
          <a:xfrm>
            <a:off x="6291072" y="1371600"/>
            <a:ext cx="5349240" cy="25146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66"/>
          <p:cNvSpPr txBox="1"/>
          <p:nvPr/>
        </p:nvSpPr>
        <p:spPr>
          <a:xfrm>
            <a:off x="6473952" y="14630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Padre + componente hijo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66"/>
          <p:cNvSpPr/>
          <p:nvPr/>
        </p:nvSpPr>
        <p:spPr>
          <a:xfrm>
            <a:off x="6473952" y="2148840"/>
            <a:ext cx="1920240" cy="548640"/>
          </a:xfrm>
          <a:prstGeom prst="roundRect">
            <a:avLst>
              <a:gd fmla="val 13333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OrdenesVentaPage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66"/>
          <p:cNvSpPr/>
          <p:nvPr/>
        </p:nvSpPr>
        <p:spPr>
          <a:xfrm>
            <a:off x="6473952" y="2971800"/>
            <a:ext cx="1920240" cy="548640"/>
          </a:xfrm>
          <a:prstGeom prst="roundRect">
            <a:avLst>
              <a:gd fmla="val 13333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DetalleOrdenVenta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66"/>
          <p:cNvSpPr txBox="1"/>
          <p:nvPr/>
        </p:nvSpPr>
        <p:spPr>
          <a:xfrm>
            <a:off x="8577072" y="1874519"/>
            <a:ext cx="2926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archivo tiene una sola responsabilidad.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DetalleOrdenVenta se reutiliza en MisOrdenesPage (órdenes del cliente).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C78E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cambios quedan localizados.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66"/>
          <p:cNvSpPr txBox="1"/>
          <p:nvPr/>
        </p:nvSpPr>
        <p:spPr>
          <a:xfrm>
            <a:off x="548640" y="402336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Un componente es a la interfaz lo que un método es al código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9" name="Google Shape;1829;p66"/>
          <p:cNvGraphicFramePr/>
          <p:nvPr/>
        </p:nvGraphicFramePr>
        <p:xfrm>
          <a:off x="548640" y="4389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4584475"/>
                <a:gridCol w="6509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Método C#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 Blazor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invoca: CalcularTotal(orden)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usa como etiqueta: &lt;DetalleOrdenVenta Orden="orden" /&gt;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Recibe parámetros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Recibe parámetros: propiedades con [Parameter]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Usa sus parámetros para calcular un resultado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Usa sus parámetros para mostrar HTML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6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Árbol de componentes y flujo de datos</a:t>
            </a:r>
            <a:endParaRPr/>
          </a:p>
        </p:txBody>
      </p:sp>
      <p:sp>
        <p:nvSpPr>
          <p:cNvPr id="1835" name="Google Shape;1835;p6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6" name="Google Shape;1836;p6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67"/>
          <p:cNvSpPr/>
          <p:nvPr/>
        </p:nvSpPr>
        <p:spPr>
          <a:xfrm>
            <a:off x="1920240" y="1417320"/>
            <a:ext cx="3657600" cy="1097280"/>
          </a:xfrm>
          <a:prstGeom prst="roundRect">
            <a:avLst>
              <a:gd fmla="val 6666" name="adj"/>
            </a:avLst>
          </a:prstGeom>
          <a:solidFill>
            <a:srgbClr val="16C78E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OrdenesVentaPage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 · estado y acciones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Ordenes, OrdenSeleccionada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67"/>
          <p:cNvSpPr/>
          <p:nvPr/>
        </p:nvSpPr>
        <p:spPr>
          <a:xfrm>
            <a:off x="2286000" y="3977639"/>
            <a:ext cx="2926080" cy="914400"/>
          </a:xfrm>
          <a:prstGeom prst="roundRect">
            <a:avLst>
              <a:gd fmla="val 8000" name="adj"/>
            </a:avLst>
          </a:prstGeom>
          <a:solidFill>
            <a:srgbClr val="F0AE19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DetalleOrdenVenta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hijo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4" name="Google Shape;1844;p67"/>
          <p:cNvCxnSpPr/>
          <p:nvPr/>
        </p:nvCxnSpPr>
        <p:spPr>
          <a:xfrm>
            <a:off x="3749040" y="2542032"/>
            <a:ext cx="0" cy="1408176"/>
          </a:xfrm>
          <a:prstGeom prst="straightConnector1">
            <a:avLst/>
          </a:prstGeom>
          <a:noFill/>
          <a:ln cap="flat" cmpd="sng" w="317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5" name="Google Shape;1845;p67"/>
          <p:cNvSpPr txBox="1"/>
          <p:nvPr/>
        </p:nvSpPr>
        <p:spPr>
          <a:xfrm>
            <a:off x="3886200" y="29718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[Parameter]</a:t>
            </a:r>
            <a:b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pc="0" sz="10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Orden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67"/>
          <p:cNvSpPr txBox="1"/>
          <p:nvPr/>
        </p:nvSpPr>
        <p:spPr>
          <a:xfrm>
            <a:off x="548640" y="50749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Datos: de padre a hijo (parámetros). Acciones: en el padre (@onclick).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7" name="Google Shape;1847;p67"/>
          <p:cNvGraphicFramePr/>
          <p:nvPr/>
        </p:nvGraphicFramePr>
        <p:xfrm>
          <a:off x="71780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1691650"/>
                <a:gridCol w="27706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Término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 padre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Contiene a otros componentes en su marcado y mantiene el estado.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 hijo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usa como etiqueta dentro del padre.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Parámetro de componente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Propiedad pública con [Parameter]; recibe datos del padre.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 del padre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Propiedades del padre que cambian con sus métodos (SeleccionarOrden).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Flujo de datos unidireccional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hijo solo muestra sus parámetros; el padre cambia el estado.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6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Parámetros: cómo el padre envía datos al hijo</a:t>
            </a:r>
            <a:endParaRPr/>
          </a:p>
        </p:txBody>
      </p:sp>
      <p:sp>
        <p:nvSpPr>
          <p:cNvPr id="1853" name="Google Shape;1853;p6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4" name="Google Shape;1854;p6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68"/>
          <p:cNvSpPr/>
          <p:nvPr/>
        </p:nvSpPr>
        <p:spPr>
          <a:xfrm>
            <a:off x="548640" y="1371600"/>
            <a:ext cx="5212080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68"/>
          <p:cNvSpPr/>
          <p:nvPr/>
        </p:nvSpPr>
        <p:spPr>
          <a:xfrm>
            <a:off x="548640" y="1371600"/>
            <a:ext cx="52120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68"/>
          <p:cNvSpPr/>
          <p:nvPr/>
        </p:nvSpPr>
        <p:spPr>
          <a:xfrm>
            <a:off x="559612" y="1664208"/>
            <a:ext cx="51901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68"/>
          <p:cNvSpPr txBox="1"/>
          <p:nvPr/>
        </p:nvSpPr>
        <p:spPr>
          <a:xfrm>
            <a:off x="685800" y="138988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Padre: usa la etiqueta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68"/>
          <p:cNvSpPr txBox="1"/>
          <p:nvPr/>
        </p:nvSpPr>
        <p:spPr>
          <a:xfrm>
            <a:off x="694944" y="1773936"/>
            <a:ext cx="491947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pc="0" sz="13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en OrdenesVentaPage (padre) *@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&lt;DetalleOrdenVenta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Orden=</a:t>
            </a:r>
            <a:r>
              <a:rPr b="0" i="0" lang="en-US" spc="0" sz="13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"OrdenSeleccionada"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3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68"/>
          <p:cNvSpPr/>
          <p:nvPr/>
        </p:nvSpPr>
        <p:spPr>
          <a:xfrm>
            <a:off x="6428232" y="1371600"/>
            <a:ext cx="5212080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68"/>
          <p:cNvSpPr/>
          <p:nvPr/>
        </p:nvSpPr>
        <p:spPr>
          <a:xfrm>
            <a:off x="6428232" y="1371600"/>
            <a:ext cx="521208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68"/>
          <p:cNvSpPr/>
          <p:nvPr/>
        </p:nvSpPr>
        <p:spPr>
          <a:xfrm>
            <a:off x="6439204" y="1664208"/>
            <a:ext cx="519013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68"/>
          <p:cNvSpPr txBox="1"/>
          <p:nvPr/>
        </p:nvSpPr>
        <p:spPr>
          <a:xfrm>
            <a:off x="6565392" y="138988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Hijo: declara la propiedad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68"/>
          <p:cNvSpPr txBox="1"/>
          <p:nvPr/>
        </p:nvSpPr>
        <p:spPr>
          <a:xfrm>
            <a:off x="6574536" y="1773936"/>
            <a:ext cx="491947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[Parameter, EditorRequired]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OrdenVenta Orden {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 =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!;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7" name="Google Shape;1867;p68"/>
          <p:cNvCxnSpPr/>
          <p:nvPr/>
        </p:nvCxnSpPr>
        <p:spPr>
          <a:xfrm>
            <a:off x="5806440" y="2103120"/>
            <a:ext cx="594360" cy="0"/>
          </a:xfrm>
          <a:prstGeom prst="straightConnector1">
            <a:avLst/>
          </a:prstGeom>
          <a:noFill/>
          <a:ln cap="flat" cmpd="sng" w="381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8" name="Google Shape;1868;p68"/>
          <p:cNvSpPr/>
          <p:nvPr/>
        </p:nvSpPr>
        <p:spPr>
          <a:xfrm>
            <a:off x="2011680" y="2724912"/>
            <a:ext cx="2834640" cy="29260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 del atributo = nombre de la propiedad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68"/>
          <p:cNvSpPr/>
          <p:nvPr/>
        </p:nvSpPr>
        <p:spPr>
          <a:xfrm>
            <a:off x="7525512" y="2724912"/>
            <a:ext cx="3108960" cy="29260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valor queda asignado en Orden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68"/>
          <p:cNvSpPr txBox="1"/>
          <p:nvPr/>
        </p:nvSpPr>
        <p:spPr>
          <a:xfrm>
            <a:off x="548640" y="31546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Equivale conceptualmente a:  detalle.Orden = OrdenSeleccionada;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68"/>
          <p:cNvSpPr/>
          <p:nvPr/>
        </p:nvSpPr>
        <p:spPr>
          <a:xfrm>
            <a:off x="548640" y="361188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68"/>
          <p:cNvSpPr txBox="1"/>
          <p:nvPr/>
        </p:nvSpPr>
        <p:spPr>
          <a:xfrm>
            <a:off x="1005840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Pública y con [Parameter]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Sin el atributo, Blazor no acepta el atributo en la etiqueta.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68"/>
          <p:cNvSpPr/>
          <p:nvPr/>
        </p:nvSpPr>
        <p:spPr>
          <a:xfrm>
            <a:off x="4315968" y="361188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68"/>
          <p:cNvSpPr txBox="1"/>
          <p:nvPr/>
        </p:nvSpPr>
        <p:spPr>
          <a:xfrm>
            <a:off x="4773168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Mismo nombre y tipo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Orden (atributo) ↔ Orden (propiedad); el valor debe ser un OrdenVenta.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68"/>
          <p:cNvSpPr/>
          <p:nvPr/>
        </p:nvSpPr>
        <p:spPr>
          <a:xfrm>
            <a:off x="8083296" y="361188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68"/>
          <p:cNvSpPr txBox="1"/>
          <p:nvPr/>
        </p:nvSpPr>
        <p:spPr>
          <a:xfrm>
            <a:off x="8540496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valor es C# del padre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OrdenSeleccionada es una propiedad del estado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68"/>
          <p:cNvSpPr/>
          <p:nvPr/>
        </p:nvSpPr>
        <p:spPr>
          <a:xfrm>
            <a:off x="548640" y="457200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68"/>
          <p:cNvSpPr txBox="1"/>
          <p:nvPr/>
        </p:nvSpPr>
        <p:spPr>
          <a:xfrm>
            <a:off x="1005840" y="45262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 reasigna en cada render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 el padre cambia OrdenSeleccionada, el hijo recibe el nuevo valor, ejecuta OnParametersSet y se vuelve a renderizar.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68"/>
          <p:cNvSpPr/>
          <p:nvPr/>
        </p:nvSpPr>
        <p:spPr>
          <a:xfrm>
            <a:off x="4315968" y="457200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68"/>
          <p:cNvSpPr txBox="1"/>
          <p:nvPr/>
        </p:nvSpPr>
        <p:spPr>
          <a:xfrm>
            <a:off x="4773168" y="45262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hijo no lo modifica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valor pertenece al padre: solo el padre cambia OrdenSeleccionada.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68"/>
          <p:cNvSpPr/>
          <p:nvPr/>
        </p:nvSpPr>
        <p:spPr>
          <a:xfrm>
            <a:off x="8083296" y="4572000"/>
            <a:ext cx="347472" cy="34747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68"/>
          <p:cNvSpPr txBox="1"/>
          <p:nvPr/>
        </p:nvSpPr>
        <p:spPr>
          <a:xfrm>
            <a:off x="8540496" y="45262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EditorRequired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IDE advierte si el padre olvida enviar el parámetro.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6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1: componente hijo DetalleOrdenVenta (recibe un parámetro)</a:t>
            </a:r>
            <a:endParaRPr/>
          </a:p>
        </p:txBody>
      </p:sp>
      <p:sp>
        <p:nvSpPr>
          <p:cNvPr id="1888" name="Google Shape;1888;p6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9" name="Google Shape;1889;p6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69"/>
          <p:cNvSpPr/>
          <p:nvPr/>
        </p:nvSpPr>
        <p:spPr>
          <a:xfrm>
            <a:off x="548640" y="1325880"/>
            <a:ext cx="64465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69"/>
          <p:cNvSpPr/>
          <p:nvPr/>
        </p:nvSpPr>
        <p:spPr>
          <a:xfrm>
            <a:off x="548640" y="1325880"/>
            <a:ext cx="6446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69"/>
          <p:cNvSpPr/>
          <p:nvPr/>
        </p:nvSpPr>
        <p:spPr>
          <a:xfrm>
            <a:off x="559612" y="1618488"/>
            <a:ext cx="6424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69"/>
          <p:cNvSpPr txBox="1"/>
          <p:nvPr/>
        </p:nvSpPr>
        <p:spPr>
          <a:xfrm>
            <a:off x="685800" y="1344168"/>
            <a:ext cx="6172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Components/Ventas/DetalleOrdenVenta.razor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69"/>
          <p:cNvSpPr txBox="1"/>
          <p:nvPr/>
        </p:nvSpPr>
        <p:spPr>
          <a:xfrm>
            <a:off x="694944" y="1728216"/>
            <a:ext cx="6153912" cy="375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"card"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"card-header fw-bold"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 N.° </a:t>
            </a:r>
            <a:r>
              <a:rPr b="1" i="0" lang="en-US" spc="0" sz="8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@Orden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.Id ·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Orden.Cliente?.Nombre) 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Orden.Cliente?.ApellidoPaterno)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"card-body"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Vendedor: 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@(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Orden.Empleado !=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? 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$"{Orden.Empleado.Nombre} {Orden.Empleado.ApellidoPaterno}"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: 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"Sin vendedor"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&lt;table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table-sm"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&lt;thead&gt;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&lt;th&gt;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Producto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&lt;th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Cant.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&lt;th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Subtotal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&lt;/thead&gt;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&lt;tbody&gt;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1" i="0" lang="en-US" spc="0" sz="8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(LineaOrdenVenta linea </a:t>
            </a:r>
            <a:r>
              <a:rPr b="0" i="0" lang="en-US" spc="0" sz="8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Orden.Lineas) {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@linea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.Producto.Nombre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@linea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.Cantidad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&lt;td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"text-end"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@linea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.SubTotal.ToString(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}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&lt;/tbody&gt;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&lt;TotalesOrdenVenta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SubTotal=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"OrdenViewModel.SubTotal"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   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Igv=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"OrdenViewModel.Igv"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Total=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"OrdenViewModel.Total"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69"/>
          <p:cNvSpPr/>
          <p:nvPr/>
        </p:nvSpPr>
        <p:spPr>
          <a:xfrm>
            <a:off x="7205472" y="1371600"/>
            <a:ext cx="4434840" cy="192024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69"/>
          <p:cNvSpPr/>
          <p:nvPr/>
        </p:nvSpPr>
        <p:spPr>
          <a:xfrm>
            <a:off x="7205472" y="1371600"/>
            <a:ext cx="44348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69"/>
          <p:cNvSpPr/>
          <p:nvPr/>
        </p:nvSpPr>
        <p:spPr>
          <a:xfrm>
            <a:off x="7216444" y="1664208"/>
            <a:ext cx="44128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69"/>
          <p:cNvSpPr txBox="1"/>
          <p:nvPr/>
        </p:nvSpPr>
        <p:spPr>
          <a:xfrm>
            <a:off x="7342631" y="1389888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Continuación: @code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69"/>
          <p:cNvSpPr txBox="1"/>
          <p:nvPr/>
        </p:nvSpPr>
        <p:spPr>
          <a:xfrm>
            <a:off x="7351775" y="1773936"/>
            <a:ext cx="4142231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[Parameter, EditorRequired]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OrdenVenta Orden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!;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OrdenVentaViewModel OrdenViewModel {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OnParametersSet()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OrdenViewModel =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OrdenVentaViewModel(Orden);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69"/>
          <p:cNvSpPr txBox="1"/>
          <p:nvPr/>
        </p:nvSpPr>
        <p:spPr>
          <a:xfrm>
            <a:off x="7205472" y="3474720"/>
            <a:ext cx="44348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[Parameter]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convierte la propiedad en un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atributo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 la etiqueta.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tiene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solo se usa dentro de otro componente.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OnParametersSet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arma un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OrdenVentaViewModel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cada vez que llega otra orden.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hijo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TotalesOrdenVenta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 el subtotal, el IGV y el total del ViewModel.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7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Selección: el padre maneja el clic y actualiza al hijo</a:t>
            </a:r>
            <a:endParaRPr/>
          </a:p>
        </p:txBody>
      </p:sp>
      <p:sp>
        <p:nvSpPr>
          <p:cNvPr id="1910" name="Google Shape;1910;p7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1" name="Google Shape;1911;p7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70"/>
          <p:cNvSpPr/>
          <p:nvPr/>
        </p:nvSpPr>
        <p:spPr>
          <a:xfrm>
            <a:off x="548640" y="1371600"/>
            <a:ext cx="530352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70"/>
          <p:cNvSpPr/>
          <p:nvPr/>
        </p:nvSpPr>
        <p:spPr>
          <a:xfrm>
            <a:off x="548640" y="1371600"/>
            <a:ext cx="5303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70"/>
          <p:cNvSpPr/>
          <p:nvPr/>
        </p:nvSpPr>
        <p:spPr>
          <a:xfrm>
            <a:off x="559612" y="1664208"/>
            <a:ext cx="5281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70"/>
          <p:cNvSpPr txBox="1"/>
          <p:nvPr/>
        </p:nvSpPr>
        <p:spPr>
          <a:xfrm>
            <a:off x="685800" y="13898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Padre: botón «Ver» en la QuickGrid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70"/>
          <p:cNvSpPr txBox="1"/>
          <p:nvPr/>
        </p:nvSpPr>
        <p:spPr>
          <a:xfrm>
            <a:off x="694944" y="1773936"/>
            <a:ext cx="501091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btn-outline-primary btn-sm"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SeleccionarOrden(context)"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Ver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70"/>
          <p:cNvSpPr txBox="1"/>
          <p:nvPr/>
        </p:nvSpPr>
        <p:spPr>
          <a:xfrm>
            <a:off x="548640" y="258775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es la orden de la fila; el clic ejecuta un método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70"/>
          <p:cNvSpPr/>
          <p:nvPr/>
        </p:nvSpPr>
        <p:spPr>
          <a:xfrm>
            <a:off x="6336792" y="1371600"/>
            <a:ext cx="530352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70"/>
          <p:cNvSpPr/>
          <p:nvPr/>
        </p:nvSpPr>
        <p:spPr>
          <a:xfrm>
            <a:off x="6336792" y="1371600"/>
            <a:ext cx="5303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70"/>
          <p:cNvSpPr/>
          <p:nvPr/>
        </p:nvSpPr>
        <p:spPr>
          <a:xfrm>
            <a:off x="6347764" y="1664208"/>
            <a:ext cx="5281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70"/>
          <p:cNvSpPr txBox="1"/>
          <p:nvPr/>
        </p:nvSpPr>
        <p:spPr>
          <a:xfrm>
            <a:off x="6473952" y="13898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Padre: el método cambia el estado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70"/>
          <p:cNvSpPr txBox="1"/>
          <p:nvPr/>
        </p:nvSpPr>
        <p:spPr>
          <a:xfrm>
            <a:off x="6483096" y="1773936"/>
            <a:ext cx="501091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SeleccionarOrden(OrdenVenta orden)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OrdenSeleccionada = orden;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70"/>
          <p:cNvSpPr txBox="1"/>
          <p:nvPr/>
        </p:nvSpPr>
        <p:spPr>
          <a:xfrm>
            <a:off x="6336792" y="258775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Solo guarda la orden elegida en una propiedad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70"/>
          <p:cNvSpPr/>
          <p:nvPr/>
        </p:nvSpPr>
        <p:spPr>
          <a:xfrm>
            <a:off x="6336792" y="3291840"/>
            <a:ext cx="530352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70"/>
          <p:cNvSpPr/>
          <p:nvPr/>
        </p:nvSpPr>
        <p:spPr>
          <a:xfrm>
            <a:off x="6336792" y="3291840"/>
            <a:ext cx="5303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70"/>
          <p:cNvSpPr/>
          <p:nvPr/>
        </p:nvSpPr>
        <p:spPr>
          <a:xfrm>
            <a:off x="6347764" y="3584448"/>
            <a:ext cx="5281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70"/>
          <p:cNvSpPr txBox="1"/>
          <p:nvPr/>
        </p:nvSpPr>
        <p:spPr>
          <a:xfrm>
            <a:off x="6473952" y="33101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Padre: Blazor vuelve a renderizar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70"/>
          <p:cNvSpPr txBox="1"/>
          <p:nvPr/>
        </p:nvSpPr>
        <p:spPr>
          <a:xfrm>
            <a:off x="6483096" y="3694176"/>
            <a:ext cx="501091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&lt;DetalleOrdenVenta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Orden=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"OrdenSeleccionada"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70"/>
          <p:cNvSpPr txBox="1"/>
          <p:nvPr/>
        </p:nvSpPr>
        <p:spPr>
          <a:xfrm>
            <a:off x="6336792" y="450799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Al terminar SeleccionarOrden, la página se vuelve a dibujar.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70"/>
          <p:cNvSpPr/>
          <p:nvPr/>
        </p:nvSpPr>
        <p:spPr>
          <a:xfrm>
            <a:off x="548640" y="3291840"/>
            <a:ext cx="5303520" cy="1188720"/>
          </a:xfrm>
          <a:prstGeom prst="roundRect">
            <a:avLst>
              <a:gd fmla="val 61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70"/>
          <p:cNvSpPr/>
          <p:nvPr/>
        </p:nvSpPr>
        <p:spPr>
          <a:xfrm>
            <a:off x="548640" y="3291840"/>
            <a:ext cx="53035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70"/>
          <p:cNvSpPr/>
          <p:nvPr/>
        </p:nvSpPr>
        <p:spPr>
          <a:xfrm>
            <a:off x="559612" y="3584448"/>
            <a:ext cx="52815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70"/>
          <p:cNvSpPr txBox="1"/>
          <p:nvPr/>
        </p:nvSpPr>
        <p:spPr>
          <a:xfrm>
            <a:off x="685800" y="33101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Hijo: recibe la nueva orden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70"/>
          <p:cNvSpPr txBox="1"/>
          <p:nvPr/>
        </p:nvSpPr>
        <p:spPr>
          <a:xfrm>
            <a:off x="694944" y="3694176"/>
            <a:ext cx="5010912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[Parameter, EditorRequired]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OrdenVenta Orden {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!;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70"/>
          <p:cNvSpPr txBox="1"/>
          <p:nvPr/>
        </p:nvSpPr>
        <p:spPr>
          <a:xfrm>
            <a:off x="548640" y="450799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DetalleOrdenVenta se vuelve a renderizar con la orden elegida.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1" name="Google Shape;1941;p70"/>
          <p:cNvCxnSpPr/>
          <p:nvPr/>
        </p:nvCxnSpPr>
        <p:spPr>
          <a:xfrm>
            <a:off x="5879592" y="1965960"/>
            <a:ext cx="429768" cy="0"/>
          </a:xfrm>
          <a:prstGeom prst="straightConnector1">
            <a:avLst/>
          </a:prstGeom>
          <a:noFill/>
          <a:ln cap="flat" cmpd="sng" w="3175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2" name="Google Shape;1942;p70"/>
          <p:cNvCxnSpPr/>
          <p:nvPr/>
        </p:nvCxnSpPr>
        <p:spPr>
          <a:xfrm>
            <a:off x="8988552" y="2926080"/>
            <a:ext cx="0" cy="338328"/>
          </a:xfrm>
          <a:prstGeom prst="straightConnector1">
            <a:avLst/>
          </a:prstGeom>
          <a:noFill/>
          <a:ln cap="flat" cmpd="sng" w="3175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3" name="Google Shape;1943;p70"/>
          <p:cNvCxnSpPr/>
          <p:nvPr/>
        </p:nvCxnSpPr>
        <p:spPr>
          <a:xfrm rot="10800000">
            <a:off x="5879592" y="3886200"/>
            <a:ext cx="429768" cy="0"/>
          </a:xfrm>
          <a:prstGeom prst="straightConnector1">
            <a:avLst/>
          </a:prstGeom>
          <a:noFill/>
          <a:ln cap="flat" cmpd="sng" w="3175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4" name="Google Shape;1944;p70"/>
          <p:cNvSpPr/>
          <p:nvPr/>
        </p:nvSpPr>
        <p:spPr>
          <a:xfrm>
            <a:off x="548640" y="4956048"/>
            <a:ext cx="11094415" cy="548640"/>
          </a:xfrm>
          <a:prstGeom prst="roundRect">
            <a:avLst>
              <a:gd fmla="val 13333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70"/>
          <p:cNvSpPr txBox="1"/>
          <p:nvPr/>
        </p:nvSpPr>
        <p:spPr>
          <a:xfrm>
            <a:off x="731520" y="4956048"/>
            <a:ext cx="107286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hijo no necesita avisar al padre: el botón «Ver» está en el padre. El hijo solo recibe datos y los muestra.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7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2: componente padre OrdenesVentaPage (marcado)</a:t>
            </a:r>
            <a:endParaRPr/>
          </a:p>
        </p:txBody>
      </p:sp>
      <p:sp>
        <p:nvSpPr>
          <p:cNvPr id="1951" name="Google Shape;1951;p7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2" name="Google Shape;1952;p7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71"/>
          <p:cNvSpPr/>
          <p:nvPr/>
        </p:nvSpPr>
        <p:spPr>
          <a:xfrm>
            <a:off x="548640" y="1371600"/>
            <a:ext cx="67208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71"/>
          <p:cNvSpPr/>
          <p:nvPr/>
        </p:nvSpPr>
        <p:spPr>
          <a:xfrm>
            <a:off x="548640" y="1371600"/>
            <a:ext cx="67208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71"/>
          <p:cNvSpPr/>
          <p:nvPr/>
        </p:nvSpPr>
        <p:spPr>
          <a:xfrm>
            <a:off x="559612" y="1664208"/>
            <a:ext cx="66988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71"/>
          <p:cNvSpPr txBox="1"/>
          <p:nvPr/>
        </p:nvSpPr>
        <p:spPr>
          <a:xfrm>
            <a:off x="685800" y="1389888"/>
            <a:ext cx="6446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Components/Pages/Ventas/OrdenesVentaPage.razor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71"/>
          <p:cNvSpPr txBox="1"/>
          <p:nvPr/>
        </p:nvSpPr>
        <p:spPr>
          <a:xfrm>
            <a:off x="694944" y="1773936"/>
            <a:ext cx="64282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"col-lg-7"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&lt;QuickGrid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Items=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"Ordenes"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Pagination=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Class=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table-hover"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"N.°"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"o =&gt; o.Id"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"Cliente"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"@(o =&gt; o.Cliente!.Nombre + 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 + o.Cliente!.ApellidoPaterno)"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&lt;PropertyColumn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"Total (S/)"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Property=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"o =&gt; o.Total"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Format=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"N2"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    Sortable=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Align=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"Align.Right"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&lt;TemplateColumn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Title=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"Acciones"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btn-outline-primary btn-sm"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SeleccionarOrden(context)"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Ver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btn-sm"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"() =&gt; EditarOrden(context.Id)"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Editar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btn-danger btn-sm"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"() =&gt; EliminarOrden(context.Id)"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Eliminar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&lt;/TemplateColumn&gt;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&lt;/QuickGrid&gt;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&lt;Paginator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"Paginacion"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"col-lg-5"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(OrdenSeleccionada ==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alert-info"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Seleccione una orden para ver su detalle.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&lt;DetalleOrdenVenta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Orden=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"OrdenSeleccionada"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71"/>
          <p:cNvSpPr/>
          <p:nvPr/>
        </p:nvSpPr>
        <p:spPr>
          <a:xfrm>
            <a:off x="7498079" y="1417320"/>
            <a:ext cx="1737360" cy="685800"/>
          </a:xfrm>
          <a:prstGeom prst="roundRect">
            <a:avLst>
              <a:gd fmla="val 10666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OrdenesVentaPage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71"/>
          <p:cNvSpPr/>
          <p:nvPr/>
        </p:nvSpPr>
        <p:spPr>
          <a:xfrm>
            <a:off x="9902952" y="1417320"/>
            <a:ext cx="1737360" cy="685800"/>
          </a:xfrm>
          <a:prstGeom prst="roundRect">
            <a:avLst>
              <a:gd fmla="val 10666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Hijo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DetalleOrdenVenta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3" name="Google Shape;1963;p71"/>
          <p:cNvCxnSpPr/>
          <p:nvPr/>
        </p:nvCxnSpPr>
        <p:spPr>
          <a:xfrm>
            <a:off x="9262872" y="1755648"/>
            <a:ext cx="612648" cy="0"/>
          </a:xfrm>
          <a:prstGeom prst="straightConnector1">
            <a:avLst/>
          </a:prstGeom>
          <a:noFill/>
          <a:ln cap="flat" cmpd="sng" w="317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4" name="Google Shape;1964;p71"/>
          <p:cNvSpPr txBox="1"/>
          <p:nvPr/>
        </p:nvSpPr>
        <p:spPr>
          <a:xfrm>
            <a:off x="7498079" y="2148840"/>
            <a:ext cx="4142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Orden="OrdenSeleccionada"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71"/>
          <p:cNvSpPr txBox="1"/>
          <p:nvPr/>
        </p:nvSpPr>
        <p:spPr>
          <a:xfrm>
            <a:off x="7498079" y="2560320"/>
            <a:ext cx="4142232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tabla se arma con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QuickGrid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directamente en 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botón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llama 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SeleccionarOrden(context)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un método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también llaman a métodos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columna derecha muestra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DetalleOrdenVenta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solo si hay una orden seleccionada.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7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 3: componente padre OrdenesVentaPage (@code)</a:t>
            </a:r>
            <a:endParaRPr/>
          </a:p>
        </p:txBody>
      </p:sp>
      <p:sp>
        <p:nvSpPr>
          <p:cNvPr id="1971" name="Google Shape;1971;p7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2" name="Google Shape;1972;p7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72"/>
          <p:cNvSpPr/>
          <p:nvPr/>
        </p:nvSpPr>
        <p:spPr>
          <a:xfrm>
            <a:off x="548640" y="1371600"/>
            <a:ext cx="57150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72"/>
          <p:cNvSpPr/>
          <p:nvPr/>
        </p:nvSpPr>
        <p:spPr>
          <a:xfrm>
            <a:off x="548640" y="1371600"/>
            <a:ext cx="5715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72"/>
          <p:cNvSpPr/>
          <p:nvPr/>
        </p:nvSpPr>
        <p:spPr>
          <a:xfrm>
            <a:off x="559612" y="1664208"/>
            <a:ext cx="5693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72"/>
          <p:cNvSpPr txBox="1"/>
          <p:nvPr/>
        </p:nvSpPr>
        <p:spPr>
          <a:xfrm>
            <a:off x="685800" y="1389888"/>
            <a:ext cx="5440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Components/Pages/Ventas/OrdenesVentaPage.razor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72"/>
          <p:cNvSpPr txBox="1"/>
          <p:nvPr/>
        </p:nvSpPr>
        <p:spPr>
          <a:xfrm>
            <a:off x="694944" y="1773936"/>
            <a:ext cx="54223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"/ordenes-venta"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@attribute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[Authorize(Policy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"OrdenesVenta"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IOrdenVentaBL OrdenVentaBL;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NavigationManager Nav;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IJSRuntime JS;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@using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Microsoft.AspNetCore.Components.QuickGrid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... marcado del paso 2 ... *@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IQueryable&lt;OrdenVenta&gt; Ordenes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Enumerable.Empty&lt;OrdenVenta&gt;().AsQueryable();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OrdenVenta? OrdenSeleccionada {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PaginationState Paginacion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() { ItemsPerPage = 5 };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OnInitialized()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Ordenes = OrdenVentaBL.FindAll().AsQueryable();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SeleccionarOrden(OrdenVenta orden)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OrdenSeleccionada = orden;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72"/>
          <p:cNvSpPr/>
          <p:nvPr/>
        </p:nvSpPr>
        <p:spPr>
          <a:xfrm>
            <a:off x="6473952" y="1371600"/>
            <a:ext cx="5166360" cy="41148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72"/>
          <p:cNvSpPr/>
          <p:nvPr/>
        </p:nvSpPr>
        <p:spPr>
          <a:xfrm>
            <a:off x="6473952" y="1371600"/>
            <a:ext cx="51663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72"/>
          <p:cNvSpPr/>
          <p:nvPr/>
        </p:nvSpPr>
        <p:spPr>
          <a:xfrm>
            <a:off x="6484924" y="1664208"/>
            <a:ext cx="51444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72"/>
          <p:cNvSpPr txBox="1"/>
          <p:nvPr/>
        </p:nvSpPr>
        <p:spPr>
          <a:xfrm>
            <a:off x="6611112" y="138988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Continuación: @code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72"/>
          <p:cNvSpPr txBox="1"/>
          <p:nvPr/>
        </p:nvSpPr>
        <p:spPr>
          <a:xfrm>
            <a:off x="6620256" y="1773936"/>
            <a:ext cx="48737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NuevaOrden()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Nav.NavigateTo(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"/ordenes-venta/nueva"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EditarOrden(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Nav.NavigateTo(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$"/ordenes-venta/editar/{id}"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async Task EliminarOrden(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confirmado = await JS.InvokeAsync&lt;bool&gt;(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"confirmarEliminacion"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"¿Está seguro de eliminar la orden de venta?"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(!confirmado)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OrdenVentaBL.Delete(id);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Ordenes = OrdenVentaBL.FindAll().AsQueryable();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(OrdenSeleccionada?.Id == id)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OrdenSeleccionada =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7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Secuencia de interacción del maestro-detalle</a:t>
            </a:r>
            <a:endParaRPr/>
          </a:p>
        </p:txBody>
      </p:sp>
      <p:sp>
        <p:nvSpPr>
          <p:cNvPr id="1996" name="Google Shape;1996;p7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7" name="Google Shape;1997;p7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73"/>
          <p:cNvSpPr/>
          <p:nvPr/>
        </p:nvSpPr>
        <p:spPr>
          <a:xfrm>
            <a:off x="868680" y="1325880"/>
            <a:ext cx="2651760" cy="457200"/>
          </a:xfrm>
          <a:prstGeom prst="roundRect">
            <a:avLst>
              <a:gd fmla="val 16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9" name="Google Shape;1999;p73"/>
          <p:cNvCxnSpPr/>
          <p:nvPr/>
        </p:nvCxnSpPr>
        <p:spPr>
          <a:xfrm>
            <a:off x="2194560" y="1801368"/>
            <a:ext cx="0" cy="3685032"/>
          </a:xfrm>
          <a:prstGeom prst="straightConnector1">
            <a:avLst/>
          </a:prstGeom>
          <a:noFill/>
          <a:ln cap="flat" cmpd="sng" w="15875">
            <a:solidFill>
              <a:srgbClr val="64858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00" name="Google Shape;2000;p73"/>
          <p:cNvSpPr/>
          <p:nvPr/>
        </p:nvSpPr>
        <p:spPr>
          <a:xfrm>
            <a:off x="4773168" y="1325880"/>
            <a:ext cx="2651760" cy="457200"/>
          </a:xfrm>
          <a:prstGeom prst="roundRect">
            <a:avLst>
              <a:gd fmla="val 16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OrdenesVentaPage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1" name="Google Shape;2001;p73"/>
          <p:cNvCxnSpPr/>
          <p:nvPr/>
        </p:nvCxnSpPr>
        <p:spPr>
          <a:xfrm>
            <a:off x="6099048" y="1801368"/>
            <a:ext cx="0" cy="3685032"/>
          </a:xfrm>
          <a:prstGeom prst="straightConnector1">
            <a:avLst/>
          </a:prstGeom>
          <a:noFill/>
          <a:ln cap="flat" cmpd="sng" w="15875">
            <a:solidFill>
              <a:srgbClr val="64858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02" name="Google Shape;2002;p73"/>
          <p:cNvSpPr/>
          <p:nvPr/>
        </p:nvSpPr>
        <p:spPr>
          <a:xfrm>
            <a:off x="8668512" y="1325880"/>
            <a:ext cx="2651760" cy="457200"/>
          </a:xfrm>
          <a:prstGeom prst="roundRect">
            <a:avLst>
              <a:gd fmla="val 16000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DetalleOrdenVenta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3" name="Google Shape;2003;p73"/>
          <p:cNvCxnSpPr/>
          <p:nvPr/>
        </p:nvCxnSpPr>
        <p:spPr>
          <a:xfrm>
            <a:off x="9994392" y="1801368"/>
            <a:ext cx="0" cy="3685032"/>
          </a:xfrm>
          <a:prstGeom prst="straightConnector1">
            <a:avLst/>
          </a:prstGeom>
          <a:noFill/>
          <a:ln cap="flat" cmpd="sng" w="15875">
            <a:solidFill>
              <a:srgbClr val="64858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04" name="Google Shape;2004;p73"/>
          <p:cNvSpPr/>
          <p:nvPr/>
        </p:nvSpPr>
        <p:spPr>
          <a:xfrm>
            <a:off x="594359" y="1965960"/>
            <a:ext cx="3200400" cy="438912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1. Clic en «Ver» (orden 3)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5" name="Google Shape;2005;p73"/>
          <p:cNvCxnSpPr/>
          <p:nvPr/>
        </p:nvCxnSpPr>
        <p:spPr>
          <a:xfrm>
            <a:off x="2240279" y="2880360"/>
            <a:ext cx="3813049" cy="0"/>
          </a:xfrm>
          <a:prstGeom prst="straightConnector1">
            <a:avLst/>
          </a:prstGeom>
          <a:noFill/>
          <a:ln cap="flat" cmpd="sng" w="31750">
            <a:solidFill>
              <a:srgbClr val="C309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6" name="Google Shape;2006;p73"/>
          <p:cNvSpPr txBox="1"/>
          <p:nvPr/>
        </p:nvSpPr>
        <p:spPr>
          <a:xfrm>
            <a:off x="2377440" y="2551176"/>
            <a:ext cx="3538727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2. @onclick → SeleccionarOrden(orden)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73"/>
          <p:cNvSpPr/>
          <p:nvPr/>
        </p:nvSpPr>
        <p:spPr>
          <a:xfrm>
            <a:off x="4498848" y="3063240"/>
            <a:ext cx="3200400" cy="438912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3. OrdenSeleccionada = orden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73"/>
          <p:cNvSpPr/>
          <p:nvPr/>
        </p:nvSpPr>
        <p:spPr>
          <a:xfrm>
            <a:off x="4498848" y="3639312"/>
            <a:ext cx="3200400" cy="438912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4. Blazor vuelve a renderizar el padre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9" name="Google Shape;2009;p73"/>
          <p:cNvCxnSpPr/>
          <p:nvPr/>
        </p:nvCxnSpPr>
        <p:spPr>
          <a:xfrm>
            <a:off x="6144768" y="4572000"/>
            <a:ext cx="3803904" cy="0"/>
          </a:xfrm>
          <a:prstGeom prst="straightConnector1">
            <a:avLst/>
          </a:prstGeom>
          <a:noFill/>
          <a:ln cap="flat" cmpd="sng" w="317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0" name="Google Shape;2010;p73"/>
          <p:cNvSpPr txBox="1"/>
          <p:nvPr/>
        </p:nvSpPr>
        <p:spPr>
          <a:xfrm>
            <a:off x="6281928" y="4242816"/>
            <a:ext cx="352958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5. Parámetro Orden = orden 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73"/>
          <p:cNvSpPr/>
          <p:nvPr/>
        </p:nvSpPr>
        <p:spPr>
          <a:xfrm>
            <a:off x="8394192" y="4754880"/>
            <a:ext cx="3200400" cy="438912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12700">
            <a:solidFill>
              <a:srgbClr val="F0AE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6. Muestra cliente, vendedor y líneas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7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Pasos para crear y usar un componente hijo</a:t>
            </a:r>
            <a:endParaRPr/>
          </a:p>
        </p:txBody>
      </p:sp>
      <p:sp>
        <p:nvSpPr>
          <p:cNvPr id="2017" name="Google Shape;2017;p7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8" name="Google Shape;2018;p7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74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74"/>
          <p:cNvSpPr txBox="1"/>
          <p:nvPr/>
        </p:nvSpPr>
        <p:spPr>
          <a:xfrm>
            <a:off x="1188719" y="1307592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Crear el archivo .razor sin @page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Components/Ventas/DetalleOrdenVenta.razor: no tiene URL.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74"/>
          <p:cNvSpPr/>
          <p:nvPr/>
        </p:nvSpPr>
        <p:spPr>
          <a:xfrm>
            <a:off x="548640" y="2176272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74"/>
          <p:cNvSpPr txBox="1"/>
          <p:nvPr/>
        </p:nvSpPr>
        <p:spPr>
          <a:xfrm>
            <a:off x="1188719" y="2112264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Declarar los parámetros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Propiedades públicas con [Parameter] para los datos que envía 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74"/>
          <p:cNvSpPr/>
          <p:nvPr/>
        </p:nvSpPr>
        <p:spPr>
          <a:xfrm>
            <a:off x="548640" y="2980944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74"/>
          <p:cNvSpPr txBox="1"/>
          <p:nvPr/>
        </p:nvSpPr>
        <p:spPr>
          <a:xfrm>
            <a:off x="1188719" y="2916936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Mostrar los datos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hijo usa sus parámetros en su marcado; no cambia el estado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74"/>
          <p:cNvSpPr/>
          <p:nvPr/>
        </p:nvSpPr>
        <p:spPr>
          <a:xfrm>
            <a:off x="548640" y="3785616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74"/>
          <p:cNvSpPr txBox="1"/>
          <p:nvPr/>
        </p:nvSpPr>
        <p:spPr>
          <a:xfrm>
            <a:off x="1188719" y="3721608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Importar el espacio de nombres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@using SoftProg.Web.Components.Ventas en _Imports.razor.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74"/>
          <p:cNvSpPr/>
          <p:nvPr/>
        </p:nvSpPr>
        <p:spPr>
          <a:xfrm>
            <a:off x="548640" y="4590288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74"/>
          <p:cNvSpPr txBox="1"/>
          <p:nvPr/>
        </p:nvSpPr>
        <p:spPr>
          <a:xfrm>
            <a:off x="1188719" y="4526279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Usarlo desde el padre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Como etiqueta: cada atributo recibe un dato del estado del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74"/>
          <p:cNvSpPr/>
          <p:nvPr/>
        </p:nvSpPr>
        <p:spPr>
          <a:xfrm>
            <a:off x="6675120" y="1371600"/>
            <a:ext cx="4965192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74"/>
          <p:cNvSpPr/>
          <p:nvPr/>
        </p:nvSpPr>
        <p:spPr>
          <a:xfrm>
            <a:off x="6675120" y="1371600"/>
            <a:ext cx="496519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74"/>
          <p:cNvSpPr/>
          <p:nvPr/>
        </p:nvSpPr>
        <p:spPr>
          <a:xfrm>
            <a:off x="6686092" y="1664208"/>
            <a:ext cx="494324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74"/>
          <p:cNvSpPr txBox="1"/>
          <p:nvPr/>
        </p:nvSpPr>
        <p:spPr>
          <a:xfrm>
            <a:off x="6812280" y="1389888"/>
            <a:ext cx="4690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Ubicación de los archivos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74"/>
          <p:cNvSpPr txBox="1"/>
          <p:nvPr/>
        </p:nvSpPr>
        <p:spPr>
          <a:xfrm>
            <a:off x="6821424" y="1773936"/>
            <a:ext cx="4672583" cy="1883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Components/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Pages/Ventas/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OrdenesVentaPage.razor     @page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├─ Ventas/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├─ DetalleOrdenVenta.razor    hijo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│  └─ TotalesOrdenVenta.razor    hijo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└─ _Imports.razor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74"/>
          <p:cNvSpPr/>
          <p:nvPr/>
        </p:nvSpPr>
        <p:spPr>
          <a:xfrm>
            <a:off x="6675120" y="3886200"/>
            <a:ext cx="4965192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74"/>
          <p:cNvSpPr/>
          <p:nvPr/>
        </p:nvSpPr>
        <p:spPr>
          <a:xfrm>
            <a:off x="6675120" y="3886200"/>
            <a:ext cx="4965192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74"/>
          <p:cNvSpPr/>
          <p:nvPr/>
        </p:nvSpPr>
        <p:spPr>
          <a:xfrm>
            <a:off x="6686092" y="4178808"/>
            <a:ext cx="494324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74"/>
          <p:cNvSpPr txBox="1"/>
          <p:nvPr/>
        </p:nvSpPr>
        <p:spPr>
          <a:xfrm>
            <a:off x="6812280" y="3904487"/>
            <a:ext cx="4690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desde el padre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74"/>
          <p:cNvSpPr txBox="1"/>
          <p:nvPr/>
        </p:nvSpPr>
        <p:spPr>
          <a:xfrm>
            <a:off x="6821424" y="4288536"/>
            <a:ext cx="4672583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pc="0" sz="12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solo si hay una orden seleccionada *@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&lt;DetalleOrdenVenta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Orden=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"OrdenSeleccionada"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7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Errores frecuentes al trabajar con componentes</a:t>
            </a:r>
            <a:endParaRPr/>
          </a:p>
        </p:txBody>
      </p:sp>
      <p:sp>
        <p:nvSpPr>
          <p:cNvPr id="2044" name="Google Shape;2044;p7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5" name="Google Shape;2045;p7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75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7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48" name="Google Shape;204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668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75"/>
          <p:cNvSpPr txBox="1"/>
          <p:nvPr/>
        </p:nvSpPr>
        <p:spPr>
          <a:xfrm>
            <a:off x="1325880" y="152704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Olvidar [Parameter]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75"/>
          <p:cNvSpPr txBox="1"/>
          <p:nvPr/>
        </p:nvSpPr>
        <p:spPr>
          <a:xfrm>
            <a:off x="731520" y="219456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Blazor indica que el componente no tiene una propiedad que coincida con el atributo de la etiqueta.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75"/>
          <p:cNvSpPr/>
          <p:nvPr/>
        </p:nvSpPr>
        <p:spPr>
          <a:xfrm>
            <a:off x="4311396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75"/>
          <p:cNvSpPr/>
          <p:nvPr/>
        </p:nvSpPr>
        <p:spPr>
          <a:xfrm>
            <a:off x="4494276" y="1554480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53" name="Google Shape;205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576" y="1668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75"/>
          <p:cNvSpPr txBox="1"/>
          <p:nvPr/>
        </p:nvSpPr>
        <p:spPr>
          <a:xfrm>
            <a:off x="5088636" y="152704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Olvidar el @using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75"/>
          <p:cNvSpPr txBox="1"/>
          <p:nvPr/>
        </p:nvSpPr>
        <p:spPr>
          <a:xfrm>
            <a:off x="4494276" y="219456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etiqueta se trata como HTML desconocido y el componente no se muestra (advertencia RZ10012).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75"/>
          <p:cNvSpPr/>
          <p:nvPr/>
        </p:nvSpPr>
        <p:spPr>
          <a:xfrm>
            <a:off x="8074152" y="137160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75"/>
          <p:cNvSpPr/>
          <p:nvPr/>
        </p:nvSpPr>
        <p:spPr>
          <a:xfrm>
            <a:off x="8257031" y="1554480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58" name="Google Shape;205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331" y="1668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75"/>
          <p:cNvSpPr txBox="1"/>
          <p:nvPr/>
        </p:nvSpPr>
        <p:spPr>
          <a:xfrm>
            <a:off x="8851392" y="152704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Modificar un parámetro en el hijo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75"/>
          <p:cNvSpPr txBox="1"/>
          <p:nvPr/>
        </p:nvSpPr>
        <p:spPr>
          <a:xfrm>
            <a:off x="8257031" y="219456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cambio se pierde cuando el padre vuelve a renderizar: el valor le pertenece al padre.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75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75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63" name="Google Shape;206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386333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75"/>
          <p:cNvSpPr txBox="1"/>
          <p:nvPr/>
        </p:nvSpPr>
        <p:spPr>
          <a:xfrm>
            <a:off x="1325880" y="372160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Mostrar el hijo sin orden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75"/>
          <p:cNvSpPr txBox="1"/>
          <p:nvPr/>
        </p:nvSpPr>
        <p:spPr>
          <a:xfrm>
            <a:off x="731520" y="438912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 OrdenSeleccionada es null, el hijo falla al leer Orden.Id: usar @if antes de la etiqueta.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75"/>
          <p:cNvSpPr/>
          <p:nvPr/>
        </p:nvSpPr>
        <p:spPr>
          <a:xfrm>
            <a:off x="4311396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75"/>
          <p:cNvSpPr/>
          <p:nvPr/>
        </p:nvSpPr>
        <p:spPr>
          <a:xfrm>
            <a:off x="4494276" y="3749039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68" name="Google Shape;206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576" y="386333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75"/>
          <p:cNvSpPr txBox="1"/>
          <p:nvPr/>
        </p:nvSpPr>
        <p:spPr>
          <a:xfrm>
            <a:off x="5088636" y="372160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 limpiar la selección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75"/>
          <p:cNvSpPr txBox="1"/>
          <p:nvPr/>
        </p:nvSpPr>
        <p:spPr>
          <a:xfrm>
            <a:off x="4494276" y="438912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 se elimina la orden que se muestra, el detalle sigue visible: asignar OrdenSeleccionada = null.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75"/>
          <p:cNvSpPr/>
          <p:nvPr/>
        </p:nvSpPr>
        <p:spPr>
          <a:xfrm>
            <a:off x="8074152" y="3566160"/>
            <a:ext cx="356616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75"/>
          <p:cNvSpPr/>
          <p:nvPr/>
        </p:nvSpPr>
        <p:spPr>
          <a:xfrm>
            <a:off x="8257031" y="3749039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ExclamationTriangle_FFFFFF.png" id="2073" name="Google Shape;207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331" y="386333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4" name="Google Shape;2074;p75"/>
          <p:cNvSpPr txBox="1"/>
          <p:nvPr/>
        </p:nvSpPr>
        <p:spPr>
          <a:xfrm>
            <a:off x="8851392" y="3721608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 recargar la lista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75"/>
          <p:cNvSpPr txBox="1"/>
          <p:nvPr/>
        </p:nvSpPr>
        <p:spPr>
          <a:xfrm>
            <a:off x="8257031" y="438912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Después de Delete, volver a llamar a FindAll(): la QuickGrid no se actualiza sola.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7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Formulario maestro-detalle: la orden y sus líneas</a:t>
            </a:r>
            <a:endParaRPr/>
          </a:p>
        </p:txBody>
      </p:sp>
      <p:sp>
        <p:nvSpPr>
          <p:cNvPr id="2081" name="Google Shape;2081;p7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2" name="Google Shape;2082;p7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7 · COMPONENTES: MAESTRO-DETALLE DE ÓRDENES DE VENTA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76"/>
          <p:cNvSpPr/>
          <p:nvPr/>
        </p:nvSpPr>
        <p:spPr>
          <a:xfrm>
            <a:off x="548640" y="1371600"/>
            <a:ext cx="649224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76"/>
          <p:cNvSpPr/>
          <p:nvPr/>
        </p:nvSpPr>
        <p:spPr>
          <a:xfrm>
            <a:off x="548640" y="1371600"/>
            <a:ext cx="64922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76"/>
          <p:cNvSpPr/>
          <p:nvPr/>
        </p:nvSpPr>
        <p:spPr>
          <a:xfrm>
            <a:off x="559612" y="1664208"/>
            <a:ext cx="64702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76"/>
          <p:cNvSpPr txBox="1"/>
          <p:nvPr/>
        </p:nvSpPr>
        <p:spPr>
          <a:xfrm>
            <a:off x="685800" y="138988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Components/Pages/Ventas/GestionarOrdenVentaPage.razor (@code)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76"/>
          <p:cNvSpPr txBox="1"/>
          <p:nvPr/>
        </p:nvSpPr>
        <p:spPr>
          <a:xfrm>
            <a:off x="694944" y="1773936"/>
            <a:ext cx="6199631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AgregarLinea()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Producto? producto = Productos.Find(p =&gt; p.Id == IdProductoAgregar);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(producto ==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|| CantidadAgregar &lt; 1)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MensajeError =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"Seleccione un producto y una cantidad mayor a 0"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LineaOrdenVenta? existente = ViewModel.Lineas.Find(l =&gt; l.Producto.Id == producto.Id);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(existente !=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existente.Cantidad += CantidadAgregar;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existente.SubTotal = producto.Precio * existente.Cantidad;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ViewModel.Lineas.Add(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LineaOrdenVenta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Producto = producto,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Cantidad = CantidadAgregar,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SubTotal = producto.Precio * CantidadAgregar,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IsActivo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MensajeError =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IdProductoAgregar = 0;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CantidadAgregar = 1;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QuitarLinea(LineaOrdenVenta linea)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ViewModel.Lineas.Remove(linea);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76"/>
          <p:cNvSpPr/>
          <p:nvPr/>
        </p:nvSpPr>
        <p:spPr>
          <a:xfrm>
            <a:off x="7251192" y="1371600"/>
            <a:ext cx="438912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76"/>
          <p:cNvSpPr/>
          <p:nvPr/>
        </p:nvSpPr>
        <p:spPr>
          <a:xfrm>
            <a:off x="7251192" y="1371600"/>
            <a:ext cx="43891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76"/>
          <p:cNvSpPr/>
          <p:nvPr/>
        </p:nvSpPr>
        <p:spPr>
          <a:xfrm>
            <a:off x="7262164" y="1664208"/>
            <a:ext cx="43671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76"/>
          <p:cNvSpPr txBox="1"/>
          <p:nvPr/>
        </p:nvSpPr>
        <p:spPr>
          <a:xfrm>
            <a:off x="7388352" y="138988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Marcado: botón para agregar una línea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76"/>
          <p:cNvSpPr txBox="1"/>
          <p:nvPr/>
        </p:nvSpPr>
        <p:spPr>
          <a:xfrm>
            <a:off x="7397496" y="1773936"/>
            <a:ext cx="4096511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btn-outline-primary"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9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AgregarLinea()"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Agregar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76"/>
          <p:cNvSpPr/>
          <p:nvPr/>
        </p:nvSpPr>
        <p:spPr>
          <a:xfrm>
            <a:off x="7251192" y="2697480"/>
            <a:ext cx="4389120" cy="132588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76"/>
          <p:cNvSpPr/>
          <p:nvPr/>
        </p:nvSpPr>
        <p:spPr>
          <a:xfrm>
            <a:off x="7251192" y="2697480"/>
            <a:ext cx="43891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76"/>
          <p:cNvSpPr/>
          <p:nvPr/>
        </p:nvSpPr>
        <p:spPr>
          <a:xfrm>
            <a:off x="7262164" y="2990088"/>
            <a:ext cx="43671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76"/>
          <p:cNvSpPr txBox="1"/>
          <p:nvPr/>
        </p:nvSpPr>
        <p:spPr>
          <a:xfrm>
            <a:off x="7388352" y="27157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ViewModels/OrdenVentaViewModel.cs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76"/>
          <p:cNvSpPr txBox="1"/>
          <p:nvPr/>
        </p:nvSpPr>
        <p:spPr>
          <a:xfrm>
            <a:off x="7397496" y="3099816"/>
            <a:ext cx="4096511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const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TasaIgv = 0.18;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List&lt;LineaOrdenVenta&gt; Lineas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 = [];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SubTotal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 ... } }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suma de líneas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Igv {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{ ... } } </a:t>
            </a:r>
            <a:r>
              <a:rPr b="0" i="1" lang="en-US" spc="0" sz="900" u="none" cap="none" strike="noStrike">
                <a:solidFill>
                  <a:srgbClr val="648585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// SubTotal × TasaIgv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Total {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 ... } }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SubTotal + Igv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76"/>
          <p:cNvSpPr txBox="1"/>
          <p:nvPr/>
        </p:nvSpPr>
        <p:spPr>
          <a:xfrm>
            <a:off x="7251192" y="4206240"/>
            <a:ext cx="43891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Maestro: cliente y vendedor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IdCliente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IdEmpleado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Detalle: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ViewModel.Lineas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; el ViewModel calcula los totales mientras se edita.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 guardar, el BL recalcula el total con los precios de la BD y, en la misma transacción, lo descuenta de la línea de crédito del cliente.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7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sz="3200"/>
          </a:p>
        </p:txBody>
      </p:sp>
      <p:sp>
        <p:nvSpPr>
          <p:cNvPr id="2110" name="Google Shape;2110;p7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Registro de código del cliente y JS interop: confirmar antes de eliminar</a:t>
            </a:r>
            <a:endParaRPr/>
          </a:p>
        </p:txBody>
      </p:sp>
      <p:sp>
        <p:nvSpPr>
          <p:cNvPr id="2111" name="Google Shape;2111;p77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7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¿Cuándo se necesita JavaScript en una aplicación Blazor?</a:t>
            </a:r>
            <a:endParaRPr/>
          </a:p>
        </p:txBody>
      </p:sp>
      <p:sp>
        <p:nvSpPr>
          <p:cNvPr id="2117" name="Google Shape;2117;p7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7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8 · JAVASCRIPT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78"/>
          <p:cNvSpPr txBox="1"/>
          <p:nvPr/>
        </p:nvSpPr>
        <p:spPr>
          <a:xfrm>
            <a:off x="548640" y="1417320"/>
            <a:ext cx="5120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Blazor maneja eventos y actualiza el DOM con C#: la mayoría de páginas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necesita JavaScript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JavaScript se usa para funciones del navegador que Blazor no expone directamente: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40233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confirm()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alert()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40233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componentes Bootstrap con comportamiento (toast, modal)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40233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localStorage, portapapeles, bibliotecas 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400"/>
              <a:buFont typeface="Arial"/>
              <a:buChar char="•"/>
            </a:pP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Esta integración se llama </a:t>
            </a:r>
            <a:r>
              <a:rPr b="1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JS interop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se realiza con el servicio </a:t>
            </a:r>
            <a:r>
              <a:rPr b="1" i="0" lang="en-US" spc="0" sz="14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IJSRuntime</a:t>
            </a:r>
            <a:r>
              <a:rPr b="0" i="0" lang="en-US" spc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78"/>
          <p:cNvSpPr/>
          <p:nvPr/>
        </p:nvSpPr>
        <p:spPr>
          <a:xfrm>
            <a:off x="5989320" y="1417320"/>
            <a:ext cx="5650992" cy="2377440"/>
          </a:xfrm>
          <a:prstGeom prst="roundRect">
            <a:avLst>
              <a:gd fmla="val 3846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78"/>
          <p:cNvSpPr/>
          <p:nvPr/>
        </p:nvSpPr>
        <p:spPr>
          <a:xfrm>
            <a:off x="6172200" y="1645920"/>
            <a:ext cx="2103120" cy="1188720"/>
          </a:xfrm>
          <a:prstGeom prst="roundRect">
            <a:avLst>
              <a:gd fmla="val 6153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C# en el servidor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78"/>
          <p:cNvSpPr/>
          <p:nvPr/>
        </p:nvSpPr>
        <p:spPr>
          <a:xfrm>
            <a:off x="9354312" y="1645920"/>
            <a:ext cx="2103120" cy="1188720"/>
          </a:xfrm>
          <a:prstGeom prst="roundRect">
            <a:avLst>
              <a:gd fmla="val 6153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confirmarEliminacion()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3" name="Google Shape;2123;p78"/>
          <p:cNvCxnSpPr/>
          <p:nvPr/>
        </p:nvCxnSpPr>
        <p:spPr>
          <a:xfrm>
            <a:off x="8321040" y="196596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4" name="Google Shape;2124;p78"/>
          <p:cNvCxnSpPr/>
          <p:nvPr/>
        </p:nvCxnSpPr>
        <p:spPr>
          <a:xfrm rot="10800000">
            <a:off x="8321040" y="2514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F0AE1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5" name="Google Shape;2125;p78"/>
          <p:cNvSpPr txBox="1"/>
          <p:nvPr/>
        </p:nvSpPr>
        <p:spPr>
          <a:xfrm>
            <a:off x="6172200" y="297180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InvokeAsync&lt;bool&gt;("confirmarEliminacion", ...) viaja por SignalR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resultado (true / false) regresa al servidor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78"/>
          <p:cNvSpPr/>
          <p:nvPr/>
        </p:nvSpPr>
        <p:spPr>
          <a:xfrm>
            <a:off x="548640" y="4023360"/>
            <a:ext cx="11094415" cy="1481328"/>
          </a:xfrm>
          <a:prstGeom prst="roundRect">
            <a:avLst>
              <a:gd fmla="val 6172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78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InfoCircle_FFFFFF.png" id="2128" name="Google Shape;212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913" y="4337913"/>
            <a:ext cx="285292" cy="285292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78"/>
          <p:cNvSpPr txBox="1"/>
          <p:nvPr/>
        </p:nvSpPr>
        <p:spPr>
          <a:xfrm>
            <a:off x="1508760" y="4069080"/>
            <a:ext cx="9951415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Por qué aquí sí se usa async/await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Blazor Server toda llamada a JavaScript viaja por la red hasta el navegador y espera su respuesta. Por eso la API es asíncrona (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InvokeAsync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InvokeVoidAsync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): es un caso en que async es </a:t>
            </a:r>
            <a:r>
              <a:rPr b="1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absolutamente necesario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7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Registrar código del lado del cliente</a:t>
            </a:r>
            <a:endParaRPr/>
          </a:p>
        </p:txBody>
      </p:sp>
      <p:sp>
        <p:nvSpPr>
          <p:cNvPr id="2135" name="Google Shape;2135;p7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6" name="Google Shape;2136;p7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8 · JAVASCRIPT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79"/>
          <p:cNvSpPr/>
          <p:nvPr/>
        </p:nvSpPr>
        <p:spPr>
          <a:xfrm>
            <a:off x="548640" y="1371600"/>
            <a:ext cx="6035040" cy="132588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79"/>
          <p:cNvSpPr/>
          <p:nvPr/>
        </p:nvSpPr>
        <p:spPr>
          <a:xfrm>
            <a:off x="548640" y="1371600"/>
            <a:ext cx="60350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79"/>
          <p:cNvSpPr/>
          <p:nvPr/>
        </p:nvSpPr>
        <p:spPr>
          <a:xfrm>
            <a:off x="559612" y="1664208"/>
            <a:ext cx="60130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79"/>
          <p:cNvSpPr txBox="1"/>
          <p:nvPr/>
        </p:nvSpPr>
        <p:spPr>
          <a:xfrm>
            <a:off x="685800" y="138988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wwwroot/js/softprog.js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79"/>
          <p:cNvSpPr txBox="1"/>
          <p:nvPr/>
        </p:nvSpPr>
        <p:spPr>
          <a:xfrm>
            <a:off x="694944" y="1773936"/>
            <a:ext cx="5742431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function confirmarEliminacion(mensaje) {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3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3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confirm(mensaje);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79"/>
          <p:cNvSpPr/>
          <p:nvPr/>
        </p:nvSpPr>
        <p:spPr>
          <a:xfrm>
            <a:off x="548640" y="2926080"/>
            <a:ext cx="6035040" cy="12801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79"/>
          <p:cNvSpPr/>
          <p:nvPr/>
        </p:nvSpPr>
        <p:spPr>
          <a:xfrm>
            <a:off x="548640" y="2926080"/>
            <a:ext cx="60350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79"/>
          <p:cNvSpPr/>
          <p:nvPr/>
        </p:nvSpPr>
        <p:spPr>
          <a:xfrm>
            <a:off x="557784" y="3218688"/>
            <a:ext cx="601675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79"/>
          <p:cNvSpPr txBox="1"/>
          <p:nvPr/>
        </p:nvSpPr>
        <p:spPr>
          <a:xfrm>
            <a:off x="685800" y="294436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de &lt;body&gt; en App.razor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79"/>
          <p:cNvSpPr txBox="1"/>
          <p:nvPr/>
        </p:nvSpPr>
        <p:spPr>
          <a:xfrm>
            <a:off x="694944" y="3328416"/>
            <a:ext cx="57424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"https://cdn.jsdelivr.net/.../bootstrap.bundle.min.js"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...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js/softprog.js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src=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"@Assets["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_framework/blazor.web.js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"]"</a:t>
            </a:r>
            <a:r>
              <a:rPr b="0" i="0" lang="en-US" spc="0" sz="9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79"/>
          <p:cNvSpPr txBox="1"/>
          <p:nvPr/>
        </p:nvSpPr>
        <p:spPr>
          <a:xfrm>
            <a:off x="6812280" y="1371600"/>
            <a:ext cx="482803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confirmarEliminacion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una función global: Blazor la encuentra en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window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por su nombre.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confirm(mensaje)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muestra el diálogo del navegador y devuelve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(Aceptar) o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(Cancelar).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archivo se registra una sola vez en App.razor, antes de blazor.web.js.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se colocan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dentro de componentes .razor: Blazor no los ejecuta al actualizar la página.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misma función se usa en los listados de productos, clientes, empleados y órdenes de venta.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8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Llamar a JavaScript desde C#: confirmar la eliminación de un cliente</a:t>
            </a:r>
            <a:endParaRPr/>
          </a:p>
        </p:txBody>
      </p:sp>
      <p:sp>
        <p:nvSpPr>
          <p:cNvPr id="2157" name="Google Shape;2157;p8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8" name="Google Shape;2158;p8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8 · JAVASCRIPT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80"/>
          <p:cNvSpPr/>
          <p:nvPr/>
        </p:nvSpPr>
        <p:spPr>
          <a:xfrm>
            <a:off x="548640" y="1371600"/>
            <a:ext cx="68580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80"/>
          <p:cNvSpPr/>
          <p:nvPr/>
        </p:nvSpPr>
        <p:spPr>
          <a:xfrm>
            <a:off x="548640" y="1371600"/>
            <a:ext cx="6858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80"/>
          <p:cNvSpPr/>
          <p:nvPr/>
        </p:nvSpPr>
        <p:spPr>
          <a:xfrm>
            <a:off x="559612" y="1664208"/>
            <a:ext cx="6836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80"/>
          <p:cNvSpPr txBox="1"/>
          <p:nvPr/>
        </p:nvSpPr>
        <p:spPr>
          <a:xfrm>
            <a:off x="685800" y="1389888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ListarClientesPage.razor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80"/>
          <p:cNvSpPr txBox="1"/>
          <p:nvPr/>
        </p:nvSpPr>
        <p:spPr>
          <a:xfrm>
            <a:off x="694944" y="1773936"/>
            <a:ext cx="65653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IJSRuntime JS;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"btn btn-danger btn-sm"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1" i="0" lang="en-US" spc="0" sz="95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@onclick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"() =&gt; EliminarCliente(context.Id)"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Eliminar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pc="0" sz="9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async Task EliminarCliente(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confirmado = await JS.InvokeAsync&lt;bool&gt;(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"confirmarEliminacion"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"¿Está seguro de eliminar el cliente?"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(!confirmado)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ClienteBL.Delete(id);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Clientes = ClienteBL.FindAll().AsQueryable();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80"/>
          <p:cNvSpPr/>
          <p:nvPr/>
        </p:nvSpPr>
        <p:spPr>
          <a:xfrm>
            <a:off x="7680960" y="1371600"/>
            <a:ext cx="3959352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80"/>
          <p:cNvSpPr txBox="1"/>
          <p:nvPr/>
        </p:nvSpPr>
        <p:spPr>
          <a:xfrm>
            <a:off x="7863840" y="14447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localhost:7220 dice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80"/>
          <p:cNvSpPr txBox="1"/>
          <p:nvPr/>
        </p:nvSpPr>
        <p:spPr>
          <a:xfrm>
            <a:off x="786384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¿Está seguro de eliminar el cliente?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80"/>
          <p:cNvSpPr/>
          <p:nvPr/>
        </p:nvSpPr>
        <p:spPr>
          <a:xfrm>
            <a:off x="9646920" y="2212848"/>
            <a:ext cx="914400" cy="329184"/>
          </a:xfrm>
          <a:prstGeom prst="roundRect">
            <a:avLst>
              <a:gd fmla="val 13888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Aceptar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80"/>
          <p:cNvSpPr/>
          <p:nvPr/>
        </p:nvSpPr>
        <p:spPr>
          <a:xfrm>
            <a:off x="10625328" y="2212848"/>
            <a:ext cx="914400" cy="329184"/>
          </a:xfrm>
          <a:prstGeom prst="roundRect">
            <a:avLst>
              <a:gd fmla="val 13888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80"/>
          <p:cNvSpPr txBox="1"/>
          <p:nvPr/>
        </p:nvSpPr>
        <p:spPr>
          <a:xfrm>
            <a:off x="7680960" y="2926080"/>
            <a:ext cx="3959352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InvokeAsync&lt;T&gt;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llama a la función y espera su resultado;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es el tipo que devuelve (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primer argumento es el nombre de la función; los demás se envían como sus parámetros.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 el usuario cancela, el método termina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no se llama al BL.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llamar a JavaScript en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OnInitialized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durante el prerenderizado aún no hay navegador conectado.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8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3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Autenticación y autorización</a:t>
            </a:r>
            <a:endParaRPr sz="3200"/>
          </a:p>
        </p:txBody>
      </p:sp>
      <p:sp>
        <p:nvSpPr>
          <p:cNvPr id="2180" name="Google Shape;2180;p8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n-US" sz="1800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Cookies, claims, roles y políticas con Interactive Server</a:t>
            </a:r>
            <a:endParaRPr/>
          </a:p>
        </p:txBody>
      </p:sp>
      <p:sp>
        <p:nvSpPr>
          <p:cNvPr id="2181" name="Google Shape;2181;p81"/>
          <p:cNvSpPr/>
          <p:nvPr/>
        </p:nvSpPr>
        <p:spPr>
          <a:xfrm>
            <a:off x="5592927" y="1325880"/>
            <a:ext cx="1005840" cy="10058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8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Autenticación y autorización: dos preguntas distintas</a:t>
            </a:r>
            <a:endParaRPr/>
          </a:p>
        </p:txBody>
      </p:sp>
      <p:sp>
        <p:nvSpPr>
          <p:cNvPr id="2187" name="Google Shape;2187;p8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8" name="Google Shape;2188;p8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82"/>
          <p:cNvSpPr/>
          <p:nvPr/>
        </p:nvSpPr>
        <p:spPr>
          <a:xfrm>
            <a:off x="548640" y="1371600"/>
            <a:ext cx="5166360" cy="3154680"/>
          </a:xfrm>
          <a:prstGeom prst="roundRect">
            <a:avLst>
              <a:gd fmla="val 2898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8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IdCard_FFFFFF.png" id="2191" name="Google Shape;219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59" y="1708099"/>
            <a:ext cx="332841" cy="3328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82"/>
          <p:cNvSpPr txBox="1"/>
          <p:nvPr/>
        </p:nvSpPr>
        <p:spPr>
          <a:xfrm>
            <a:off x="1572768" y="153619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82"/>
          <p:cNvSpPr txBox="1"/>
          <p:nvPr/>
        </p:nvSpPr>
        <p:spPr>
          <a:xfrm>
            <a:off x="1572768" y="190195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¿Quién es el usuario?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82"/>
          <p:cNvSpPr txBox="1"/>
          <p:nvPr/>
        </p:nvSpPr>
        <p:spPr>
          <a:xfrm>
            <a:off x="777240" y="2423160"/>
            <a:ext cx="47091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Verifica las credenciales: UserName y Password de CuentaUsuario.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Establece la identidad del usuario para las siguientes solicitudes.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SoftProg: página /login + ISesionService + ICuentaUsuarioBL.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82"/>
          <p:cNvSpPr/>
          <p:nvPr/>
        </p:nvSpPr>
        <p:spPr>
          <a:xfrm>
            <a:off x="6473952" y="1371600"/>
            <a:ext cx="5166360" cy="3154680"/>
          </a:xfrm>
          <a:prstGeom prst="roundRect">
            <a:avLst>
              <a:gd fmla="val 2898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82"/>
          <p:cNvSpPr/>
          <p:nvPr/>
        </p:nvSpPr>
        <p:spPr>
          <a:xfrm>
            <a:off x="6702552" y="1554480"/>
            <a:ext cx="640080" cy="64008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Shield_FFFFFF.png" id="2197" name="Google Shape;2197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6171" y="1708099"/>
            <a:ext cx="332841" cy="3328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82"/>
          <p:cNvSpPr txBox="1"/>
          <p:nvPr/>
        </p:nvSpPr>
        <p:spPr>
          <a:xfrm>
            <a:off x="7498079" y="153619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82"/>
          <p:cNvSpPr txBox="1"/>
          <p:nvPr/>
        </p:nvSpPr>
        <p:spPr>
          <a:xfrm>
            <a:off x="7498079" y="190195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puede hacer?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82"/>
          <p:cNvSpPr txBox="1"/>
          <p:nvPr/>
        </p:nvSpPr>
        <p:spPr>
          <a:xfrm>
            <a:off x="6702552" y="2423160"/>
            <a:ext cx="47091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2354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Decide el acceso a páginas o acciones según la identidad y su rol.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2354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Ejemplo: /productos solo para el administrador y el encargado de almacén; un cliente ve «Mis órdenes».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42354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SoftProg: políticas de la clase Permisos, [Authorize(Policy = ...)], AuthorizeView.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1" name="Google Shape;2201;p82"/>
          <p:cNvCxnSpPr/>
          <p:nvPr/>
        </p:nvCxnSpPr>
        <p:spPr>
          <a:xfrm>
            <a:off x="5788152" y="2926080"/>
            <a:ext cx="612648" cy="0"/>
          </a:xfrm>
          <a:prstGeom prst="straightConnector1">
            <a:avLst/>
          </a:prstGeom>
          <a:noFill/>
          <a:ln cap="flat" cmpd="sng" w="3810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202" name="Google Shape;2202;p82"/>
          <p:cNvGraphicFramePr/>
          <p:nvPr/>
        </p:nvGraphicFramePr>
        <p:xfrm>
          <a:off x="548640" y="4681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4573125"/>
                <a:gridCol w="6521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Situación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 del sistema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autenticado intenta abrir /productos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Redirección a /login (equivalente a HTTP 401)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Autenticado sin el rol requerido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pc="0" sz="11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Acceso denegado (equivalente a HTTP 403)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8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Claims, ClaimsIdentity y ClaimsPrincipal</a:t>
            </a:r>
            <a:endParaRPr/>
          </a:p>
        </p:txBody>
      </p:sp>
      <p:sp>
        <p:nvSpPr>
          <p:cNvPr id="2208" name="Google Shape;2208;p8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9" name="Google Shape;2209;p8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83"/>
          <p:cNvSpPr/>
          <p:nvPr/>
        </p:nvSpPr>
        <p:spPr>
          <a:xfrm>
            <a:off x="548640" y="1371600"/>
            <a:ext cx="6035040" cy="4114800"/>
          </a:xfrm>
          <a:prstGeom prst="roundRect">
            <a:avLst>
              <a:gd fmla="val 2222" name="adj"/>
            </a:avLst>
          </a:prstGeom>
          <a:solidFill>
            <a:srgbClr val="042354">
              <a:alpha val="7843"/>
            </a:srgbClr>
          </a:solidFill>
          <a:ln cap="flat" cmpd="sng" w="19050">
            <a:solidFill>
              <a:srgbClr val="042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83"/>
          <p:cNvSpPr txBox="1"/>
          <p:nvPr/>
        </p:nvSpPr>
        <p:spPr>
          <a:xfrm>
            <a:off x="731520" y="1444752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ClaimsPrincipal · el usuario actual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83"/>
          <p:cNvSpPr/>
          <p:nvPr/>
        </p:nvSpPr>
        <p:spPr>
          <a:xfrm>
            <a:off x="822959" y="1874519"/>
            <a:ext cx="5486400" cy="3429000"/>
          </a:xfrm>
          <a:prstGeom prst="roundRect">
            <a:avLst>
              <a:gd fmla="val 2666" name="adj"/>
            </a:avLst>
          </a:prstGeom>
          <a:solidFill>
            <a:srgbClr val="0A7BC2">
              <a:alpha val="10196"/>
            </a:srgbClr>
          </a:solidFill>
          <a:ln cap="flat" cmpd="sng" w="1905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83"/>
          <p:cNvSpPr txBox="1"/>
          <p:nvPr/>
        </p:nvSpPr>
        <p:spPr>
          <a:xfrm>
            <a:off x="1005840" y="19385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ClaimsIdentity · esquema "Cookies"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83"/>
          <p:cNvSpPr/>
          <p:nvPr/>
        </p:nvSpPr>
        <p:spPr>
          <a:xfrm>
            <a:off x="1051560" y="2423160"/>
            <a:ext cx="50292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Key_0A7BC2.png" id="2215" name="Google Shape;221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7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83"/>
          <p:cNvSpPr txBox="1"/>
          <p:nvPr/>
        </p:nvSpPr>
        <p:spPr>
          <a:xfrm>
            <a:off x="1737360" y="2468879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ClaimTypes.NameIdentifier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83"/>
          <p:cNvSpPr txBox="1"/>
          <p:nvPr/>
        </p:nvSpPr>
        <p:spPr>
          <a:xfrm>
            <a:off x="1737360" y="27706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83"/>
          <p:cNvSpPr/>
          <p:nvPr/>
        </p:nvSpPr>
        <p:spPr>
          <a:xfrm>
            <a:off x="1051560" y="3337560"/>
            <a:ext cx="50292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Key_0A7BC2.png" id="2219" name="Google Shape;221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7" y="3520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0" name="Google Shape;2220;p83"/>
          <p:cNvSpPr txBox="1"/>
          <p:nvPr/>
        </p:nvSpPr>
        <p:spPr>
          <a:xfrm>
            <a:off x="1737360" y="3383279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ClaimTypes.Name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83"/>
          <p:cNvSpPr txBox="1"/>
          <p:nvPr/>
        </p:nvSpPr>
        <p:spPr>
          <a:xfrm>
            <a:off x="1737360" y="36850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"mquiroz@softprog.pe"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83"/>
          <p:cNvSpPr/>
          <p:nvPr/>
        </p:nvSpPr>
        <p:spPr>
          <a:xfrm>
            <a:off x="1051560" y="4251960"/>
            <a:ext cx="50292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Key_0A7BC2.png" id="2223" name="Google Shape;222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7" y="4434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4" name="Google Shape;2224;p83"/>
          <p:cNvSpPr txBox="1"/>
          <p:nvPr/>
        </p:nvSpPr>
        <p:spPr>
          <a:xfrm>
            <a:off x="1737360" y="42976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ClaimTypes.Role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83"/>
          <p:cNvSpPr txBox="1"/>
          <p:nvPr/>
        </p:nvSpPr>
        <p:spPr>
          <a:xfrm>
            <a:off x="1737360" y="45994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"VENDEDOR_SENIOR"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83"/>
          <p:cNvSpPr txBox="1"/>
          <p:nvPr/>
        </p:nvSpPr>
        <p:spPr>
          <a:xfrm>
            <a:off x="6903720" y="1371600"/>
            <a:ext cx="473659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Afirmación tipo–valor sobre el usuario: su id, su nombre, su rol.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ClaimsIdentity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Conjunto de claims emitido por un esquema de autenticación (aquí, la cookie).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ClaimsPrincipal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usuario que realiza la solicitud. En los componentes se obtiene con el estado de autenticación de Blazor (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AuthorizeView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context.User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83"/>
          <p:cNvSpPr/>
          <p:nvPr/>
        </p:nvSpPr>
        <p:spPr>
          <a:xfrm>
            <a:off x="6903720" y="4526280"/>
            <a:ext cx="4736592" cy="978408"/>
          </a:xfrm>
          <a:prstGeom prst="roundRect">
            <a:avLst>
              <a:gd fmla="val 9345" name="adj"/>
            </a:avLst>
          </a:prstGeom>
          <a:solidFill>
            <a:srgbClr val="F0AE19">
              <a:alpha val="1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83"/>
          <p:cNvSpPr txBox="1"/>
          <p:nvPr/>
        </p:nvSpPr>
        <p:spPr>
          <a:xfrm>
            <a:off x="7040880" y="4526280"/>
            <a:ext cx="4480560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Analogía:</a:t>
            </a:r>
            <a:r>
              <a:rPr b="0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el DNI (identity) contiene datos (claims) emitidos por RENIEC (esquema) y lo porta una persona (principal).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8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Autenticación con cookies en una aplicación Interactive Server</a:t>
            </a:r>
            <a:endParaRPr/>
          </a:p>
        </p:txBody>
      </p:sp>
      <p:sp>
        <p:nvSpPr>
          <p:cNvPr id="2234" name="Google Shape;2234;p8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5" name="Google Shape;2235;p8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84"/>
          <p:cNvSpPr/>
          <p:nvPr/>
        </p:nvSpPr>
        <p:spPr>
          <a:xfrm>
            <a:off x="548640" y="1325880"/>
            <a:ext cx="1828800" cy="457200"/>
          </a:xfrm>
          <a:prstGeom prst="roundRect">
            <a:avLst>
              <a:gd fmla="val 16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84"/>
          <p:cNvSpPr/>
          <p:nvPr/>
        </p:nvSpPr>
        <p:spPr>
          <a:xfrm>
            <a:off x="6035040" y="1325880"/>
            <a:ext cx="1828800" cy="457200"/>
          </a:xfrm>
          <a:prstGeom prst="roundRect">
            <a:avLst>
              <a:gd fmla="val 16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8" name="Google Shape;2238;p84"/>
          <p:cNvCxnSpPr/>
          <p:nvPr/>
        </p:nvCxnSpPr>
        <p:spPr>
          <a:xfrm>
            <a:off x="1463040" y="1801368"/>
            <a:ext cx="0" cy="3685032"/>
          </a:xfrm>
          <a:prstGeom prst="straightConnector1">
            <a:avLst/>
          </a:prstGeom>
          <a:noFill/>
          <a:ln cap="flat" cmpd="sng" w="15875">
            <a:solidFill>
              <a:srgbClr val="6485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9" name="Google Shape;2239;p84"/>
          <p:cNvCxnSpPr/>
          <p:nvPr/>
        </p:nvCxnSpPr>
        <p:spPr>
          <a:xfrm>
            <a:off x="6949440" y="1801368"/>
            <a:ext cx="0" cy="3685032"/>
          </a:xfrm>
          <a:prstGeom prst="straightConnector1">
            <a:avLst/>
          </a:prstGeom>
          <a:noFill/>
          <a:ln cap="flat" cmpd="sng" w="15875">
            <a:solidFill>
              <a:srgbClr val="64858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40" name="Google Shape;2240;p84"/>
          <p:cNvCxnSpPr/>
          <p:nvPr/>
        </p:nvCxnSpPr>
        <p:spPr>
          <a:xfrm>
            <a:off x="1508760" y="2240280"/>
            <a:ext cx="5394960" cy="0"/>
          </a:xfrm>
          <a:prstGeom prst="straightConnector1">
            <a:avLst/>
          </a:prstGeom>
          <a:noFill/>
          <a:ln cap="flat" cmpd="sng" w="3175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1" name="Google Shape;2241;p84"/>
          <p:cNvSpPr txBox="1"/>
          <p:nvPr/>
        </p:nvSpPr>
        <p:spPr>
          <a:xfrm>
            <a:off x="1645920" y="1911096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1 · POST /cuenta/login  (formulario HTML)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84"/>
          <p:cNvSpPr/>
          <p:nvPr/>
        </p:nvSpPr>
        <p:spPr>
          <a:xfrm>
            <a:off x="7223759" y="1965960"/>
            <a:ext cx="4416552" cy="54864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042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 · El endpoint delega en ISesionService: valida, obtiene el rol, crea el ClaimsPrincipal y llama a SignInAsync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3" name="Google Shape;2243;p84"/>
          <p:cNvCxnSpPr/>
          <p:nvPr/>
        </p:nvCxnSpPr>
        <p:spPr>
          <a:xfrm rot="10800000">
            <a:off x="1508760" y="3063240"/>
            <a:ext cx="5394960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4" name="Google Shape;2244;p84"/>
          <p:cNvSpPr txBox="1"/>
          <p:nvPr/>
        </p:nvSpPr>
        <p:spPr>
          <a:xfrm>
            <a:off x="1645920" y="2734056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3 · Set-Cookie + redirección a /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5" name="Google Shape;2245;p84"/>
          <p:cNvCxnSpPr/>
          <p:nvPr/>
        </p:nvCxnSpPr>
        <p:spPr>
          <a:xfrm>
            <a:off x="1508760" y="3931920"/>
            <a:ext cx="5394960" cy="0"/>
          </a:xfrm>
          <a:prstGeom prst="straightConnector1">
            <a:avLst/>
          </a:prstGeom>
          <a:noFill/>
          <a:ln cap="flat" cmpd="sng" w="31750">
            <a:solidFill>
              <a:srgbClr val="0A7B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6" name="Google Shape;2246;p84"/>
          <p:cNvSpPr txBox="1"/>
          <p:nvPr/>
        </p:nvSpPr>
        <p:spPr>
          <a:xfrm>
            <a:off x="1645920" y="3602736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4 · GET /productos  +  Cookie: .AspNetCore.Cookies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84"/>
          <p:cNvSpPr/>
          <p:nvPr/>
        </p:nvSpPr>
        <p:spPr>
          <a:xfrm>
            <a:off x="7223759" y="3657600"/>
            <a:ext cx="4416552" cy="54864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042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5 · UseAuthentication reconstruye el usuario; el nuevo circuito lo recibe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84"/>
          <p:cNvSpPr/>
          <p:nvPr/>
        </p:nvSpPr>
        <p:spPr>
          <a:xfrm>
            <a:off x="7223759" y="4343400"/>
            <a:ext cx="4416552" cy="54864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042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6 · La política de la página decide: la muestra, o redirige a /login o /acceso-denegado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9" name="Google Shape;2249;p84"/>
          <p:cNvCxnSpPr/>
          <p:nvPr/>
        </p:nvCxnSpPr>
        <p:spPr>
          <a:xfrm rot="10800000">
            <a:off x="1508760" y="5120640"/>
            <a:ext cx="5394960" cy="0"/>
          </a:xfrm>
          <a:prstGeom prst="straightConnector1">
            <a:avLst/>
          </a:prstGeom>
          <a:noFill/>
          <a:ln cap="flat" cmpd="sng" w="317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0" name="Google Shape;2250;p84"/>
          <p:cNvSpPr txBox="1"/>
          <p:nvPr/>
        </p:nvSpPr>
        <p:spPr>
          <a:xfrm>
            <a:off x="1645920" y="4791455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7 · Página interactiva con el usuario autenticado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84"/>
          <p:cNvSpPr txBox="1"/>
          <p:nvPr/>
        </p:nvSpPr>
        <p:spPr>
          <a:xfrm>
            <a:off x="7223759" y="5029200"/>
            <a:ext cx="4416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El circuito SignalR no puede escribir cookies: por eso el login usa un POST HTTP a un endpoint.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8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Configuración de la seguridad: Program.cs y AddSeguridad</a:t>
            </a:r>
            <a:endParaRPr/>
          </a:p>
        </p:txBody>
      </p:sp>
      <p:sp>
        <p:nvSpPr>
          <p:cNvPr id="2257" name="Google Shape;2257;p8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8" name="Google Shape;2258;p8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85"/>
          <p:cNvSpPr/>
          <p:nvPr/>
        </p:nvSpPr>
        <p:spPr>
          <a:xfrm>
            <a:off x="548640" y="1371600"/>
            <a:ext cx="736092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85"/>
          <p:cNvSpPr/>
          <p:nvPr/>
        </p:nvSpPr>
        <p:spPr>
          <a:xfrm>
            <a:off x="548640" y="1371600"/>
            <a:ext cx="73609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85"/>
          <p:cNvSpPr/>
          <p:nvPr/>
        </p:nvSpPr>
        <p:spPr>
          <a:xfrm>
            <a:off x="559612" y="1664208"/>
            <a:ext cx="73389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85"/>
          <p:cNvSpPr txBox="1"/>
          <p:nvPr/>
        </p:nvSpPr>
        <p:spPr>
          <a:xfrm>
            <a:off x="685800" y="1389888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Program.cs y Seguridad/SeguridadExtensions.cs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85"/>
          <p:cNvSpPr txBox="1"/>
          <p:nvPr/>
        </p:nvSpPr>
        <p:spPr>
          <a:xfrm>
            <a:off x="694944" y="1773936"/>
            <a:ext cx="706831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Program.cs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builder.Services.AddSeguridad();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app.UseAuthentication();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app.UseAuthorization();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app.UseAntiforgery();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app.MapSesionEndpoints();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Seguridad/SeguridadExtensions.cs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AddSeguridad(this IServiceCollection services)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services.AddAuthentication(CookieAuthenticationDefaults.AuthenticationScheme)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.AddCookie(opciones =&gt;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opciones.LoginPath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opciones.AccessDeniedPath 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"/acceso-denegado"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opciones.ExpireTimeSpan = TimeSpan.FromHours(8);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services.AddAuthorization(opciones =&gt; {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/* políticas: siguiente diapositiva */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});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services.AddCascadingAuthenticationState();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services.AddHttpContextAccessor();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services.AddScoped&lt;ISesionService, SesionServiceImpl&gt;();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85"/>
          <p:cNvSpPr/>
          <p:nvPr/>
        </p:nvSpPr>
        <p:spPr>
          <a:xfrm>
            <a:off x="8138160" y="137160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85"/>
          <p:cNvSpPr txBox="1"/>
          <p:nvPr/>
        </p:nvSpPr>
        <p:spPr>
          <a:xfrm>
            <a:off x="8641080" y="1335024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AddSeguridad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Método de extensión que agrupa toda la configuración; Program.cs solo lo llama.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85"/>
          <p:cNvSpPr/>
          <p:nvPr/>
        </p:nvSpPr>
        <p:spPr>
          <a:xfrm>
            <a:off x="8138160" y="240487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85"/>
          <p:cNvSpPr txBox="1"/>
          <p:nvPr/>
        </p:nvSpPr>
        <p:spPr>
          <a:xfrm>
            <a:off x="8641080" y="2368296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Esquema de cookies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LoginPath: destino si no hay sesión. AccessDeniedPath: destino si falta un permiso.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85"/>
          <p:cNvSpPr/>
          <p:nvPr/>
        </p:nvSpPr>
        <p:spPr>
          <a:xfrm>
            <a:off x="8138160" y="343814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85"/>
          <p:cNvSpPr txBox="1"/>
          <p:nvPr/>
        </p:nvSpPr>
        <p:spPr>
          <a:xfrm>
            <a:off x="8641080" y="3401568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Estado en cascada y servicios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Entrega el usuario a AuthorizeView y AuthorizeRouteView; registra ISesionService.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85"/>
          <p:cNvSpPr/>
          <p:nvPr/>
        </p:nvSpPr>
        <p:spPr>
          <a:xfrm>
            <a:off x="8138160" y="447141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85"/>
          <p:cNvSpPr txBox="1"/>
          <p:nvPr/>
        </p:nvSpPr>
        <p:spPr>
          <a:xfrm>
            <a:off x="8641080" y="4434840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Orden del pipeline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UseAuthentication → UseAuthorization → UseAntiforgery; al final, MapSesionEndpoints.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86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Validar credenciales en la capa de negocio</a:t>
            </a:r>
            <a:endParaRPr/>
          </a:p>
        </p:txBody>
      </p:sp>
      <p:sp>
        <p:nvSpPr>
          <p:cNvPr id="2281" name="Google Shape;2281;p8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2" name="Google Shape;2282;p86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86"/>
          <p:cNvSpPr/>
          <p:nvPr/>
        </p:nvSpPr>
        <p:spPr>
          <a:xfrm>
            <a:off x="548640" y="1371600"/>
            <a:ext cx="72237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86"/>
          <p:cNvSpPr/>
          <p:nvPr/>
        </p:nvSpPr>
        <p:spPr>
          <a:xfrm>
            <a:off x="548640" y="1371600"/>
            <a:ext cx="72237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86"/>
          <p:cNvSpPr/>
          <p:nvPr/>
        </p:nvSpPr>
        <p:spPr>
          <a:xfrm>
            <a:off x="559612" y="1664208"/>
            <a:ext cx="72018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86"/>
          <p:cNvSpPr txBox="1"/>
          <p:nvPr/>
        </p:nvSpPr>
        <p:spPr>
          <a:xfrm>
            <a:off x="685800" y="13898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SoftProg.Negocio: ICuentaUsuarioBL y CuentaUsuarioBLImpl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86"/>
          <p:cNvSpPr txBox="1"/>
          <p:nvPr/>
        </p:nvSpPr>
        <p:spPr>
          <a:xfrm>
            <a:off x="694944" y="1773936"/>
            <a:ext cx="69311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pc="0" sz="9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ICuentaUsuarioBL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interface ICuentaUsuarioBL : IRegistroBL&lt;CuentaUsuario,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CuentaUsuario? FindByUserName(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userName);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Autenticar(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userName,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password);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CambiarPassword(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id,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passwordActual,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passwordNueva);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pc="0" sz="9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CuentaUsuarioBLImpl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CuentaUsuario? FindByUserName(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userName)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try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cuentaUsuarioDAO.FindByUserName(userName);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 catch (Exception ex)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throw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BLException(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"No se pudo obtener la cuenta de usuario"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 ex);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Autenticar(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userName,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password)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CuentaUsuario? cuenta = FindByUserName(userName);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(cuenta == </a:t>
            </a:r>
            <a:r>
              <a:rPr b="0" i="0" lang="en-US" spc="0" sz="9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|| !cuenta.IsActivo || cuenta.Password != password) {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86"/>
          <p:cNvSpPr txBox="1"/>
          <p:nvPr/>
        </p:nvSpPr>
        <p:spPr>
          <a:xfrm>
            <a:off x="8001000" y="1417320"/>
            <a:ext cx="363931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Ni la página ni el endpoint consultan la base de datos o comparan contraseñas: delegan en el BL.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Autenticar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devuelve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si el usuario no existe, está inactivo o la contraseña no coincide.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datos de la cuenta se obtienen después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FindByUserName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86"/>
          <p:cNvSpPr/>
          <p:nvPr/>
        </p:nvSpPr>
        <p:spPr>
          <a:xfrm>
            <a:off x="8001000" y="4023360"/>
            <a:ext cx="3639312" cy="1481328"/>
          </a:xfrm>
          <a:prstGeom prst="roundRect">
            <a:avLst>
              <a:gd fmla="val 6172" name="adj"/>
            </a:avLst>
          </a:prstGeom>
          <a:solidFill>
            <a:srgbClr val="C3094A">
              <a:alpha val="12157"/>
            </a:srgbClr>
          </a:solidFill>
          <a:ln cap="flat" cmpd="sng" w="952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86"/>
          <p:cNvSpPr txBox="1"/>
          <p:nvPr/>
        </p:nvSpPr>
        <p:spPr>
          <a:xfrm>
            <a:off x="8138160" y="4069080"/>
            <a:ext cx="3383280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Nota de seguridad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SoftProg las contraseñas se guardan en texto plano por simplicidad. En producción se almacena un hash (por ejemplo, con PasswordHasher&lt;T&gt;).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87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Página de login con un formulario HTML</a:t>
            </a:r>
            <a:endParaRPr/>
          </a:p>
        </p:txBody>
      </p:sp>
      <p:sp>
        <p:nvSpPr>
          <p:cNvPr id="2299" name="Google Shape;2299;p8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0" name="Google Shape;2300;p87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87"/>
          <p:cNvSpPr/>
          <p:nvPr/>
        </p:nvSpPr>
        <p:spPr>
          <a:xfrm>
            <a:off x="548640" y="1325880"/>
            <a:ext cx="694944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87"/>
          <p:cNvSpPr/>
          <p:nvPr/>
        </p:nvSpPr>
        <p:spPr>
          <a:xfrm>
            <a:off x="548640" y="1325880"/>
            <a:ext cx="69494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87"/>
          <p:cNvSpPr/>
          <p:nvPr/>
        </p:nvSpPr>
        <p:spPr>
          <a:xfrm>
            <a:off x="559612" y="1618488"/>
            <a:ext cx="69274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87"/>
          <p:cNvSpPr txBox="1"/>
          <p:nvPr/>
        </p:nvSpPr>
        <p:spPr>
          <a:xfrm>
            <a:off x="685800" y="134416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Components/Pages/Seguridad/LoginPage.razor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87"/>
          <p:cNvSpPr txBox="1"/>
          <p:nvPr/>
        </p:nvSpPr>
        <p:spPr>
          <a:xfrm>
            <a:off x="694944" y="1728216"/>
            <a:ext cx="6656831" cy="375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"/login"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"col-md-4 mx-auto"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Iniciar sesión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(Error) {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alert-danger"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Credenciales incorrectas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(SinRol) {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alert-warning"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La cuenta no tiene acceso al sistema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method=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"post"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action=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"cuenta/login"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&lt;AntiforgeryToken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name=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"userName"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required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Contraseña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name=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required </a:t>
            </a:r>
            <a:r>
              <a:rPr b="0" i="0" lang="en-US" spc="0" sz="8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w-100"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Ingresar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"mt-3 text-center"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¿No tiene cuenta? 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href=</a:t>
            </a:r>
            <a:r>
              <a:rPr b="0" i="0" lang="en-US" spc="0" sz="8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"registro"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Regístrese</a:t>
            </a: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&lt;/a&gt;&lt;/p&gt;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[SupplyParameterFromQuery]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Error {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8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 SinRol y Registrado se declaran igual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87"/>
          <p:cNvSpPr/>
          <p:nvPr/>
        </p:nvSpPr>
        <p:spPr>
          <a:xfrm>
            <a:off x="7726679" y="1325880"/>
            <a:ext cx="3913632" cy="292608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87"/>
          <p:cNvSpPr/>
          <p:nvPr/>
        </p:nvSpPr>
        <p:spPr>
          <a:xfrm>
            <a:off x="7726679" y="1325880"/>
            <a:ext cx="3913632" cy="384048"/>
          </a:xfrm>
          <a:prstGeom prst="roundRect">
            <a:avLst>
              <a:gd fmla="val 19047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87"/>
          <p:cNvSpPr/>
          <p:nvPr/>
        </p:nvSpPr>
        <p:spPr>
          <a:xfrm>
            <a:off x="7735823" y="1600200"/>
            <a:ext cx="3895344" cy="1097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87"/>
          <p:cNvSpPr/>
          <p:nvPr/>
        </p:nvSpPr>
        <p:spPr>
          <a:xfrm>
            <a:off x="7854696" y="1463039"/>
            <a:ext cx="100584" cy="100584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87"/>
          <p:cNvSpPr/>
          <p:nvPr/>
        </p:nvSpPr>
        <p:spPr>
          <a:xfrm>
            <a:off x="8010144" y="1463039"/>
            <a:ext cx="100584" cy="100584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87"/>
          <p:cNvSpPr/>
          <p:nvPr/>
        </p:nvSpPr>
        <p:spPr>
          <a:xfrm>
            <a:off x="8165592" y="1463039"/>
            <a:ext cx="100584" cy="100584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87"/>
          <p:cNvSpPr/>
          <p:nvPr/>
        </p:nvSpPr>
        <p:spPr>
          <a:xfrm>
            <a:off x="8366759" y="1399032"/>
            <a:ext cx="3136392" cy="23774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648585"/>
                </a:solidFill>
                <a:latin typeface="Arial"/>
                <a:ea typeface="Arial"/>
                <a:cs typeface="Arial"/>
                <a:sym typeface="Arial"/>
              </a:rPr>
              <a:t>localhost:7220/login?error=true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87"/>
          <p:cNvSpPr txBox="1"/>
          <p:nvPr/>
        </p:nvSpPr>
        <p:spPr>
          <a:xfrm>
            <a:off x="8229600" y="180136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Iniciar sesión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87"/>
          <p:cNvSpPr/>
          <p:nvPr/>
        </p:nvSpPr>
        <p:spPr>
          <a:xfrm>
            <a:off x="8229600" y="2185415"/>
            <a:ext cx="2907792" cy="329184"/>
          </a:xfrm>
          <a:prstGeom prst="roundRect">
            <a:avLst>
              <a:gd fmla="val 11111" name="adj"/>
            </a:avLst>
          </a:prstGeom>
          <a:solidFill>
            <a:srgbClr val="C3094A">
              <a:alpha val="14118"/>
            </a:srgbClr>
          </a:solidFill>
          <a:ln cap="flat" cmpd="sng" w="9525">
            <a:solidFill>
              <a:srgbClr val="C30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Credenciales incorrectas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87"/>
          <p:cNvSpPr txBox="1"/>
          <p:nvPr/>
        </p:nvSpPr>
        <p:spPr>
          <a:xfrm>
            <a:off x="8229600" y="2578608"/>
            <a:ext cx="2907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87"/>
          <p:cNvSpPr/>
          <p:nvPr/>
        </p:nvSpPr>
        <p:spPr>
          <a:xfrm>
            <a:off x="8229600" y="2807208"/>
            <a:ext cx="2907792" cy="292608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mquiroz@softprog.pe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87"/>
          <p:cNvSpPr txBox="1"/>
          <p:nvPr/>
        </p:nvSpPr>
        <p:spPr>
          <a:xfrm>
            <a:off x="8229600" y="3154680"/>
            <a:ext cx="2907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Contraseña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87"/>
          <p:cNvSpPr/>
          <p:nvPr/>
        </p:nvSpPr>
        <p:spPr>
          <a:xfrm>
            <a:off x="8229600" y="3383280"/>
            <a:ext cx="2907792" cy="292608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••••••••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87"/>
          <p:cNvSpPr/>
          <p:nvPr/>
        </p:nvSpPr>
        <p:spPr>
          <a:xfrm>
            <a:off x="8229600" y="3813048"/>
            <a:ext cx="2907792" cy="310896"/>
          </a:xfrm>
          <a:prstGeom prst="roundRect">
            <a:avLst>
              <a:gd fmla="val 14705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Ingresar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87"/>
          <p:cNvSpPr txBox="1"/>
          <p:nvPr/>
        </p:nvSpPr>
        <p:spPr>
          <a:xfrm>
            <a:off x="7726679" y="4389120"/>
            <a:ext cx="39136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100"/>
              <a:buFont typeface="Arial"/>
              <a:buChar char="•"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página es Interactive Server, pero el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HTML hace un </a:t>
            </a:r>
            <a:r>
              <a:rPr b="1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POST real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al endpoint.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100"/>
              <a:buFont typeface="Arial"/>
              <a:buChar char="•"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define el nombre del dato que recibe el endpoint.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A7BC2"/>
              </a:buClr>
              <a:buSzPts val="1100"/>
              <a:buFont typeface="Arial"/>
              <a:buChar char="•"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?error=true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?sinRol=true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?registrado=true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llegan con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[SupplyParameterFromQuery]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88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Endpoints de sesión: MapSesionEndpoints</a:t>
            </a:r>
            <a:endParaRPr/>
          </a:p>
        </p:txBody>
      </p:sp>
      <p:sp>
        <p:nvSpPr>
          <p:cNvPr id="2331" name="Google Shape;2331;p8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2" name="Google Shape;2332;p88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88"/>
          <p:cNvSpPr/>
          <p:nvPr/>
        </p:nvSpPr>
        <p:spPr>
          <a:xfrm>
            <a:off x="548640" y="1371600"/>
            <a:ext cx="11094415" cy="3246120"/>
          </a:xfrm>
          <a:prstGeom prst="roundRect">
            <a:avLst>
              <a:gd fmla="val 2253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88"/>
          <p:cNvSpPr/>
          <p:nvPr/>
        </p:nvSpPr>
        <p:spPr>
          <a:xfrm>
            <a:off x="548640" y="1371600"/>
            <a:ext cx="11094415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88"/>
          <p:cNvSpPr/>
          <p:nvPr/>
        </p:nvSpPr>
        <p:spPr>
          <a:xfrm>
            <a:off x="559612" y="1664208"/>
            <a:ext cx="11072469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88"/>
          <p:cNvSpPr txBox="1"/>
          <p:nvPr/>
        </p:nvSpPr>
        <p:spPr>
          <a:xfrm>
            <a:off x="685800" y="1389888"/>
            <a:ext cx="108200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Seguridad/SeguridadExtensions.cs (se llama en Program.cs después de MapRazorComponents)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88"/>
          <p:cNvSpPr txBox="1"/>
          <p:nvPr/>
        </p:nvSpPr>
        <p:spPr>
          <a:xfrm>
            <a:off x="694944" y="1773936"/>
            <a:ext cx="10801807" cy="2798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MapSesionEndpoints(this IEndpointRouteBuilder app)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app.MapPost(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"/cuenta/login"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, IniciarSesion);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app.MapPost(</a:t>
            </a:r>
            <a:r>
              <a:rPr b="0" i="0" lang="en-US" spc="0" sz="10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"/cuenta/logout"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, CerrarSesion);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async Task&lt;IResult&gt; IniciarSesion(HttpContext context, ISesionService sesionService,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[FromForm]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userName, [FromForm]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password)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10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destino = await sesionService.IniciarSesion(context, userName, password);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Results.Redirect(destino);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async Task&lt;IResult&gt; CerrarSesion(HttpContext context, ISesionService sesionService) {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await sesionService.CerrarSesion(context);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Results.Redirect(</a:t>
            </a:r>
            <a:r>
              <a:rPr b="0" i="0" lang="en-US" spc="0" sz="10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"/login"</a:t>
            </a: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88"/>
          <p:cNvSpPr/>
          <p:nvPr/>
        </p:nvSpPr>
        <p:spPr>
          <a:xfrm>
            <a:off x="548640" y="475488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[FromForm]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88"/>
          <p:cNvSpPr txBox="1"/>
          <p:nvPr/>
        </p:nvSpPr>
        <p:spPr>
          <a:xfrm>
            <a:off x="548640" y="5074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Recibe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del formulario y valida el token antifalsificación (using Microsoft.AspNetCore.Mvc).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88"/>
          <p:cNvSpPr/>
          <p:nvPr/>
        </p:nvSpPr>
        <p:spPr>
          <a:xfrm>
            <a:off x="4315968" y="475488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MapPost + método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88"/>
          <p:cNvSpPr txBox="1"/>
          <p:nvPr/>
        </p:nvSpPr>
        <p:spPr>
          <a:xfrm>
            <a:off x="4315968" y="5074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MapPost recibe el nombre de un método; ASP.NET Core le entrega HttpContext, ISesionService y los datos del formulario.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88"/>
          <p:cNvSpPr/>
          <p:nvPr/>
        </p:nvSpPr>
        <p:spPr>
          <a:xfrm>
            <a:off x="8083296" y="4754880"/>
            <a:ext cx="1554480" cy="292608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Results.Redirect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88"/>
          <p:cNvSpPr txBox="1"/>
          <p:nvPr/>
        </p:nvSpPr>
        <p:spPr>
          <a:xfrm>
            <a:off x="8083296" y="5074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Envía al usuario a /, a /login?error=true o a /login?sinRol=true.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89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Cerrar sesión</a:t>
            </a:r>
            <a:endParaRPr/>
          </a:p>
        </p:txBody>
      </p:sp>
      <p:sp>
        <p:nvSpPr>
          <p:cNvPr id="2354" name="Google Shape;2354;p8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5" name="Google Shape;2355;p89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89"/>
          <p:cNvSpPr/>
          <p:nvPr/>
        </p:nvSpPr>
        <p:spPr>
          <a:xfrm>
            <a:off x="548640" y="1371600"/>
            <a:ext cx="603504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89"/>
          <p:cNvSpPr/>
          <p:nvPr/>
        </p:nvSpPr>
        <p:spPr>
          <a:xfrm>
            <a:off x="548640" y="1371600"/>
            <a:ext cx="60350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89"/>
          <p:cNvSpPr/>
          <p:nvPr/>
        </p:nvSpPr>
        <p:spPr>
          <a:xfrm>
            <a:off x="559612" y="1664208"/>
            <a:ext cx="60130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89"/>
          <p:cNvSpPr txBox="1"/>
          <p:nvPr/>
        </p:nvSpPr>
        <p:spPr>
          <a:xfrm>
            <a:off x="685800" y="138988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Seguridad/SeguridadExtensions.cs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89"/>
          <p:cNvSpPr txBox="1"/>
          <p:nvPr/>
        </p:nvSpPr>
        <p:spPr>
          <a:xfrm>
            <a:off x="694944" y="1773936"/>
            <a:ext cx="5742431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async Task&lt;IResult&gt; CerrarSesion(HttpContext context,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ISesionService sesionService) {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await sesionService.CerrarSesion(context);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10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Results.Redirect(</a:t>
            </a:r>
            <a:r>
              <a:rPr b="0" i="0" lang="en-US" spc="0" sz="10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"/login"</a:t>
            </a: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89"/>
          <p:cNvSpPr/>
          <p:nvPr/>
        </p:nvSpPr>
        <p:spPr>
          <a:xfrm>
            <a:off x="548640" y="3154680"/>
            <a:ext cx="603504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89"/>
          <p:cNvSpPr/>
          <p:nvPr/>
        </p:nvSpPr>
        <p:spPr>
          <a:xfrm>
            <a:off x="548640" y="3154680"/>
            <a:ext cx="60350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89"/>
          <p:cNvSpPr/>
          <p:nvPr/>
        </p:nvSpPr>
        <p:spPr>
          <a:xfrm>
            <a:off x="559612" y="3447288"/>
            <a:ext cx="60130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89"/>
          <p:cNvSpPr txBox="1"/>
          <p:nvPr/>
        </p:nvSpPr>
        <p:spPr>
          <a:xfrm>
            <a:off x="685800" y="3172968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MainLayout.razor (menú de la cuenta)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89"/>
          <p:cNvSpPr txBox="1"/>
          <p:nvPr/>
        </p:nvSpPr>
        <p:spPr>
          <a:xfrm>
            <a:off x="694944" y="3557016"/>
            <a:ext cx="5742431" cy="1883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&lt;li&gt;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method=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"post"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action=</a:t>
            </a:r>
            <a:r>
              <a:rPr b="0" i="0" lang="en-US" spc="0" sz="9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"cuenta/logout"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&lt;AntiforgeryToken</a:t>
            </a:r>
            <a:r>
              <a:rPr b="0" i="0" lang="en-US" spc="0" sz="9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9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"dropdown-item"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Cerrar sesión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pc="0" sz="9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&lt;/li&gt;</a:t>
            </a:r>
            <a:endParaRPr b="0" i="0" spc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89"/>
          <p:cNvSpPr/>
          <p:nvPr/>
        </p:nvSpPr>
        <p:spPr>
          <a:xfrm>
            <a:off x="6903720" y="1417320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89"/>
          <p:cNvSpPr txBox="1"/>
          <p:nvPr/>
        </p:nvSpPr>
        <p:spPr>
          <a:xfrm>
            <a:off x="7406640" y="1380744"/>
            <a:ext cx="4233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Formulario POST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botón envía una solicitud HTTP real al endpoint /cuenta/logout.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89"/>
          <p:cNvSpPr/>
          <p:nvPr/>
        </p:nvSpPr>
        <p:spPr>
          <a:xfrm>
            <a:off x="6903720" y="2441448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89"/>
          <p:cNvSpPr txBox="1"/>
          <p:nvPr/>
        </p:nvSpPr>
        <p:spPr>
          <a:xfrm>
            <a:off x="7406640" y="2404872"/>
            <a:ext cx="4233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SignOutAsync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respuesta incluye una cookie expirada: el navegador la elimina.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p89"/>
          <p:cNvSpPr/>
          <p:nvPr/>
        </p:nvSpPr>
        <p:spPr>
          <a:xfrm>
            <a:off x="6903720" y="3465576"/>
            <a:ext cx="384048" cy="38404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89"/>
          <p:cNvSpPr txBox="1"/>
          <p:nvPr/>
        </p:nvSpPr>
        <p:spPr>
          <a:xfrm>
            <a:off x="7406640" y="3429000"/>
            <a:ext cx="4233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Redirect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navegador carga /login con un circuito nuevo, sin usuario.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89"/>
          <p:cNvSpPr/>
          <p:nvPr/>
        </p:nvSpPr>
        <p:spPr>
          <a:xfrm>
            <a:off x="6903720" y="4489704"/>
            <a:ext cx="384048" cy="384048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89"/>
          <p:cNvSpPr txBox="1"/>
          <p:nvPr/>
        </p:nvSpPr>
        <p:spPr>
          <a:xfrm>
            <a:off x="7406640" y="4453128"/>
            <a:ext cx="42336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¿Por qué POST?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enlace GET podría cerrar la sesión desde otro sitio; &lt;AntiforgeryToken /&gt; agrega el token antifalsificación al formulario.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90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Proteger páginas con [Authorize] y políticas</a:t>
            </a:r>
            <a:endParaRPr/>
          </a:p>
        </p:txBody>
      </p:sp>
      <p:sp>
        <p:nvSpPr>
          <p:cNvPr id="2382" name="Google Shape;2382;p9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3" name="Google Shape;2383;p9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90"/>
          <p:cNvSpPr/>
          <p:nvPr/>
        </p:nvSpPr>
        <p:spPr>
          <a:xfrm>
            <a:off x="548640" y="1371600"/>
            <a:ext cx="512064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90"/>
          <p:cNvSpPr/>
          <p:nvPr/>
        </p:nvSpPr>
        <p:spPr>
          <a:xfrm>
            <a:off x="548640" y="1371600"/>
            <a:ext cx="51206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90"/>
          <p:cNvSpPr/>
          <p:nvPr/>
        </p:nvSpPr>
        <p:spPr>
          <a:xfrm>
            <a:off x="559612" y="1664208"/>
            <a:ext cx="50986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90"/>
          <p:cNvSpPr txBox="1"/>
          <p:nvPr/>
        </p:nvSpPr>
        <p:spPr>
          <a:xfrm>
            <a:off x="685800" y="138988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ListarProductosPage.razor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90"/>
          <p:cNvSpPr txBox="1"/>
          <p:nvPr/>
        </p:nvSpPr>
        <p:spPr>
          <a:xfrm>
            <a:off x="694944" y="1773936"/>
            <a:ext cx="482803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"/productos"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@attribute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[Authorize(Policy = 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90"/>
          <p:cNvSpPr/>
          <p:nvPr/>
        </p:nvSpPr>
        <p:spPr>
          <a:xfrm>
            <a:off x="548640" y="2514600"/>
            <a:ext cx="5120640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90"/>
          <p:cNvSpPr/>
          <p:nvPr/>
        </p:nvSpPr>
        <p:spPr>
          <a:xfrm>
            <a:off x="548640" y="2514600"/>
            <a:ext cx="512064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90"/>
          <p:cNvSpPr/>
          <p:nvPr/>
        </p:nvSpPr>
        <p:spPr>
          <a:xfrm>
            <a:off x="559612" y="2807208"/>
            <a:ext cx="509869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90"/>
          <p:cNvSpPr txBox="1"/>
          <p:nvPr/>
        </p:nvSpPr>
        <p:spPr>
          <a:xfrm>
            <a:off x="685800" y="253288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CambiarPasswordPage.razor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90"/>
          <p:cNvSpPr txBox="1"/>
          <p:nvPr/>
        </p:nvSpPr>
        <p:spPr>
          <a:xfrm>
            <a:off x="694944" y="2916936"/>
            <a:ext cx="4828031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@page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12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"/cambiar-password"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@attribute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[Authorize]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p90"/>
          <p:cNvSpPr txBox="1"/>
          <p:nvPr/>
        </p:nvSpPr>
        <p:spPr>
          <a:xfrm>
            <a:off x="548640" y="3931920"/>
            <a:ext cx="51206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[Authorize]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basta con un usuario autenticado (cualquier rol).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1" i="0" lang="en-US" spc="0" sz="13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Policy = "Productos"</a:t>
            </a: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: además exige uno de los roles de esa política.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300"/>
              <a:buFont typeface="Arial"/>
              <a:buChar char="•"/>
            </a:pPr>
            <a:r>
              <a:rPr b="0" i="0" lang="en-US" spc="0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la primera solicitud HTTP, el middleware redirige a LoginPath o AccessDeniedPath.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7" name="Google Shape;2397;p90"/>
          <p:cNvSpPr txBox="1"/>
          <p:nvPr/>
        </p:nvSpPr>
        <p:spPr>
          <a:xfrm>
            <a:off x="60807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Resultado según el 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90"/>
          <p:cNvSpPr/>
          <p:nvPr/>
        </p:nvSpPr>
        <p:spPr>
          <a:xfrm>
            <a:off x="6080760" y="1783080"/>
            <a:ext cx="5513832" cy="566928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90"/>
          <p:cNvSpPr txBox="1"/>
          <p:nvPr/>
        </p:nvSpPr>
        <p:spPr>
          <a:xfrm>
            <a:off x="6135624" y="1783080"/>
            <a:ext cx="20756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90"/>
          <p:cNvSpPr txBox="1"/>
          <p:nvPr/>
        </p:nvSpPr>
        <p:spPr>
          <a:xfrm>
            <a:off x="8284464" y="1783080"/>
            <a:ext cx="1609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/productos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90"/>
          <p:cNvSpPr txBox="1"/>
          <p:nvPr/>
        </p:nvSpPr>
        <p:spPr>
          <a:xfrm>
            <a:off x="9966960" y="1783080"/>
            <a:ext cx="1609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/cambiar-password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90"/>
          <p:cNvSpPr/>
          <p:nvPr/>
        </p:nvSpPr>
        <p:spPr>
          <a:xfrm>
            <a:off x="6080760" y="2350008"/>
            <a:ext cx="5513832" cy="5669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90"/>
          <p:cNvSpPr txBox="1"/>
          <p:nvPr/>
        </p:nvSpPr>
        <p:spPr>
          <a:xfrm>
            <a:off x="6135624" y="2350008"/>
            <a:ext cx="20756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Anónimo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90"/>
          <p:cNvSpPr/>
          <p:nvPr/>
        </p:nvSpPr>
        <p:spPr>
          <a:xfrm>
            <a:off x="8321040" y="2478024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Ir a /login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90"/>
          <p:cNvSpPr/>
          <p:nvPr/>
        </p:nvSpPr>
        <p:spPr>
          <a:xfrm>
            <a:off x="10003536" y="2478024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F0AE1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Ir a /login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90"/>
          <p:cNvSpPr/>
          <p:nvPr/>
        </p:nvSpPr>
        <p:spPr>
          <a:xfrm>
            <a:off x="6080760" y="2916936"/>
            <a:ext cx="551383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90"/>
          <p:cNvSpPr txBox="1"/>
          <p:nvPr/>
        </p:nvSpPr>
        <p:spPr>
          <a:xfrm>
            <a:off x="6135624" y="2916936"/>
            <a:ext cx="20756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mquiroz (vendedor)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90"/>
          <p:cNvSpPr/>
          <p:nvPr/>
        </p:nvSpPr>
        <p:spPr>
          <a:xfrm>
            <a:off x="8321040" y="3044952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C3094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Denegado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90"/>
          <p:cNvSpPr/>
          <p:nvPr/>
        </p:nvSpPr>
        <p:spPr>
          <a:xfrm>
            <a:off x="10003536" y="3044952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Permitido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90"/>
          <p:cNvSpPr/>
          <p:nvPr/>
        </p:nvSpPr>
        <p:spPr>
          <a:xfrm>
            <a:off x="6080760" y="3483863"/>
            <a:ext cx="5513832" cy="566928"/>
          </a:xfrm>
          <a:prstGeom prst="rect">
            <a:avLst/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90"/>
          <p:cNvSpPr txBox="1"/>
          <p:nvPr/>
        </p:nvSpPr>
        <p:spPr>
          <a:xfrm>
            <a:off x="6135624" y="3483863"/>
            <a:ext cx="20756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cmontes (almacén)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90"/>
          <p:cNvSpPr/>
          <p:nvPr/>
        </p:nvSpPr>
        <p:spPr>
          <a:xfrm>
            <a:off x="8321040" y="3611879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Permitido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90"/>
          <p:cNvSpPr/>
          <p:nvPr/>
        </p:nvSpPr>
        <p:spPr>
          <a:xfrm>
            <a:off x="10003536" y="3611879"/>
            <a:ext cx="1499616" cy="310896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Permitido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4" name="Google Shape;2414;p90"/>
          <p:cNvCxnSpPr/>
          <p:nvPr/>
        </p:nvCxnSpPr>
        <p:spPr>
          <a:xfrm>
            <a:off x="6080760" y="4050791"/>
            <a:ext cx="5513832" cy="0"/>
          </a:xfrm>
          <a:prstGeom prst="straightConnector1">
            <a:avLst/>
          </a:prstGeom>
          <a:noFill/>
          <a:ln cap="flat" cmpd="sng" w="95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5" name="Google Shape;2415;p90"/>
          <p:cNvSpPr/>
          <p:nvPr/>
        </p:nvSpPr>
        <p:spPr>
          <a:xfrm>
            <a:off x="6080760" y="4251960"/>
            <a:ext cx="5513832" cy="1252728"/>
          </a:xfrm>
          <a:prstGeom prst="roundRect">
            <a:avLst>
              <a:gd fmla="val 7299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90"/>
          <p:cNvSpPr txBox="1"/>
          <p:nvPr/>
        </p:nvSpPr>
        <p:spPr>
          <a:xfrm>
            <a:off x="6263640" y="4251960"/>
            <a:ext cx="521208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Durante la navegación interactiva no hay una nueva solicitud HTTP: la decisión la toma </a:t>
            </a: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AuthorizeRouteView</a:t>
            </a:r>
            <a:r>
              <a:rPr b="0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en Routes.razor (siguiente diapositiva).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91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AuthorizeRouteView y redirección al login</a:t>
            </a:r>
            <a:endParaRPr/>
          </a:p>
        </p:txBody>
      </p:sp>
      <p:sp>
        <p:nvSpPr>
          <p:cNvPr id="2422" name="Google Shape;2422;p9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3" name="Google Shape;2423;p9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91"/>
          <p:cNvSpPr/>
          <p:nvPr/>
        </p:nvSpPr>
        <p:spPr>
          <a:xfrm>
            <a:off x="548640" y="1371600"/>
            <a:ext cx="630936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91"/>
          <p:cNvSpPr/>
          <p:nvPr/>
        </p:nvSpPr>
        <p:spPr>
          <a:xfrm>
            <a:off x="548640" y="1371600"/>
            <a:ext cx="63093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91"/>
          <p:cNvSpPr/>
          <p:nvPr/>
        </p:nvSpPr>
        <p:spPr>
          <a:xfrm>
            <a:off x="559612" y="1664208"/>
            <a:ext cx="62874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91"/>
          <p:cNvSpPr txBox="1"/>
          <p:nvPr/>
        </p:nvSpPr>
        <p:spPr>
          <a:xfrm>
            <a:off x="685800" y="1389888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Components/Routes.razor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91"/>
          <p:cNvSpPr txBox="1"/>
          <p:nvPr/>
        </p:nvSpPr>
        <p:spPr>
          <a:xfrm>
            <a:off x="694944" y="1773936"/>
            <a:ext cx="601675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&lt;Router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AppAssembly=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"typeof(Program).Assembly"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NotFoundPage=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"typeof(Pages.NotFound)"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&lt;Found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Context=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&lt;AuthorizeRouteView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RouteData=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DefaultLayout=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"typeof(Layout.MainLayout)"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&lt;NotAuthorized&gt;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i="0" lang="en-US" spc="0" sz="1100" u="none" cap="none" strike="noStrike">
                <a:solidFill>
                  <a:srgbClr val="7F32C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@if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(context.User.Identity?.IsAuthenticated != </a:t>
            </a:r>
            <a:r>
              <a:rPr b="0" i="0" lang="en-US" spc="0" sz="11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&lt;RedirectToLogin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 </a:t>
            </a:r>
            <a:r>
              <a:rPr b="0" i="0" lang="en-US" spc="0" sz="11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pc="0" sz="11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b="0" i="0" lang="en-US" spc="0" sz="11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"alert alert-warning"</a:t>
            </a:r>
            <a:r>
              <a:rPr b="0" i="0" lang="en-US" spc="0" sz="110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No tiene permisos para acceder a esta página.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&lt;/NotAuthorized&gt;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&lt;/AuthorizeRouteView&gt;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&lt;FocusOnNavigate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RouteData=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"routeData"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Selector=</a:t>
            </a:r>
            <a:r>
              <a:rPr b="0" i="0" lang="en-US" spc="0" sz="11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"h1"</a:t>
            </a: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&lt;/Found&gt;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&lt;/Router&gt;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91"/>
          <p:cNvSpPr/>
          <p:nvPr/>
        </p:nvSpPr>
        <p:spPr>
          <a:xfrm>
            <a:off x="7068312" y="1371600"/>
            <a:ext cx="45720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91"/>
          <p:cNvSpPr/>
          <p:nvPr/>
        </p:nvSpPr>
        <p:spPr>
          <a:xfrm>
            <a:off x="7068312" y="1371600"/>
            <a:ext cx="4572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91"/>
          <p:cNvSpPr/>
          <p:nvPr/>
        </p:nvSpPr>
        <p:spPr>
          <a:xfrm>
            <a:off x="7079284" y="1664208"/>
            <a:ext cx="4550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91"/>
          <p:cNvSpPr txBox="1"/>
          <p:nvPr/>
        </p:nvSpPr>
        <p:spPr>
          <a:xfrm>
            <a:off x="7205472" y="138988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Components/RedirectToLogin.razor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91"/>
          <p:cNvSpPr txBox="1"/>
          <p:nvPr/>
        </p:nvSpPr>
        <p:spPr>
          <a:xfrm>
            <a:off x="7214616" y="1773936"/>
            <a:ext cx="4279392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@inject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NavigationManager Nav;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@code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pc="0" sz="12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2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pc="0" sz="12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OnInitialized() {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Nav.NavigateTo(</a:t>
            </a:r>
            <a:r>
              <a:rPr b="0" i="0" lang="en-US" spc="0" sz="12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"/login"</a:t>
            </a:r>
            <a:r>
              <a:rPr b="0" i="0" lang="en-US" spc="0" sz="12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91"/>
          <p:cNvSpPr txBox="1"/>
          <p:nvPr/>
        </p:nvSpPr>
        <p:spPr>
          <a:xfrm>
            <a:off x="7068312" y="370332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-201168" lvl="0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AuthorizeRouteView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reemplaza 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RouteView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y respeta los atributos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[Authorize]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No autenticado →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RedirectToLogin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; autenticado sin permiso → mensaje de permisos.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168" lvl="0" marL="201168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A7BC2"/>
              </a:buClr>
              <a:buSzPts val="1200"/>
              <a:buFont typeface="Arial"/>
              <a:buChar char="•"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página de login también es Interactive Server: basta 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NavigateTo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9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AuthorizeView: el layout según el usuario</a:t>
            </a:r>
            <a:endParaRPr/>
          </a:p>
        </p:txBody>
      </p:sp>
      <p:sp>
        <p:nvSpPr>
          <p:cNvPr id="2445" name="Google Shape;2445;p9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6" name="Google Shape;2446;p9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92"/>
          <p:cNvSpPr/>
          <p:nvPr/>
        </p:nvSpPr>
        <p:spPr>
          <a:xfrm>
            <a:off x="548640" y="1371600"/>
            <a:ext cx="64008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92"/>
          <p:cNvSpPr/>
          <p:nvPr/>
        </p:nvSpPr>
        <p:spPr>
          <a:xfrm>
            <a:off x="548640" y="1371600"/>
            <a:ext cx="64008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92"/>
          <p:cNvSpPr/>
          <p:nvPr/>
        </p:nvSpPr>
        <p:spPr>
          <a:xfrm>
            <a:off x="559612" y="1664208"/>
            <a:ext cx="63788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92"/>
          <p:cNvSpPr txBox="1"/>
          <p:nvPr/>
        </p:nvSpPr>
        <p:spPr>
          <a:xfrm>
            <a:off x="685800" y="1389888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Components/Layout/MainLayout.razor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5" name="Google Shape;2455;p92"/>
          <p:cNvSpPr txBox="1"/>
          <p:nvPr/>
        </p:nvSpPr>
        <p:spPr>
          <a:xfrm>
            <a:off x="694944" y="1773936"/>
            <a:ext cx="61081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&lt;ul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"navbar-nav me-auto"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&lt;AuthorizeView&gt;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(KeyValuePair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, List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&lt;OpcionMenu&gt;&gt;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grupo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Permisos.MenuDelUsuario(context.User))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&lt;li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"nav-item dropdown"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"nav-link dropdown-toggle"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type=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data-bs-toggle=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"dropdown"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@grupo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.Key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&lt;ul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"dropdown-menu"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@foreach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(OpcionMenu opcion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grupo.Value)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&lt;li&gt;&lt;NavLink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"dropdown-item"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              href=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"@opcion.Href"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pc="0" sz="850" u="none" cap="none" strike="noStrike">
                <a:solidFill>
                  <a:srgbClr val="7F32C8"/>
                </a:solidFill>
                <a:latin typeface="Courier New"/>
                <a:ea typeface="Courier New"/>
                <a:cs typeface="Courier New"/>
                <a:sym typeface="Courier New"/>
              </a:rPr>
              <a:t>@opcion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.Texto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&lt;/NavLink&gt;&lt;/li&gt;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&lt;/li&gt;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&lt;/AuthorizeView&gt;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&lt;ul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"navbar-nav"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&lt;AuthorizeView&gt;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&lt;Authorized&gt;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@context.User.Identity?.Name: Mi perfil, Cambiar contraseña, Cerrar sesión *@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&lt;/Authorized&gt;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&lt;NotAuthorized&gt;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@* «Mi cuenta»: Iniciar sesión y Registrarse *@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&lt;/NotAuthorized&gt;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&lt;/AuthorizeView&gt;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92"/>
          <p:cNvSpPr txBox="1"/>
          <p:nvPr/>
        </p:nvSpPr>
        <p:spPr>
          <a:xfrm>
            <a:off x="7178040" y="1371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Anónimo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92"/>
          <p:cNvSpPr/>
          <p:nvPr/>
        </p:nvSpPr>
        <p:spPr>
          <a:xfrm>
            <a:off x="7178040" y="1673352"/>
            <a:ext cx="4462272" cy="411480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92"/>
          <p:cNvSpPr txBox="1"/>
          <p:nvPr/>
        </p:nvSpPr>
        <p:spPr>
          <a:xfrm>
            <a:off x="7315200" y="1673352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92"/>
          <p:cNvSpPr txBox="1"/>
          <p:nvPr/>
        </p:nvSpPr>
        <p:spPr>
          <a:xfrm>
            <a:off x="10332720" y="167335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 cuenta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92"/>
          <p:cNvSpPr txBox="1"/>
          <p:nvPr/>
        </p:nvSpPr>
        <p:spPr>
          <a:xfrm>
            <a:off x="7178040" y="2450591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Vendedor (mquiroz)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92"/>
          <p:cNvSpPr/>
          <p:nvPr/>
        </p:nvSpPr>
        <p:spPr>
          <a:xfrm>
            <a:off x="7178040" y="2752344"/>
            <a:ext cx="4462272" cy="411480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92"/>
          <p:cNvSpPr txBox="1"/>
          <p:nvPr/>
        </p:nvSpPr>
        <p:spPr>
          <a:xfrm>
            <a:off x="7315200" y="2752344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92"/>
          <p:cNvSpPr txBox="1"/>
          <p:nvPr/>
        </p:nvSpPr>
        <p:spPr>
          <a:xfrm>
            <a:off x="8412480" y="2752344"/>
            <a:ext cx="10104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Ventas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92"/>
          <p:cNvSpPr txBox="1"/>
          <p:nvPr/>
        </p:nvSpPr>
        <p:spPr>
          <a:xfrm>
            <a:off x="9692640" y="275234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mquiroz@softprog.pe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92"/>
          <p:cNvSpPr txBox="1"/>
          <p:nvPr/>
        </p:nvSpPr>
        <p:spPr>
          <a:xfrm>
            <a:off x="7178040" y="35295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92"/>
          <p:cNvSpPr/>
          <p:nvPr/>
        </p:nvSpPr>
        <p:spPr>
          <a:xfrm>
            <a:off x="7178040" y="3831335"/>
            <a:ext cx="4462272" cy="411480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92"/>
          <p:cNvSpPr txBox="1"/>
          <p:nvPr/>
        </p:nvSpPr>
        <p:spPr>
          <a:xfrm>
            <a:off x="7315200" y="3831335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92"/>
          <p:cNvSpPr txBox="1"/>
          <p:nvPr/>
        </p:nvSpPr>
        <p:spPr>
          <a:xfrm>
            <a:off x="8412480" y="3831335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Almacén ▾  Ventas ▾  RRHH ▾  Seguridad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2" name="Google Shape;2472;p92"/>
          <p:cNvSpPr txBox="1"/>
          <p:nvPr/>
        </p:nvSpPr>
        <p:spPr>
          <a:xfrm>
            <a:off x="10625328" y="3831335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pc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administrador 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92"/>
          <p:cNvSpPr txBox="1"/>
          <p:nvPr/>
        </p:nvSpPr>
        <p:spPr>
          <a:xfrm>
            <a:off x="7178040" y="4663440"/>
            <a:ext cx="44622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Permisos.MenuDelUsuario(context.User)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arma el menú según el rol.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Policy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AuthorizeView muestra contenido por permiso; en un EditForm se usa </a:t>
            </a:r>
            <a:r>
              <a:rPr b="1" i="0" lang="en-US" spc="0" sz="12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Context="autenticacion"</a:t>
            </a: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8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93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Resumen del flujo de seguridad en SoftProg</a:t>
            </a:r>
            <a:endParaRPr/>
          </a:p>
        </p:txBody>
      </p:sp>
      <p:sp>
        <p:nvSpPr>
          <p:cNvPr id="2480" name="Google Shape;2480;p9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1" name="Google Shape;2481;p93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93"/>
          <p:cNvSpPr/>
          <p:nvPr/>
        </p:nvSpPr>
        <p:spPr>
          <a:xfrm>
            <a:off x="548640" y="14173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9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93"/>
          <p:cNvSpPr txBox="1"/>
          <p:nvPr/>
        </p:nvSpPr>
        <p:spPr>
          <a:xfrm>
            <a:off x="1325880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GET /productos sin cookie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93"/>
          <p:cNvSpPr txBox="1"/>
          <p:nvPr/>
        </p:nvSpPr>
        <p:spPr>
          <a:xfrm>
            <a:off x="731520" y="219456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middleware redirige a /login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6" name="Google Shape;2486;p93"/>
          <p:cNvCxnSpPr/>
          <p:nvPr/>
        </p:nvCxnSpPr>
        <p:spPr>
          <a:xfrm>
            <a:off x="4014215" y="2171700"/>
            <a:ext cx="32918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7" name="Google Shape;2487;p93"/>
          <p:cNvSpPr/>
          <p:nvPr/>
        </p:nvSpPr>
        <p:spPr>
          <a:xfrm>
            <a:off x="4379976" y="14173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93"/>
          <p:cNvSpPr/>
          <p:nvPr/>
        </p:nvSpPr>
        <p:spPr>
          <a:xfrm>
            <a:off x="4562856" y="160020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93"/>
          <p:cNvSpPr txBox="1"/>
          <p:nvPr/>
        </p:nvSpPr>
        <p:spPr>
          <a:xfrm>
            <a:off x="5157216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POST /cuenta/login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93"/>
          <p:cNvSpPr txBox="1"/>
          <p:nvPr/>
        </p:nvSpPr>
        <p:spPr>
          <a:xfrm>
            <a:off x="4562856" y="219456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endpoint delega en SesionService.IniciarSesion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1" name="Google Shape;2491;p93"/>
          <p:cNvCxnSpPr/>
          <p:nvPr/>
        </p:nvCxnSpPr>
        <p:spPr>
          <a:xfrm>
            <a:off x="7845551" y="2171700"/>
            <a:ext cx="32918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2" name="Google Shape;2492;p93"/>
          <p:cNvSpPr/>
          <p:nvPr/>
        </p:nvSpPr>
        <p:spPr>
          <a:xfrm>
            <a:off x="8211312" y="14173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93"/>
          <p:cNvSpPr/>
          <p:nvPr/>
        </p:nvSpPr>
        <p:spPr>
          <a:xfrm>
            <a:off x="8394192" y="160020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93"/>
          <p:cNvSpPr txBox="1"/>
          <p:nvPr/>
        </p:nvSpPr>
        <p:spPr>
          <a:xfrm>
            <a:off x="8988552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Claims + SignInAsync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93"/>
          <p:cNvSpPr txBox="1"/>
          <p:nvPr/>
        </p:nvSpPr>
        <p:spPr>
          <a:xfrm>
            <a:off x="8394192" y="219456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Respuesta con Set-Cookie y redirección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93"/>
          <p:cNvSpPr/>
          <p:nvPr/>
        </p:nvSpPr>
        <p:spPr>
          <a:xfrm>
            <a:off x="548640" y="34747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9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93"/>
          <p:cNvSpPr txBox="1"/>
          <p:nvPr/>
        </p:nvSpPr>
        <p:spPr>
          <a:xfrm>
            <a:off x="1325880" y="36576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Nuevo circuito con cookie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93"/>
          <p:cNvSpPr txBox="1"/>
          <p:nvPr/>
        </p:nvSpPr>
        <p:spPr>
          <a:xfrm>
            <a:off x="731520" y="4251959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Blazor recibe el ClaimsPrincipal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0" name="Google Shape;2500;p93"/>
          <p:cNvCxnSpPr/>
          <p:nvPr/>
        </p:nvCxnSpPr>
        <p:spPr>
          <a:xfrm>
            <a:off x="4014215" y="4229100"/>
            <a:ext cx="32918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1" name="Google Shape;2501;p93"/>
          <p:cNvSpPr/>
          <p:nvPr/>
        </p:nvSpPr>
        <p:spPr>
          <a:xfrm>
            <a:off x="4379976" y="34747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93"/>
          <p:cNvSpPr/>
          <p:nvPr/>
        </p:nvSpPr>
        <p:spPr>
          <a:xfrm>
            <a:off x="4562856" y="365760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3" name="Google Shape;2503;p93"/>
          <p:cNvSpPr txBox="1"/>
          <p:nvPr/>
        </p:nvSpPr>
        <p:spPr>
          <a:xfrm>
            <a:off x="5157216" y="36576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Política cumplida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93"/>
          <p:cNvSpPr txBox="1"/>
          <p:nvPr/>
        </p:nvSpPr>
        <p:spPr>
          <a:xfrm>
            <a:off x="4562856" y="4251959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 muestra la página; el menú muestra solo las opciones permitidas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5" name="Google Shape;2505;p93"/>
          <p:cNvCxnSpPr/>
          <p:nvPr/>
        </p:nvCxnSpPr>
        <p:spPr>
          <a:xfrm>
            <a:off x="7845551" y="4229100"/>
            <a:ext cx="329185" cy="0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6" name="Google Shape;2506;p93"/>
          <p:cNvSpPr/>
          <p:nvPr/>
        </p:nvSpPr>
        <p:spPr>
          <a:xfrm>
            <a:off x="8211312" y="3474720"/>
            <a:ext cx="3429000" cy="150876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93"/>
          <p:cNvSpPr/>
          <p:nvPr/>
        </p:nvSpPr>
        <p:spPr>
          <a:xfrm>
            <a:off x="8394192" y="3657600"/>
            <a:ext cx="457200" cy="457200"/>
          </a:xfrm>
          <a:prstGeom prst="ellipse">
            <a:avLst/>
          </a:prstGeom>
          <a:solidFill>
            <a:srgbClr val="64858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8" name="Google Shape;2508;p93"/>
          <p:cNvSpPr txBox="1"/>
          <p:nvPr/>
        </p:nvSpPr>
        <p:spPr>
          <a:xfrm>
            <a:off x="8988552" y="36576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POST /cuenta/logout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9" name="Google Shape;2509;p93"/>
          <p:cNvSpPr txBox="1"/>
          <p:nvPr/>
        </p:nvSpPr>
        <p:spPr>
          <a:xfrm>
            <a:off x="8394192" y="4251959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SignOutAsync elimina la cookie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0" name="Google Shape;2510;p93"/>
          <p:cNvCxnSpPr/>
          <p:nvPr/>
        </p:nvCxnSpPr>
        <p:spPr>
          <a:xfrm>
            <a:off x="9925812" y="2953512"/>
            <a:ext cx="0" cy="246888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1" name="Google Shape;2511;p93"/>
          <p:cNvCxnSpPr/>
          <p:nvPr/>
        </p:nvCxnSpPr>
        <p:spPr>
          <a:xfrm rot="10800000">
            <a:off x="2263140" y="3200400"/>
            <a:ext cx="7662672" cy="0"/>
          </a:xfrm>
          <a:prstGeom prst="straightConnector1">
            <a:avLst/>
          </a:prstGeom>
          <a:noFill/>
          <a:ln cap="flat" cmpd="sng" w="22225">
            <a:solidFill>
              <a:srgbClr val="64858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2" name="Google Shape;2512;p93"/>
          <p:cNvCxnSpPr/>
          <p:nvPr/>
        </p:nvCxnSpPr>
        <p:spPr>
          <a:xfrm>
            <a:off x="2263140" y="3200400"/>
            <a:ext cx="0" cy="246888"/>
          </a:xfrm>
          <a:prstGeom prst="straightConnector1">
            <a:avLst/>
          </a:prstGeom>
          <a:noFill/>
          <a:ln cap="flat" cmpd="sng" w="25400">
            <a:solidFill>
              <a:srgbClr val="64858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94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Resumen: conceptos y dónde se aplican en SoftProg</a:t>
            </a:r>
            <a:endParaRPr/>
          </a:p>
        </p:txBody>
      </p:sp>
      <p:sp>
        <p:nvSpPr>
          <p:cNvPr id="2518" name="Google Shape;2518;p9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9" name="Google Shape;2519;p94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0" name="Google Shape;2520;p94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{FBA0FB25-BE9D-4660-B1BD-C6DA67540E8A}</a:tableStyleId>
              </a:tblPr>
              <a:tblGrid>
                <a:gridCol w="4034325"/>
                <a:gridCol w="70600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Concepto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pc="0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Dónde se aplica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042354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 raíz, Bootstrap y JavaScript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Components/App.razor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Layout y navegación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MainLayout.razor · NavLink · NavigationManager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Inyección de dependencias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Program.cs (AddScoped) · @inject IProductoBL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Routing y parámetros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@page "/productos/editar/{Id:int}" · Routes.razor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Enlace de atributos, eventos y @bind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ListarProductosPage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QuickGrid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ListarProductosPage · ListarEmpleadosPage · OrdenesVentaPage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ViewModels y validación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ProductoViewModel · ClienteViewModel · EmpleadoViewModel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Componentes padre e hijo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OrdenesVentaPage · DetalleOrdenVenta · GestionarOrdenVentaPage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JavaScript (JS interop)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wwwroot/js/softprog.js · IJSRuntime · confirmarEliminacion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en-US" spc="0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Autenticación y autorización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pc="0" sz="1100" u="none" cap="none" strike="noStrike">
                          <a:solidFill>
                            <a:srgbClr val="004EA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SeguridadExtensions · Permisos · SesionService · LoginPage · [Authorize(Policy)]</a:t>
                      </a:r>
                      <a:endParaRPr spc="0" sz="1400" u="none" cap="none" strike="noStrike"/>
                    </a:p>
                  </a:txBody>
                  <a:tcPr marT="27425" marB="27425" marR="73150" marL="73150" anchor="ctr">
                    <a:solidFill>
                      <a:srgbClr val="E7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8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Roles y políticas: la clase Permisos</a:t>
            </a:r>
            <a:endParaRPr/>
          </a:p>
        </p:txBody>
      </p:sp>
      <p:sp>
        <p:nvSpPr>
          <p:cNvPr id="2257" name="Google Shape;2257;p8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8" name="Google Shape;2258;p8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85"/>
          <p:cNvSpPr/>
          <p:nvPr/>
        </p:nvSpPr>
        <p:spPr>
          <a:xfrm>
            <a:off x="548640" y="1371600"/>
            <a:ext cx="736092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85"/>
          <p:cNvSpPr/>
          <p:nvPr/>
        </p:nvSpPr>
        <p:spPr>
          <a:xfrm>
            <a:off x="548640" y="1371600"/>
            <a:ext cx="73609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85"/>
          <p:cNvSpPr/>
          <p:nvPr/>
        </p:nvSpPr>
        <p:spPr>
          <a:xfrm>
            <a:off x="559612" y="1664208"/>
            <a:ext cx="73389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85"/>
          <p:cNvSpPr txBox="1"/>
          <p:nvPr/>
        </p:nvSpPr>
        <p:spPr>
          <a:xfrm>
            <a:off x="685800" y="1389888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Seguridad/Permisos.cs y SeguridadExtensions.cs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85"/>
          <p:cNvSpPr txBox="1"/>
          <p:nvPr/>
        </p:nvSpPr>
        <p:spPr>
          <a:xfrm>
            <a:off x="694944" y="1773936"/>
            <a:ext cx="706831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Seguridad/Permisos.cs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static readonly IReadOnlyDictionary&lt;string,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[]&gt; RolesPorPermiso =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Dictionary&lt;string,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[]&gt;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"Resumen"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"ENCARGADO_ALMACEN"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"Clientes"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"OrdenesVenta"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"VENDEDOR_SENIOR"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"EJECUTIVO_COMERCIAL"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"Areas"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"Empleados"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"ANALISTA_RRHH"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"CuentasUsuario"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"MisOrdenes"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"Cliente"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"PerfilCliente"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"Cliente"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[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"PerfilEmpleado"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 = [ </a:t>
            </a: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/* los seis cargos de empleado */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]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90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Seguridad/SeguridadExtensions.cs (dentro de AddSeguridad)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services.AddAuthorization(opciones =&gt;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(KeyValuePair&lt;string,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[]&gt; permiso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Permisos.RolesPorPermiso)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opciones.AddPolicy(permiso.Key,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politica =&gt; politica.RequireRole(permiso.Value));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85"/>
          <p:cNvSpPr/>
          <p:nvPr/>
        </p:nvSpPr>
        <p:spPr>
          <a:xfrm>
            <a:off x="8138160" y="137160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85"/>
          <p:cNvSpPr txBox="1"/>
          <p:nvPr/>
        </p:nvSpPr>
        <p:spPr>
          <a:xfrm>
            <a:off x="8641080" y="1335024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Permiso = política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clave del diccionario se registra con AddPolicy y se usa con [Authorize(Policy = "Productos")].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85"/>
          <p:cNvSpPr/>
          <p:nvPr/>
        </p:nvSpPr>
        <p:spPr>
          <a:xfrm>
            <a:off x="8138160" y="240487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85"/>
          <p:cNvSpPr txBox="1"/>
          <p:nvPr/>
        </p:nvSpPr>
        <p:spPr>
          <a:xfrm>
            <a:off x="8641080" y="2368296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RequireRole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política se cumple si el usuario tiene alguno de los roles de la lista.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85"/>
          <p:cNvSpPr/>
          <p:nvPr/>
        </p:nvSpPr>
        <p:spPr>
          <a:xfrm>
            <a:off x="8138160" y="343814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85"/>
          <p:cNvSpPr txBox="1"/>
          <p:nvPr/>
        </p:nvSpPr>
        <p:spPr>
          <a:xfrm>
            <a:off x="8641080" y="3401568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Roles de SoftProg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Administrador, Cliente y el cargo del empleado (enum Cargo), asignados al iniciar sesión.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85"/>
          <p:cNvSpPr/>
          <p:nvPr/>
        </p:nvSpPr>
        <p:spPr>
          <a:xfrm>
            <a:off x="8138160" y="447141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85"/>
          <p:cNvSpPr txBox="1"/>
          <p:nvPr/>
        </p:nvSpPr>
        <p:spPr>
          <a:xfrm>
            <a:off x="8641080" y="4434840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Un solo lugar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Permisos también arma el menú: MenuDelUsuario muestra solo las opciones permitidas.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72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SesionService: claims, rol y SignInAsync</a:t>
            </a:r>
            <a:endParaRPr/>
          </a:p>
        </p:txBody>
      </p:sp>
      <p:sp>
        <p:nvSpPr>
          <p:cNvPr id="1971" name="Google Shape;1971;p7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2" name="Google Shape;1972;p7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72"/>
          <p:cNvSpPr/>
          <p:nvPr/>
        </p:nvSpPr>
        <p:spPr>
          <a:xfrm>
            <a:off x="548640" y="1371600"/>
            <a:ext cx="571500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72"/>
          <p:cNvSpPr/>
          <p:nvPr/>
        </p:nvSpPr>
        <p:spPr>
          <a:xfrm>
            <a:off x="548640" y="1371600"/>
            <a:ext cx="571500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72"/>
          <p:cNvSpPr/>
          <p:nvPr/>
        </p:nvSpPr>
        <p:spPr>
          <a:xfrm>
            <a:off x="559612" y="1664208"/>
            <a:ext cx="569305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72"/>
          <p:cNvSpPr txBox="1"/>
          <p:nvPr/>
        </p:nvSpPr>
        <p:spPr>
          <a:xfrm>
            <a:off x="685800" y="1389888"/>
            <a:ext cx="5440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Servicios/Impl/SesionServiceImpl.cs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72"/>
          <p:cNvSpPr txBox="1"/>
          <p:nvPr/>
        </p:nvSpPr>
        <p:spPr>
          <a:xfrm>
            <a:off x="694944" y="1773936"/>
            <a:ext cx="542239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async Task&lt;string&gt; IniciarSesion(HttpContext context,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userName,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password)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(!cuentaUsuarioBL.Autenticar(userName, password))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"/login?error=true"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CuentaUsuario cuenta = cuentaUsuarioBL.FindByUserName(userName)!;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? rol = ObtenerRol(cuenta);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(rol ==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"/login?sinRol=true"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List&lt;Claim&gt; claims = [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Claim(ClaimTypes.NameIdentifier, cuenta.Id.ToString()),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Claim(ClaimTypes.Name, cuenta.UserName),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Claim(ClaimTypes.Role, rol)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];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ClaimsIdentity identidad =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(claims, CookieAuthenticationDefaults.AuthenticationScheme);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await context.SignInAsync(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ClaimsPrincipal(identidad));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72"/>
          <p:cNvSpPr/>
          <p:nvPr/>
        </p:nvSpPr>
        <p:spPr>
          <a:xfrm>
            <a:off x="6473952" y="1371600"/>
            <a:ext cx="5166360" cy="292608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72"/>
          <p:cNvSpPr/>
          <p:nvPr/>
        </p:nvSpPr>
        <p:spPr>
          <a:xfrm>
            <a:off x="6473952" y="1371600"/>
            <a:ext cx="516636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72"/>
          <p:cNvSpPr/>
          <p:nvPr/>
        </p:nvSpPr>
        <p:spPr>
          <a:xfrm>
            <a:off x="6484924" y="1664208"/>
            <a:ext cx="514441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72"/>
          <p:cNvSpPr txBox="1"/>
          <p:nvPr/>
        </p:nvSpPr>
        <p:spPr>
          <a:xfrm>
            <a:off x="6611112" y="138988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Continuación: ObtenerRol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72"/>
          <p:cNvSpPr txBox="1"/>
          <p:nvPr/>
        </p:nvSpPr>
        <p:spPr>
          <a:xfrm>
            <a:off x="6620256" y="1773936"/>
            <a:ext cx="4873752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? ObtenerRol(CuentaUsuario cuenta)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(cuenta.UserName == </a:t>
            </a:r>
            <a:r>
              <a:rPr b="0" i="0" lang="en-US" spc="0" sz="90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"Administrador"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(clienteBL.FindByCuenta(cuenta.UserName) != </a:t>
            </a:r>
            <a:r>
              <a:rPr b="0" i="0" lang="en-US" spc="0" sz="90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90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"Cliente"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Empleado? empleado = empleadoBL.FindByCuenta(cuenta.UserName);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90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90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empleado?.Cargo.ToString();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9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72"/>
          <p:cNvSpPr/>
          <p:nvPr/>
        </p:nvSpPr>
        <p:spPr>
          <a:xfrm>
            <a:off x="6473952" y="4453128"/>
            <a:ext cx="5166360" cy="1051560"/>
          </a:xfrm>
          <a:prstGeom prst="roundRect">
            <a:avLst>
              <a:gd fmla="val 8695" name="adj"/>
            </a:avLst>
          </a:prstGeom>
          <a:solidFill>
            <a:srgbClr val="E7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72"/>
          <p:cNvSpPr txBox="1"/>
          <p:nvPr/>
        </p:nvSpPr>
        <p:spPr>
          <a:xfrm>
            <a:off x="6629400" y="4453128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rol sale de los datos: «administrador», una cuenta de cliente o el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Cargo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del empleado.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SignInAsync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escribe la cookie;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ObtenerUserName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pc="0" sz="1100" u="none" cap="none" strike="noStrike">
                <a:solidFill>
                  <a:srgbClr val="004EA8"/>
                </a:solidFill>
                <a:latin typeface="Courier New"/>
                <a:ea typeface="Courier New"/>
                <a:cs typeface="Courier New"/>
                <a:sym typeface="Courier New"/>
              </a:rPr>
              <a:t>ObtenerIdCuentaUsuario</a:t>
            </a:r>
            <a:r>
              <a:rPr b="0" i="0" lang="en-US" spc="0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leen después los claims.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85"/>
          <p:cNvSpPr txBox="1"/>
          <p:nvPr>
            <p:ph type="title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Registro de clientes y cambio de contraseña</a:t>
            </a:r>
            <a:endParaRPr/>
          </a:p>
        </p:txBody>
      </p:sp>
      <p:sp>
        <p:nvSpPr>
          <p:cNvPr id="2257" name="Google Shape;2257;p8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8" name="Google Shape;2258;p85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 · AUTENTICACIÓN Y AUTORIZACIÓN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85"/>
          <p:cNvSpPr/>
          <p:nvPr/>
        </p:nvSpPr>
        <p:spPr>
          <a:xfrm>
            <a:off x="548640" y="1371600"/>
            <a:ext cx="7360920" cy="4114800"/>
          </a:xfrm>
          <a:prstGeom prst="roundRect">
            <a:avLst>
              <a:gd fmla="val 1777" name="adj"/>
            </a:avLst>
          </a:prstGeom>
          <a:solidFill>
            <a:srgbClr val="FFFFFF"/>
          </a:solidFill>
          <a:ln cap="flat" cmpd="sng" w="1587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196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85"/>
          <p:cNvSpPr/>
          <p:nvPr/>
        </p:nvSpPr>
        <p:spPr>
          <a:xfrm>
            <a:off x="548640" y="1371600"/>
            <a:ext cx="7360920" cy="384048"/>
          </a:xfrm>
          <a:prstGeom prst="roundRect">
            <a:avLst>
              <a:gd fmla="val 19047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85"/>
          <p:cNvSpPr/>
          <p:nvPr/>
        </p:nvSpPr>
        <p:spPr>
          <a:xfrm>
            <a:off x="559612" y="1664208"/>
            <a:ext cx="733897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85"/>
          <p:cNvSpPr txBox="1"/>
          <p:nvPr/>
        </p:nvSpPr>
        <p:spPr>
          <a:xfrm>
            <a:off x="685800" y="1389888"/>
            <a:ext cx="7086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Components/Pages/Seguridad y ViewModels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85"/>
          <p:cNvSpPr txBox="1"/>
          <p:nvPr/>
        </p:nvSpPr>
        <p:spPr>
          <a:xfrm>
            <a:off x="694944" y="1773936"/>
            <a:ext cx="7068312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ViewModels/RegistroClienteViewModel.cs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[Required(ErrorMessage =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"Confirme la contraseña"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[Compare(nameof(Password), ErrorMessage = </a:t>
            </a:r>
            <a:r>
              <a:rPr b="0" i="0" lang="en-US" spc="0" sz="850" u="none" cap="none" strike="noStrike">
                <a:solidFill>
                  <a:srgbClr val="C3094A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"Las contraseñas no coinciden"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ConfirmarPassword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} = 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 CategoriaCliente Categoria { </a:t>
            </a:r>
            <a:r>
              <a:rPr b="0" i="0" lang="en-US" spc="0" sz="850" u="none" cap="none" strike="noStrike">
                <a:solidFill>
                  <a:srgbClr val="0A7BC2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>; } = CategoriaCliente.BRONCE;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LineaCredito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{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ClienteViewModel.LineaCreditoInicialPorCategoria[Categoria];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RegistroPage.razor: @page "/registro" (sin [Authorize])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Registrar()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try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ClienteBL.Registrar(ViewModel.ToModelo());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Nav.NavigateTo(</a:t>
            </a:r>
            <a:r>
              <a:rPr b="0" i="0" lang="en-US" spc="0" sz="850" u="none" cap="none" strike="noStrike">
                <a:solidFill>
                  <a:srgbClr val="C3094A"/>
                </a:solidFill>
                <a:latin typeface="Courier New"/>
                <a:ea typeface="Courier New"/>
                <a:cs typeface="Courier New"/>
                <a:sym typeface="Courier New"/>
              </a:rPr>
              <a:t>"/login?registrado=true"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 catch (BLException ex)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MensajeError = ex.Message;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CambiarPasswordPage.razor: @page "/cambiar-password" + [Authorize]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OnInitialized()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IdCuentaUsuario = SesionService.ObtenerIdCuentaUsuario();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b="0" i="0" lang="en-US" spc="0" sz="850" u="none" cap="none" strike="noStrike">
                <a:solidFill>
                  <a:srgbClr val="0A7BC2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Guardar() {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0" lang="en-US" spc="0" sz="850" u="none" cap="none" strike="noStrike">
                <a:solidFill>
                  <a:srgbClr val="191919"/>
                </a:solidFill>
                <a:highlight>
                  <a:srgbClr val="FBE3B0"/>
                </a:highlight>
                <a:latin typeface="Courier New"/>
                <a:ea typeface="Courier New"/>
                <a:cs typeface="Courier New"/>
                <a:sym typeface="Courier New"/>
              </a:rPr>
              <a:t xml:space="preserve">CuentaUsuarioBL.CambiarPassword(IdCuentaUsuario,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ViewModel.PasswordActual, ViewModel.PasswordNueva);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b="0" i="1" lang="en-US" spc="0" sz="850" u="none" cap="none" strike="noStrike">
                <a:solidFill>
                  <a:srgbClr val="648585"/>
                </a:solidFill>
                <a:latin typeface="Courier New"/>
                <a:ea typeface="Courier New"/>
                <a:cs typeface="Courier New"/>
                <a:sym typeface="Courier New"/>
              </a:rPr>
              <a:t>// ... mensaje de éxito o BLException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pc="0" sz="8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pc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85"/>
          <p:cNvSpPr/>
          <p:nvPr/>
        </p:nvSpPr>
        <p:spPr>
          <a:xfrm>
            <a:off x="8138160" y="137160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85"/>
          <p:cNvSpPr txBox="1"/>
          <p:nvPr/>
        </p:nvSpPr>
        <p:spPr>
          <a:xfrm>
            <a:off x="8641080" y="1335024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Registro público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/registro no tiene [Authorize]; ClienteBL.Registrar crea la cuenta y un cliente BRONCE con S/ 1 500 de línea.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85"/>
          <p:cNvSpPr/>
          <p:nvPr/>
        </p:nvSpPr>
        <p:spPr>
          <a:xfrm>
            <a:off x="8138160" y="240487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85"/>
          <p:cNvSpPr txBox="1"/>
          <p:nvPr/>
        </p:nvSpPr>
        <p:spPr>
          <a:xfrm>
            <a:off x="8641080" y="2368296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[Compare]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Valida en el ViewModel que la confirmación coincida con la contraseña.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85"/>
          <p:cNvSpPr/>
          <p:nvPr/>
        </p:nvSpPr>
        <p:spPr>
          <a:xfrm>
            <a:off x="8138160" y="343814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85"/>
          <p:cNvSpPr txBox="1"/>
          <p:nvPr/>
        </p:nvSpPr>
        <p:spPr>
          <a:xfrm>
            <a:off x="8641080" y="3401568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Usuario actual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CambiarPassword obtiene el Id del claim NameIdentifier mediante SesionService.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85"/>
          <p:cNvSpPr/>
          <p:nvPr/>
        </p:nvSpPr>
        <p:spPr>
          <a:xfrm>
            <a:off x="8138160" y="447141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85"/>
          <p:cNvSpPr txBox="1"/>
          <p:nvPr/>
        </p:nvSpPr>
        <p:spPr>
          <a:xfrm>
            <a:off x="8641080" y="4434840"/>
            <a:ext cx="29992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Reglas en el BL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Contraseña actual correcta, al menos 6 caracteres y distinta de la anterior.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Layla Hirsh Martínez</dc:creator>
</cp:coreProperties>
</file>